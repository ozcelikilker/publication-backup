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79EB0"/>
    <a:srgbClr val="B65C5B"/>
    <a:srgbClr val="435B6C"/>
    <a:srgbClr val="F8EAEA"/>
    <a:srgbClr val="F7EAEA"/>
    <a:srgbClr val="1F2932"/>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86F8D8-3AFE-1C44-8384-0DDD09291F0F}" v="371" dt="2026-09-07T12:28:10.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03"/>
    <p:restoredTop sz="90025"/>
  </p:normalViewPr>
  <p:slideViewPr>
    <p:cSldViewPr snapToGrid="0" snapToObjects="1">
      <p:cViewPr varScale="1">
        <p:scale>
          <a:sx n="126" d="100"/>
          <a:sy n="126" d="100"/>
        </p:scale>
        <p:origin x="2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518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Hello. I am Gizem Karyağdı. Today, I will present our study titled “Vulnerability of Heterogeneous Graph Learning Models to White-Box Feature Attacks.” In this study, we focus on an important security question: If a graph learning model achieves high performance on clean data, does it remain equally robust when an attacker intentionally modifies node features? To investigate this question, we evaluate four heterogeneous graph learning architectures under three classical white-box feature attacks.</a:t>
            </a:r>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kern="1200" dirty="0">
                <a:solidFill>
                  <a:schemeClr val="tx1"/>
                </a:solidFill>
                <a:effectLst/>
                <a:latin typeface="+mn-lt"/>
                <a:ea typeface="+mn-ea"/>
                <a:cs typeface="+mn-cs"/>
              </a:rPr>
              <a:t>Merhaba. Ben Gizem Karyağdı. Bugün sizlere “Heterojen Graf Öğrenme Modellerinin Beyaz-Kutu Öznitelik Saldırılarına Karşı Zafiyeti” başlıklı çalışmamızdan bahsedeceğim. Bu çalışmada önemli bir güvenlik sorusuna odaklanıyoruz: Bir graf öğrenme modeli temiz veri üzerinde yüksek performans gösteriyorsa, bir saldırgan düğüm özniteliklerini kasıtlı olarak değiştirdiğinde de aynı ölçüde dayanıklı olur mu? Bu soruyu incelemek için dört heterojen graf öğrenme mimarisini üç klasik beyaz kutu öznitelik saldırısı altında değerlendiriyoruz.</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Graph neural networks provide an important approach for cybersecurity because they do not consider only the individual features of an entity. They also include the relationships between entities in the learning process. In our DNS scenario, this means that a client is not evaluated only based on its own DNS traffic features. Information from the domain names it communicates with also contributes to the client representation. In addition, because graph models aggregate information from neighboring nodes, they may be expected to provide some level of resilience against local feature perturbations. This is because the model bases its decision not only on the features of a single node, but also on the surrounding relational structure. However, this raises an important question: Is using graph structure really sufficient to provide robustness against adversarial attacks? When we look at the literature, we see that a significant part of adversarial research on graph models focuses on structural perturbations such as adding, removing, or rewiring edges. This point is also emphasized in comprehensive survey studies. For example, Zhang and colleagues report that a large portion of existing attacks modify the graph structure. In addition, Sun and colleagues, as well as Zheng and colleagues, point out that differences in attack assumptions, datasets, and evaluation protocols make direct and fair comparisons across studies difficult. For this reason, we use a unified experimental framework in our study. We compare the </a:t>
            </a:r>
            <a:r>
              <a:rPr lang="en-US" dirty="0" err="1"/>
              <a:t>HeteroSAGE</a:t>
            </a:r>
            <a:r>
              <a:rPr lang="en-US" dirty="0"/>
              <a:t>, </a:t>
            </a:r>
            <a:r>
              <a:rPr lang="en-US" dirty="0" err="1"/>
              <a:t>HeteroGCN</a:t>
            </a:r>
            <a:r>
              <a:rPr lang="en-US" dirty="0"/>
              <a:t>, </a:t>
            </a:r>
            <a:r>
              <a:rPr lang="en-US" dirty="0" err="1"/>
              <a:t>HeteroGAT</a:t>
            </a:r>
            <a:r>
              <a:rPr lang="en-US" dirty="0"/>
              <a:t>, and </a:t>
            </a:r>
            <a:r>
              <a:rPr lang="en-US" dirty="0" err="1"/>
              <a:t>HeteroGAE</a:t>
            </a:r>
            <a:r>
              <a:rPr lang="en-US" dirty="0"/>
              <a:t> architectures using the same data, the same attack conditions, and the same evaluation metrics.</a:t>
            </a:r>
          </a:p>
          <a:p>
            <a:r>
              <a:rPr lang="en-US" dirty="0"/>
              <a:t>----</a:t>
            </a:r>
          </a:p>
          <a:p>
            <a:r>
              <a:rPr lang="en-US" dirty="0"/>
              <a:t>Graf </a:t>
            </a:r>
            <a:r>
              <a:rPr lang="en-US" dirty="0" err="1"/>
              <a:t>sinir</a:t>
            </a:r>
            <a:r>
              <a:rPr lang="en-US" dirty="0"/>
              <a:t> </a:t>
            </a:r>
            <a:r>
              <a:rPr lang="en-US" dirty="0" err="1"/>
              <a:t>ağları</a:t>
            </a:r>
            <a:r>
              <a:rPr lang="en-US" dirty="0"/>
              <a:t> </a:t>
            </a:r>
            <a:r>
              <a:rPr lang="en-US" dirty="0" err="1"/>
              <a:t>siber</a:t>
            </a:r>
            <a:r>
              <a:rPr lang="en-US" dirty="0"/>
              <a:t> </a:t>
            </a:r>
            <a:r>
              <a:rPr lang="en-US" dirty="0" err="1"/>
              <a:t>güvenlik</a:t>
            </a:r>
            <a:r>
              <a:rPr lang="en-US" dirty="0"/>
              <a:t> </a:t>
            </a:r>
            <a:r>
              <a:rPr lang="en-US" dirty="0" err="1"/>
              <a:t>açısından</a:t>
            </a:r>
            <a:r>
              <a:rPr lang="en-US" dirty="0"/>
              <a:t> </a:t>
            </a:r>
            <a:r>
              <a:rPr lang="en-US" dirty="0" err="1"/>
              <a:t>önemli</a:t>
            </a:r>
            <a:r>
              <a:rPr lang="en-US" dirty="0"/>
              <a:t> </a:t>
            </a:r>
            <a:r>
              <a:rPr lang="en-US" dirty="0" err="1"/>
              <a:t>bir</a:t>
            </a:r>
            <a:r>
              <a:rPr lang="en-US" dirty="0"/>
              <a:t> </a:t>
            </a:r>
            <a:r>
              <a:rPr lang="en-US" dirty="0" err="1"/>
              <a:t>yaklaşım</a:t>
            </a:r>
            <a:r>
              <a:rPr lang="en-US" dirty="0"/>
              <a:t> </a:t>
            </a:r>
            <a:r>
              <a:rPr lang="en-US" dirty="0" err="1"/>
              <a:t>sunmaktadır</a:t>
            </a:r>
            <a:r>
              <a:rPr lang="en-US" dirty="0"/>
              <a:t>. </a:t>
            </a:r>
            <a:r>
              <a:rPr lang="en-US" dirty="0" err="1"/>
              <a:t>Çünkü</a:t>
            </a:r>
            <a:r>
              <a:rPr lang="en-US" dirty="0"/>
              <a:t> </a:t>
            </a:r>
            <a:r>
              <a:rPr lang="en-US" dirty="0" err="1"/>
              <a:t>bir</a:t>
            </a:r>
            <a:r>
              <a:rPr lang="en-US" dirty="0"/>
              <a:t> </a:t>
            </a:r>
            <a:r>
              <a:rPr lang="en-US" dirty="0" err="1"/>
              <a:t>varlığın</a:t>
            </a:r>
            <a:r>
              <a:rPr lang="en-US" dirty="0"/>
              <a:t> </a:t>
            </a:r>
            <a:r>
              <a:rPr lang="en-US" dirty="0" err="1"/>
              <a:t>yalnızca</a:t>
            </a:r>
            <a:r>
              <a:rPr lang="en-US" dirty="0"/>
              <a:t> </a:t>
            </a:r>
            <a:r>
              <a:rPr lang="en-US" dirty="0" err="1"/>
              <a:t>kendi</a:t>
            </a:r>
            <a:r>
              <a:rPr lang="en-US" dirty="0"/>
              <a:t> </a:t>
            </a:r>
            <a:r>
              <a:rPr lang="en-US" dirty="0" err="1"/>
              <a:t>özelliklerini</a:t>
            </a:r>
            <a:r>
              <a:rPr lang="en-US" dirty="0"/>
              <a:t> </a:t>
            </a:r>
            <a:r>
              <a:rPr lang="en-US" dirty="0" err="1"/>
              <a:t>değil</a:t>
            </a:r>
            <a:r>
              <a:rPr lang="en-US" dirty="0"/>
              <a:t>, </a:t>
            </a:r>
            <a:r>
              <a:rPr lang="en-US" dirty="0" err="1"/>
              <a:t>diğer</a:t>
            </a:r>
            <a:r>
              <a:rPr lang="en-US" dirty="0"/>
              <a:t> </a:t>
            </a:r>
            <a:r>
              <a:rPr lang="en-US" dirty="0" err="1"/>
              <a:t>varlıklarla</a:t>
            </a:r>
            <a:r>
              <a:rPr lang="en-US" dirty="0"/>
              <a:t> </a:t>
            </a:r>
            <a:r>
              <a:rPr lang="en-US" dirty="0" err="1"/>
              <a:t>olan</a:t>
            </a:r>
            <a:r>
              <a:rPr lang="en-US" dirty="0"/>
              <a:t> </a:t>
            </a:r>
            <a:r>
              <a:rPr lang="en-US" dirty="0" err="1"/>
              <a:t>ilişkilerini</a:t>
            </a:r>
            <a:r>
              <a:rPr lang="en-US" dirty="0"/>
              <a:t> de </a:t>
            </a:r>
            <a:r>
              <a:rPr lang="en-US" dirty="0" err="1"/>
              <a:t>öğrenme</a:t>
            </a:r>
            <a:r>
              <a:rPr lang="en-US" dirty="0"/>
              <a:t> </a:t>
            </a:r>
            <a:r>
              <a:rPr lang="en-US" dirty="0" err="1"/>
              <a:t>sürecine</a:t>
            </a:r>
            <a:r>
              <a:rPr lang="en-US" dirty="0"/>
              <a:t> </a:t>
            </a:r>
            <a:r>
              <a:rPr lang="en-US" dirty="0" err="1"/>
              <a:t>dahil</a:t>
            </a:r>
            <a:r>
              <a:rPr lang="en-US" dirty="0"/>
              <a:t> </a:t>
            </a:r>
            <a:r>
              <a:rPr lang="en-US" dirty="0" err="1"/>
              <a:t>eder</a:t>
            </a:r>
            <a:r>
              <a:rPr lang="en-US" dirty="0"/>
              <a:t>. DNS </a:t>
            </a:r>
            <a:r>
              <a:rPr lang="en-US" dirty="0" err="1"/>
              <a:t>senaryosunda</a:t>
            </a:r>
            <a:r>
              <a:rPr lang="en-US" dirty="0"/>
              <a:t> </a:t>
            </a:r>
            <a:r>
              <a:rPr lang="en-US" dirty="0" err="1"/>
              <a:t>bu</a:t>
            </a:r>
            <a:r>
              <a:rPr lang="en-US" dirty="0"/>
              <a:t> durum </a:t>
            </a:r>
            <a:r>
              <a:rPr lang="en-US" dirty="0" err="1"/>
              <a:t>iletişim</a:t>
            </a:r>
            <a:r>
              <a:rPr lang="en-US" dirty="0"/>
              <a:t> </a:t>
            </a:r>
            <a:r>
              <a:rPr lang="en-US" dirty="0" err="1"/>
              <a:t>kurduğu</a:t>
            </a:r>
            <a:r>
              <a:rPr lang="en-US" dirty="0"/>
              <a:t> </a:t>
            </a:r>
            <a:r>
              <a:rPr lang="en-US" dirty="0" err="1"/>
              <a:t>alan</a:t>
            </a:r>
            <a:r>
              <a:rPr lang="en-US" dirty="0"/>
              <a:t> </a:t>
            </a:r>
            <a:r>
              <a:rPr lang="en-US" dirty="0" err="1"/>
              <a:t>adlarından</a:t>
            </a:r>
            <a:r>
              <a:rPr lang="en-US" dirty="0"/>
              <a:t> </a:t>
            </a:r>
            <a:r>
              <a:rPr lang="en-US" dirty="0" err="1"/>
              <a:t>gelen</a:t>
            </a:r>
            <a:r>
              <a:rPr lang="en-US" dirty="0"/>
              <a:t> </a:t>
            </a:r>
            <a:r>
              <a:rPr lang="en-US" dirty="0" err="1"/>
              <a:t>bilginin</a:t>
            </a:r>
            <a:r>
              <a:rPr lang="en-US" dirty="0"/>
              <a:t> de </a:t>
            </a:r>
            <a:r>
              <a:rPr lang="en-US" dirty="0" err="1"/>
              <a:t>istemci</a:t>
            </a:r>
            <a:r>
              <a:rPr lang="en-US" dirty="0"/>
              <a:t> </a:t>
            </a:r>
            <a:r>
              <a:rPr lang="en-US" dirty="0" err="1"/>
              <a:t>temsilini</a:t>
            </a:r>
            <a:r>
              <a:rPr lang="en-US" dirty="0"/>
              <a:t> </a:t>
            </a:r>
            <a:r>
              <a:rPr lang="en-US" dirty="0" err="1"/>
              <a:t>etkilemesi</a:t>
            </a:r>
            <a:r>
              <a:rPr lang="en-US" dirty="0"/>
              <a:t> </a:t>
            </a:r>
            <a:r>
              <a:rPr lang="en-US" dirty="0" err="1"/>
              <a:t>anlamına</a:t>
            </a:r>
            <a:r>
              <a:rPr lang="en-US" dirty="0"/>
              <a:t> </a:t>
            </a:r>
            <a:r>
              <a:rPr lang="en-US" dirty="0" err="1"/>
              <a:t>geliyor</a:t>
            </a:r>
            <a:r>
              <a:rPr lang="en-US" dirty="0"/>
              <a:t>. </a:t>
            </a:r>
            <a:r>
              <a:rPr lang="en-US" dirty="0" err="1"/>
              <a:t>Ayrıca</a:t>
            </a:r>
            <a:r>
              <a:rPr lang="en-US" dirty="0"/>
              <a:t> </a:t>
            </a:r>
            <a:r>
              <a:rPr lang="en-US" dirty="0" err="1"/>
              <a:t>bu</a:t>
            </a:r>
            <a:r>
              <a:rPr lang="en-US" dirty="0"/>
              <a:t> </a:t>
            </a:r>
            <a:r>
              <a:rPr lang="en-US" dirty="0" err="1"/>
              <a:t>graf</a:t>
            </a:r>
            <a:r>
              <a:rPr lang="en-US" dirty="0"/>
              <a:t> </a:t>
            </a:r>
            <a:r>
              <a:rPr lang="en-US" dirty="0" err="1"/>
              <a:t>modellerinde</a:t>
            </a:r>
            <a:r>
              <a:rPr lang="en-US" dirty="0"/>
              <a:t> </a:t>
            </a:r>
            <a:r>
              <a:rPr lang="en-US" dirty="0" err="1"/>
              <a:t>komşu</a:t>
            </a:r>
            <a:r>
              <a:rPr lang="en-US" dirty="0"/>
              <a:t> </a:t>
            </a:r>
            <a:r>
              <a:rPr lang="en-US" dirty="0" err="1"/>
              <a:t>düğümlerden</a:t>
            </a:r>
            <a:r>
              <a:rPr lang="en-US" dirty="0"/>
              <a:t> </a:t>
            </a:r>
            <a:r>
              <a:rPr lang="en-US" dirty="0" err="1"/>
              <a:t>gelen</a:t>
            </a:r>
            <a:r>
              <a:rPr lang="en-US" dirty="0"/>
              <a:t> </a:t>
            </a:r>
            <a:r>
              <a:rPr lang="en-US" dirty="0" err="1"/>
              <a:t>bozulmalara</a:t>
            </a:r>
            <a:r>
              <a:rPr lang="en-US" dirty="0"/>
              <a:t> </a:t>
            </a:r>
            <a:r>
              <a:rPr lang="en-US" dirty="0" err="1"/>
              <a:t>karşı</a:t>
            </a:r>
            <a:r>
              <a:rPr lang="en-US" dirty="0"/>
              <a:t> </a:t>
            </a:r>
            <a:r>
              <a:rPr lang="en-US" dirty="0" err="1"/>
              <a:t>belirli</a:t>
            </a:r>
            <a:r>
              <a:rPr lang="en-US" dirty="0"/>
              <a:t> </a:t>
            </a:r>
            <a:r>
              <a:rPr lang="en-US" dirty="0" err="1"/>
              <a:t>ölçüde</a:t>
            </a:r>
            <a:r>
              <a:rPr lang="en-US" dirty="0"/>
              <a:t> </a:t>
            </a:r>
            <a:r>
              <a:rPr lang="en-US" dirty="0" err="1"/>
              <a:t>dayanıklılık</a:t>
            </a:r>
            <a:r>
              <a:rPr lang="en-US" dirty="0"/>
              <a:t> </a:t>
            </a:r>
            <a:r>
              <a:rPr lang="en-US" dirty="0" err="1"/>
              <a:t>sağlaması</a:t>
            </a:r>
            <a:r>
              <a:rPr lang="en-US" dirty="0"/>
              <a:t> </a:t>
            </a:r>
            <a:r>
              <a:rPr lang="en-US" dirty="0" err="1"/>
              <a:t>beklenebilir</a:t>
            </a:r>
            <a:r>
              <a:rPr lang="en-US" dirty="0"/>
              <a:t>. </a:t>
            </a:r>
            <a:r>
              <a:rPr lang="en-US" dirty="0" err="1"/>
              <a:t>Çünkü</a:t>
            </a:r>
            <a:r>
              <a:rPr lang="en-US" dirty="0"/>
              <a:t> model </a:t>
            </a:r>
            <a:r>
              <a:rPr lang="en-US" dirty="0" err="1"/>
              <a:t>kararını</a:t>
            </a:r>
            <a:r>
              <a:rPr lang="en-US" dirty="0"/>
              <a:t> </a:t>
            </a:r>
            <a:r>
              <a:rPr lang="en-US" dirty="0" err="1"/>
              <a:t>yalnızca</a:t>
            </a:r>
            <a:r>
              <a:rPr lang="en-US" dirty="0"/>
              <a:t> </a:t>
            </a:r>
            <a:r>
              <a:rPr lang="en-US" dirty="0" err="1"/>
              <a:t>bir</a:t>
            </a:r>
            <a:r>
              <a:rPr lang="en-US" dirty="0"/>
              <a:t> </a:t>
            </a:r>
            <a:r>
              <a:rPr lang="en-US" dirty="0" err="1"/>
              <a:t>düğümün</a:t>
            </a:r>
            <a:r>
              <a:rPr lang="en-US" dirty="0"/>
              <a:t> </a:t>
            </a:r>
            <a:r>
              <a:rPr lang="en-US" dirty="0" err="1"/>
              <a:t>özelliklerine</a:t>
            </a:r>
            <a:r>
              <a:rPr lang="en-US" dirty="0"/>
              <a:t> </a:t>
            </a:r>
            <a:r>
              <a:rPr lang="en-US" dirty="0" err="1"/>
              <a:t>değil</a:t>
            </a:r>
            <a:r>
              <a:rPr lang="en-US" dirty="0"/>
              <a:t>, </a:t>
            </a:r>
            <a:r>
              <a:rPr lang="en-US" dirty="0" err="1"/>
              <a:t>aynı</a:t>
            </a:r>
            <a:r>
              <a:rPr lang="en-US" dirty="0"/>
              <a:t> </a:t>
            </a:r>
            <a:r>
              <a:rPr lang="en-US" dirty="0" err="1"/>
              <a:t>zamanda</a:t>
            </a:r>
            <a:r>
              <a:rPr lang="en-US" dirty="0"/>
              <a:t> </a:t>
            </a:r>
            <a:r>
              <a:rPr lang="en-US" dirty="0" err="1"/>
              <a:t>ilişkisel</a:t>
            </a:r>
            <a:r>
              <a:rPr lang="en-US" dirty="0"/>
              <a:t> </a:t>
            </a:r>
            <a:r>
              <a:rPr lang="en-US" dirty="0" err="1"/>
              <a:t>bir</a:t>
            </a:r>
            <a:r>
              <a:rPr lang="en-US" dirty="0"/>
              <a:t> </a:t>
            </a:r>
            <a:r>
              <a:rPr lang="en-US" dirty="0" err="1"/>
              <a:t>yapıya</a:t>
            </a:r>
            <a:r>
              <a:rPr lang="en-US" dirty="0"/>
              <a:t> da </a:t>
            </a:r>
            <a:r>
              <a:rPr lang="en-US" dirty="0" err="1"/>
              <a:t>dayandırmaktadır</a:t>
            </a:r>
            <a:r>
              <a:rPr lang="en-US" dirty="0"/>
              <a:t>. </a:t>
            </a:r>
            <a:r>
              <a:rPr lang="en-US" dirty="0" err="1"/>
              <a:t>Ancak</a:t>
            </a:r>
            <a:r>
              <a:rPr lang="en-US" dirty="0"/>
              <a:t> </a:t>
            </a:r>
            <a:r>
              <a:rPr lang="en-US" dirty="0" err="1"/>
              <a:t>burada</a:t>
            </a:r>
            <a:r>
              <a:rPr lang="en-US" dirty="0"/>
              <a:t> </a:t>
            </a:r>
            <a:r>
              <a:rPr lang="en-US" dirty="0" err="1"/>
              <a:t>önemli</a:t>
            </a:r>
            <a:r>
              <a:rPr lang="en-US" dirty="0"/>
              <a:t> </a:t>
            </a:r>
            <a:r>
              <a:rPr lang="en-US" dirty="0" err="1"/>
              <a:t>bir</a:t>
            </a:r>
            <a:r>
              <a:rPr lang="en-US" dirty="0"/>
              <a:t> </a:t>
            </a:r>
            <a:r>
              <a:rPr lang="en-US" dirty="0" err="1"/>
              <a:t>soru</a:t>
            </a:r>
            <a:r>
              <a:rPr lang="en-US" dirty="0"/>
              <a:t> </a:t>
            </a:r>
            <a:r>
              <a:rPr lang="en-US" dirty="0" err="1"/>
              <a:t>karşımıza</a:t>
            </a:r>
            <a:r>
              <a:rPr lang="en-US" dirty="0"/>
              <a:t> </a:t>
            </a:r>
            <a:r>
              <a:rPr lang="en-US" dirty="0" err="1"/>
              <a:t>çıkıyor</a:t>
            </a:r>
            <a:r>
              <a:rPr lang="en-US" dirty="0"/>
              <a:t>: Graf </a:t>
            </a:r>
            <a:r>
              <a:rPr lang="en-US" dirty="0" err="1"/>
              <a:t>yapısını</a:t>
            </a:r>
            <a:r>
              <a:rPr lang="en-US" dirty="0"/>
              <a:t> </a:t>
            </a:r>
            <a:r>
              <a:rPr lang="en-US" dirty="0" err="1"/>
              <a:t>kullanmak</a:t>
            </a:r>
            <a:r>
              <a:rPr lang="en-US" dirty="0"/>
              <a:t> </a:t>
            </a:r>
            <a:r>
              <a:rPr lang="en-US" dirty="0" err="1"/>
              <a:t>çekişmeli</a:t>
            </a:r>
            <a:r>
              <a:rPr lang="en-US" dirty="0"/>
              <a:t> </a:t>
            </a:r>
            <a:r>
              <a:rPr lang="en-US" dirty="0" err="1"/>
              <a:t>saldırılara</a:t>
            </a:r>
            <a:r>
              <a:rPr lang="en-US" dirty="0"/>
              <a:t> </a:t>
            </a:r>
            <a:r>
              <a:rPr lang="en-US" dirty="0" err="1"/>
              <a:t>karşı</a:t>
            </a:r>
            <a:r>
              <a:rPr lang="en-US" dirty="0"/>
              <a:t> </a:t>
            </a:r>
            <a:r>
              <a:rPr lang="en-US" dirty="0" err="1"/>
              <a:t>gerçekten</a:t>
            </a:r>
            <a:r>
              <a:rPr lang="en-US" dirty="0"/>
              <a:t> </a:t>
            </a:r>
            <a:r>
              <a:rPr lang="en-US" dirty="0" err="1"/>
              <a:t>yeterli</a:t>
            </a:r>
            <a:r>
              <a:rPr lang="en-US" dirty="0"/>
              <a:t> </a:t>
            </a:r>
            <a:r>
              <a:rPr lang="en-US" dirty="0" err="1"/>
              <a:t>bir</a:t>
            </a:r>
            <a:r>
              <a:rPr lang="en-US" dirty="0"/>
              <a:t> </a:t>
            </a:r>
            <a:r>
              <a:rPr lang="en-US" dirty="0" err="1"/>
              <a:t>dayanıklılık</a:t>
            </a:r>
            <a:r>
              <a:rPr lang="en-US" dirty="0"/>
              <a:t> </a:t>
            </a:r>
            <a:r>
              <a:rPr lang="en-US" dirty="0" err="1"/>
              <a:t>sağlıyor</a:t>
            </a:r>
            <a:r>
              <a:rPr lang="en-US" dirty="0"/>
              <a:t> mu ? </a:t>
            </a:r>
          </a:p>
          <a:p>
            <a:r>
              <a:rPr lang="tr-TR" dirty="0"/>
              <a:t>Literatüre baktığımızda, graf modellerine yönelik çalışmaların önemli bir bölümünün kenar ekleme, silme veya yeniden bağlama gibi yapısal değişikliklere odaklandığını görüyoruz. Bu durum kapsamlı </a:t>
            </a:r>
            <a:r>
              <a:rPr lang="tr-TR" dirty="0" err="1"/>
              <a:t>survey</a:t>
            </a:r>
            <a:r>
              <a:rPr lang="tr-TR" dirty="0"/>
              <a:t> çalışmalarında da vurgulanıyor. Örneğin Zhang vd. mevcut çalışmaları sınıflandırırken çoğu saldırının graf yapısını, özellikle kenar ekleme ve silme işlemlerinin mevcut yapıyı değiştirmeye odaklandığını belirtiyor. Ayrıca Sun vd. , çalışmalar arasında saldırı varsayımları, veri setleri ve değerlendirme protokollerinin farklılaşmasının karşılaştırmayı zorlaştırdığını ifade ediyor. Biz de bu nedenle çalışmamızda birleşik bir deneysel çerçeve kullandık. </a:t>
            </a:r>
            <a:r>
              <a:rPr lang="en-US" dirty="0" err="1"/>
              <a:t>HeteroSAGE</a:t>
            </a:r>
            <a:r>
              <a:rPr lang="en-US" dirty="0"/>
              <a:t>, </a:t>
            </a:r>
            <a:r>
              <a:rPr lang="en-US" dirty="0" err="1"/>
              <a:t>HeteroGCN</a:t>
            </a:r>
            <a:r>
              <a:rPr lang="en-US" dirty="0"/>
              <a:t>, </a:t>
            </a:r>
            <a:r>
              <a:rPr lang="en-US" dirty="0" err="1"/>
              <a:t>HeteroGAT</a:t>
            </a:r>
            <a:r>
              <a:rPr lang="en-US" dirty="0"/>
              <a:t>, </a:t>
            </a:r>
            <a:r>
              <a:rPr lang="en-US" dirty="0" err="1"/>
              <a:t>HeteroGAE</a:t>
            </a:r>
            <a:r>
              <a:rPr lang="en-US" dirty="0"/>
              <a:t> </a:t>
            </a:r>
            <a:r>
              <a:rPr lang="en-US" dirty="0" err="1"/>
              <a:t>mimarilerini</a:t>
            </a:r>
            <a:r>
              <a:rPr lang="en-US" dirty="0"/>
              <a:t> </a:t>
            </a:r>
            <a:r>
              <a:rPr lang="en-US" dirty="0" err="1"/>
              <a:t>aynı</a:t>
            </a:r>
            <a:r>
              <a:rPr lang="en-US" dirty="0"/>
              <a:t> </a:t>
            </a:r>
            <a:r>
              <a:rPr lang="en-US" dirty="0" err="1"/>
              <a:t>veri</a:t>
            </a:r>
            <a:r>
              <a:rPr lang="en-US" dirty="0"/>
              <a:t>, </a:t>
            </a:r>
            <a:r>
              <a:rPr lang="en-US" dirty="0" err="1"/>
              <a:t>aynı</a:t>
            </a:r>
            <a:r>
              <a:rPr lang="en-US" dirty="0"/>
              <a:t> </a:t>
            </a:r>
            <a:r>
              <a:rPr lang="en-US" dirty="0" err="1"/>
              <a:t>saldırı</a:t>
            </a:r>
            <a:r>
              <a:rPr lang="en-US" dirty="0"/>
              <a:t> </a:t>
            </a:r>
            <a:r>
              <a:rPr lang="en-US" dirty="0" err="1"/>
              <a:t>koşulları</a:t>
            </a:r>
            <a:r>
              <a:rPr lang="en-US" dirty="0"/>
              <a:t> </a:t>
            </a:r>
            <a:r>
              <a:rPr lang="en-US" dirty="0" err="1"/>
              <a:t>ve</a:t>
            </a:r>
            <a:r>
              <a:rPr lang="en-US" dirty="0"/>
              <a:t> </a:t>
            </a:r>
            <a:r>
              <a:rPr lang="en-US" dirty="0" err="1"/>
              <a:t>aynı</a:t>
            </a:r>
            <a:r>
              <a:rPr lang="en-US" dirty="0"/>
              <a:t> </a:t>
            </a:r>
            <a:r>
              <a:rPr lang="en-US" dirty="0" err="1"/>
              <a:t>değerlendirme</a:t>
            </a:r>
            <a:r>
              <a:rPr lang="en-US" dirty="0"/>
              <a:t> </a:t>
            </a:r>
            <a:r>
              <a:rPr lang="en-US" dirty="0" err="1"/>
              <a:t>metrikleri</a:t>
            </a:r>
            <a:r>
              <a:rPr lang="en-US" dirty="0"/>
              <a:t> </a:t>
            </a:r>
            <a:r>
              <a:rPr lang="en-US" dirty="0" err="1"/>
              <a:t>ile</a:t>
            </a:r>
            <a:r>
              <a:rPr lang="en-US" dirty="0"/>
              <a:t> </a:t>
            </a:r>
            <a:r>
              <a:rPr lang="en-US" dirty="0" err="1"/>
              <a:t>karşılaştırdık</a:t>
            </a:r>
            <a:r>
              <a:rPr lang="en-US" dirty="0"/>
              <a:t>. </a:t>
            </a:r>
            <a:endParaRPr lang="tr-T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In our study, we represent DNS traffic as a heterogeneous graph. The graph contains two different node types: clients and domains. There is a directed query edge from a client to a domain. We also add reverse edges to support bidirectional message passing. </a:t>
            </a:r>
            <a:r>
              <a:rPr lang="tr-TR" dirty="0" err="1"/>
              <a:t>Each</a:t>
            </a:r>
            <a:r>
              <a:rPr lang="tr-TR" dirty="0"/>
              <a:t> </a:t>
            </a:r>
            <a:r>
              <a:rPr lang="tr-TR" dirty="0" err="1"/>
              <a:t>client</a:t>
            </a:r>
            <a:r>
              <a:rPr lang="tr-TR" dirty="0"/>
              <a:t> </a:t>
            </a:r>
            <a:r>
              <a:rPr lang="tr-TR" dirty="0" err="1"/>
              <a:t>node</a:t>
            </a:r>
            <a:r>
              <a:rPr lang="tr-TR" dirty="0"/>
              <a:t> has </a:t>
            </a:r>
            <a:r>
              <a:rPr lang="tr-TR" dirty="0" err="1"/>
              <a:t>six</a:t>
            </a:r>
            <a:r>
              <a:rPr lang="tr-TR" dirty="0"/>
              <a:t> </a:t>
            </a:r>
            <a:r>
              <a:rPr lang="tr-TR" dirty="0" err="1"/>
              <a:t>numerical</a:t>
            </a:r>
            <a:r>
              <a:rPr lang="tr-TR" dirty="0"/>
              <a:t> </a:t>
            </a:r>
            <a:r>
              <a:rPr lang="tr-TR" dirty="0" err="1"/>
              <a:t>features</a:t>
            </a:r>
            <a:r>
              <a:rPr lang="tr-TR" dirty="0"/>
              <a:t> </a:t>
            </a:r>
            <a:r>
              <a:rPr lang="tr-TR" dirty="0" err="1"/>
              <a:t>describing</a:t>
            </a:r>
            <a:r>
              <a:rPr lang="tr-TR" dirty="0"/>
              <a:t> DNS </a:t>
            </a:r>
            <a:r>
              <a:rPr lang="tr-TR" dirty="0" err="1"/>
              <a:t>activity</a:t>
            </a:r>
            <a:r>
              <a:rPr lang="tr-TR" dirty="0"/>
              <a:t>: total DNS </a:t>
            </a:r>
            <a:r>
              <a:rPr lang="tr-TR" dirty="0" err="1"/>
              <a:t>request</a:t>
            </a:r>
            <a:r>
              <a:rPr lang="tr-TR" dirty="0"/>
              <a:t> </a:t>
            </a:r>
            <a:r>
              <a:rPr lang="tr-TR" dirty="0" err="1"/>
              <a:t>count</a:t>
            </a:r>
            <a:r>
              <a:rPr lang="tr-TR" dirty="0"/>
              <a:t>, </a:t>
            </a:r>
            <a:r>
              <a:rPr lang="tr-TR" dirty="0" err="1"/>
              <a:t>distinct</a:t>
            </a:r>
            <a:r>
              <a:rPr lang="tr-TR" dirty="0"/>
              <a:t> DNS </a:t>
            </a:r>
            <a:r>
              <a:rPr lang="tr-TR" dirty="0" err="1"/>
              <a:t>request</a:t>
            </a:r>
            <a:r>
              <a:rPr lang="tr-TR" dirty="0"/>
              <a:t> </a:t>
            </a:r>
            <a:r>
              <a:rPr lang="tr-TR" dirty="0" err="1"/>
              <a:t>count</a:t>
            </a:r>
            <a:r>
              <a:rPr lang="tr-TR" dirty="0"/>
              <a:t>, </a:t>
            </a:r>
            <a:r>
              <a:rPr lang="tr-TR" dirty="0" err="1"/>
              <a:t>average</a:t>
            </a:r>
            <a:r>
              <a:rPr lang="tr-TR" dirty="0"/>
              <a:t> </a:t>
            </a:r>
            <a:r>
              <a:rPr lang="tr-TR" dirty="0" err="1"/>
              <a:t>requests</a:t>
            </a:r>
            <a:r>
              <a:rPr lang="tr-TR" dirty="0"/>
              <a:t> </a:t>
            </a:r>
            <a:r>
              <a:rPr lang="tr-TR" dirty="0" err="1"/>
              <a:t>per</a:t>
            </a:r>
            <a:r>
              <a:rPr lang="tr-TR" dirty="0"/>
              <a:t> </a:t>
            </a:r>
            <a:r>
              <a:rPr lang="tr-TR" dirty="0" err="1"/>
              <a:t>minute</a:t>
            </a:r>
            <a:r>
              <a:rPr lang="tr-TR" dirty="0"/>
              <a:t>, </a:t>
            </a:r>
            <a:r>
              <a:rPr lang="tr-TR" dirty="0" err="1"/>
              <a:t>high-request</a:t>
            </a:r>
            <a:r>
              <a:rPr lang="tr-TR" dirty="0"/>
              <a:t> </a:t>
            </a:r>
            <a:r>
              <a:rPr lang="tr-TR" dirty="0" err="1"/>
              <a:t>minutes</a:t>
            </a:r>
            <a:r>
              <a:rPr lang="tr-TR" dirty="0"/>
              <a:t>, </a:t>
            </a:r>
            <a:r>
              <a:rPr lang="tr-TR" dirty="0" err="1"/>
              <a:t>successful</a:t>
            </a:r>
            <a:r>
              <a:rPr lang="tr-TR" dirty="0"/>
              <a:t> </a:t>
            </a:r>
            <a:r>
              <a:rPr lang="tr-TR" dirty="0" err="1"/>
              <a:t>response</a:t>
            </a:r>
            <a:r>
              <a:rPr lang="tr-TR" dirty="0"/>
              <a:t> </a:t>
            </a:r>
            <a:r>
              <a:rPr lang="tr-TR" dirty="0" err="1"/>
              <a:t>count</a:t>
            </a:r>
            <a:r>
              <a:rPr lang="tr-TR" dirty="0"/>
              <a:t>, </a:t>
            </a:r>
            <a:r>
              <a:rPr lang="tr-TR" dirty="0" err="1"/>
              <a:t>and</a:t>
            </a:r>
            <a:r>
              <a:rPr lang="tr-TR" dirty="0"/>
              <a:t> </a:t>
            </a:r>
            <a:r>
              <a:rPr lang="tr-TR" dirty="0" err="1"/>
              <a:t>failed</a:t>
            </a:r>
            <a:r>
              <a:rPr lang="tr-TR" dirty="0"/>
              <a:t> </a:t>
            </a:r>
            <a:r>
              <a:rPr lang="tr-TR" dirty="0" err="1"/>
              <a:t>response</a:t>
            </a:r>
            <a:r>
              <a:rPr lang="tr-TR" dirty="0"/>
              <a:t> </a:t>
            </a:r>
            <a:r>
              <a:rPr lang="tr-TR" dirty="0" err="1"/>
              <a:t>count</a:t>
            </a:r>
            <a:r>
              <a:rPr lang="en-US" dirty="0"/>
              <a:t>. Domain nodes have two features: the number of unique querying clients and the maliciousness score. An important point here is that the attack is applied only to the features of client nodes. In other words, the attacker does not modify the graph structure. We do not add edges, remove edges, or modify domain nodes. The graph topology remains completely fixed. Because the attacker has access to the model parameters and input information, our attack scenario is defined as a white-box setting. We selected this setting because it allows us to evaluate different models in a controlled and comparable way under the same level of attacker knowledge. For this purpose, we use three classical white-box attacks: FGSM, PGD, and BIM. We also control the strength of the perturbation using the epsilon parameter. Now, let us look at how we evaluate these attacks on the models.</a:t>
            </a:r>
          </a:p>
          <a:p>
            <a:r>
              <a:rPr lang="en-US" dirty="0"/>
              <a:t>---</a:t>
            </a:r>
          </a:p>
          <a:p>
            <a:r>
              <a:rPr lang="tr-TR" sz="1200" b="0" kern="1200" dirty="0">
                <a:solidFill>
                  <a:schemeClr val="tx1"/>
                </a:solidFill>
                <a:effectLst/>
                <a:latin typeface="+mn-lt"/>
                <a:ea typeface="+mn-ea"/>
                <a:cs typeface="+mn-cs"/>
              </a:rPr>
              <a:t>Çalışmamızda DNS trafiğini heterojen bir graf olarak temsil ettik. Graf içerisinde 2 farklı düğüm türü bulunuyor: istemci ve alan adı. Bir istemciden bir alan adına yönlü sorgu kenarı bulunuyor; ayrıca çift yönlü mesaj geçişini desteklemek için ters kenarlar da ekleniyor. </a:t>
            </a:r>
            <a:r>
              <a:rPr lang="tr-TR" dirty="0"/>
              <a:t>Her istemci düğümünde DNS etkinliğini tanımlayan altı sayısal öznitelik bulunuyor: toplam DNS sorgu sayısı, benzersiz DNS sorgu sayısı, dakika başına ortalama sorgu sayısı, yüksek sorgu yoğunluğuna sahip dakika sayısı, başarılı yanıt sayısı ve başarısız yanıt sayısı</a:t>
            </a:r>
            <a:r>
              <a:rPr lang="tr-TR" sz="1200" b="0" kern="1200" dirty="0">
                <a:solidFill>
                  <a:schemeClr val="tx1"/>
                </a:solidFill>
                <a:effectLst/>
                <a:latin typeface="+mn-lt"/>
                <a:ea typeface="+mn-ea"/>
                <a:cs typeface="+mn-cs"/>
              </a:rPr>
              <a:t>. Alan adı düğümlerinde ise iki öznitelik var: sorgu yapan benzersiz istemci sayısı ve </a:t>
            </a:r>
            <a:r>
              <a:rPr lang="tr-TR" sz="1200" b="0" kern="1200" dirty="0" err="1">
                <a:solidFill>
                  <a:schemeClr val="tx1"/>
                </a:solidFill>
                <a:effectLst/>
                <a:latin typeface="+mn-lt"/>
                <a:ea typeface="+mn-ea"/>
                <a:cs typeface="+mn-cs"/>
              </a:rPr>
              <a:t>kötücüllük</a:t>
            </a:r>
            <a:r>
              <a:rPr lang="tr-TR" sz="1200" b="0" kern="1200" dirty="0">
                <a:solidFill>
                  <a:schemeClr val="tx1"/>
                </a:solidFill>
                <a:effectLst/>
                <a:latin typeface="+mn-lt"/>
                <a:ea typeface="+mn-ea"/>
                <a:cs typeface="+mn-cs"/>
              </a:rPr>
              <a:t> skoru. Burada önemli olan nokta, saldırının yalnızca istemci düğümlerinin özelliklerine uygulanmasıdır. Yani saldırgan graf yapısının değiştirmiyor. Kenar eklemiyoruz, kenar silmiyoruz ve alan adı düğümlerini değiştirmiyoruz. Graf topolojisi tamamen sabit kalıyor. Saldırganın model parametrelerine ve giriş bilgilerine erişebildiği için saldırı senaryomuz beyaz kutu olarak tanımlanıyor. Bu senaryoyu seçmemizin nedeni, farklı modelleri aynı saldırgan bilgi düzeyi altında kontrollü ve karşılaştırabilir biçimde değerlendirebilmektir.</a:t>
            </a:r>
          </a:p>
          <a:p>
            <a:r>
              <a:rPr lang="tr-TR" sz="1200" b="0" kern="1200" dirty="0">
                <a:solidFill>
                  <a:schemeClr val="tx1"/>
                </a:solidFill>
                <a:effectLst/>
                <a:latin typeface="+mn-lt"/>
                <a:ea typeface="+mn-ea"/>
                <a:cs typeface="+mn-cs"/>
              </a:rPr>
              <a:t>Bu amaçla 3 klasik beyaz kutu saldırısı olan FGSM, PGD ve BIM saldırılarını kullanıyoruz. Ayrıca pertürbasyon şiddetini epsilon parametresi ile kontrol ediyoruz. </a:t>
            </a:r>
          </a:p>
          <a:p>
            <a:r>
              <a:rPr lang="tr-TR" sz="1200" b="0" kern="1200" dirty="0">
                <a:solidFill>
                  <a:schemeClr val="tx1"/>
                </a:solidFill>
                <a:effectLst/>
                <a:latin typeface="+mn-lt"/>
                <a:ea typeface="+mn-ea"/>
                <a:cs typeface="+mn-cs"/>
              </a:rPr>
              <a:t>Şimdi bu saldırıları model üzerinde nasıl değerlendirdiğimizi inceleyelim.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In the experimental evaluation, we use four heterogeneous graph learning models: </a:t>
            </a:r>
            <a:r>
              <a:rPr lang="en-US" dirty="0" err="1"/>
              <a:t>HeteroSAGE</a:t>
            </a:r>
            <a:r>
              <a:rPr lang="en-US" dirty="0"/>
              <a:t>, </a:t>
            </a:r>
            <a:r>
              <a:rPr lang="en-US" dirty="0" err="1"/>
              <a:t>HeteroGCN</a:t>
            </a:r>
            <a:r>
              <a:rPr lang="en-US" dirty="0"/>
              <a:t>, </a:t>
            </a:r>
            <a:r>
              <a:rPr lang="en-US" dirty="0" err="1"/>
              <a:t>HeteroGAT</a:t>
            </a:r>
            <a:r>
              <a:rPr lang="en-US" dirty="0"/>
              <a:t>, and </a:t>
            </a:r>
            <a:r>
              <a:rPr lang="en-US" dirty="0" err="1"/>
              <a:t>HeteroGAE</a:t>
            </a:r>
            <a:r>
              <a:rPr lang="en-US" dirty="0"/>
              <a:t>. We split the labeled client nodes into 70 percent training, 15 percent validation, and 15 percent test sets, while preserving the class distribution. First, we evaluate all models on clean data. Then, we apply FGSM, PGD, and BIM attacks directly to the client features at different epsilon levels. For each model, attack, and epsilon combination, we perform 20 independent runs. We measure performance using Accuracy, Precision, Recall, and F1-score, with particular attention to F1-score after the attack. We also calculate the Attack Success Rate, or ASR. ASR is calculated only over target nodes that were initially classified correctly on clean data. It measures how many of these nodes become misclassified after the attack. Before moving to the attack results, let us first look at the baseline performance of the models on clean data.</a:t>
            </a:r>
          </a:p>
          <a:p>
            <a:r>
              <a:rPr lang="en-US" dirty="0"/>
              <a:t>---</a:t>
            </a:r>
          </a:p>
          <a:p>
            <a:r>
              <a:rPr lang="tr-TR" sz="1200" b="0" kern="1200" dirty="0">
                <a:solidFill>
                  <a:schemeClr val="tx1"/>
                </a:solidFill>
                <a:effectLst/>
                <a:latin typeface="+mn-lt"/>
                <a:ea typeface="+mn-ea"/>
                <a:cs typeface="+mn-cs"/>
              </a:rPr>
              <a:t>Deneysel değerlendirmede dört heterojen graf öğrenme modeli kullandık: </a:t>
            </a:r>
            <a:r>
              <a:rPr lang="tr-TR" sz="1200" b="0" kern="1200" dirty="0" err="1">
                <a:solidFill>
                  <a:schemeClr val="tx1"/>
                </a:solidFill>
                <a:effectLst/>
                <a:latin typeface="+mn-lt"/>
                <a:ea typeface="+mn-ea"/>
                <a:cs typeface="+mn-cs"/>
              </a:rPr>
              <a:t>HeteroSAGE</a:t>
            </a:r>
            <a:r>
              <a:rPr lang="tr-TR" sz="1200" b="0" kern="1200" dirty="0">
                <a:solidFill>
                  <a:schemeClr val="tx1"/>
                </a:solidFill>
                <a:effectLst/>
                <a:latin typeface="+mn-lt"/>
                <a:ea typeface="+mn-ea"/>
                <a:cs typeface="+mn-cs"/>
              </a:rPr>
              <a:t>, </a:t>
            </a:r>
            <a:r>
              <a:rPr lang="tr-TR" sz="1200" b="0" kern="1200" dirty="0" err="1">
                <a:solidFill>
                  <a:schemeClr val="tx1"/>
                </a:solidFill>
                <a:effectLst/>
                <a:latin typeface="+mn-lt"/>
                <a:ea typeface="+mn-ea"/>
                <a:cs typeface="+mn-cs"/>
              </a:rPr>
              <a:t>HeteroGCN</a:t>
            </a:r>
            <a:r>
              <a:rPr lang="tr-TR" sz="1200" b="0" kern="1200" dirty="0">
                <a:solidFill>
                  <a:schemeClr val="tx1"/>
                </a:solidFill>
                <a:effectLst/>
                <a:latin typeface="+mn-lt"/>
                <a:ea typeface="+mn-ea"/>
                <a:cs typeface="+mn-cs"/>
              </a:rPr>
              <a:t>, </a:t>
            </a:r>
            <a:r>
              <a:rPr lang="tr-TR" sz="1200" b="0" kern="1200" dirty="0" err="1">
                <a:solidFill>
                  <a:schemeClr val="tx1"/>
                </a:solidFill>
                <a:effectLst/>
                <a:latin typeface="+mn-lt"/>
                <a:ea typeface="+mn-ea"/>
                <a:cs typeface="+mn-cs"/>
              </a:rPr>
              <a:t>HeteroGAT</a:t>
            </a:r>
            <a:r>
              <a:rPr lang="tr-TR" sz="1200" b="0" kern="1200" dirty="0">
                <a:solidFill>
                  <a:schemeClr val="tx1"/>
                </a:solidFill>
                <a:effectLst/>
                <a:latin typeface="+mn-lt"/>
                <a:ea typeface="+mn-ea"/>
                <a:cs typeface="+mn-cs"/>
              </a:rPr>
              <a:t> ve </a:t>
            </a:r>
            <a:r>
              <a:rPr lang="tr-TR" sz="1200" b="0" kern="1200" dirty="0" err="1">
                <a:solidFill>
                  <a:schemeClr val="tx1"/>
                </a:solidFill>
                <a:effectLst/>
                <a:latin typeface="+mn-lt"/>
                <a:ea typeface="+mn-ea"/>
                <a:cs typeface="+mn-cs"/>
              </a:rPr>
              <a:t>HeteroGAE</a:t>
            </a:r>
            <a:r>
              <a:rPr lang="tr-TR" sz="1200" b="0" kern="1200" dirty="0">
                <a:solidFill>
                  <a:schemeClr val="tx1"/>
                </a:solidFill>
                <a:effectLst/>
                <a:latin typeface="+mn-lt"/>
                <a:ea typeface="+mn-ea"/>
                <a:cs typeface="+mn-cs"/>
              </a:rPr>
              <a:t>. Etiketli istemci düğümlerini sınıf dağılımını koruyacak şekilde yüzde 70 eğitim, yüzde 15 doğrulama ve yüzde 15 test olarak ayırdık. Önce bütün modelleri temiz veri üzerinde değerlendirdik. Daha sonra FGSM, PGD ve BIM saldırılarını farklı epsilon seviyelerinde doğrudan istemci özniteliklerine uyguladık. Her model, saldırı ve epsilon kombinasyonu için 20 bağımsız tekrar gerçekleştirildi.</a:t>
            </a:r>
          </a:p>
          <a:p>
            <a:r>
              <a:rPr lang="tr-TR" sz="1200" b="0" kern="1200" dirty="0">
                <a:solidFill>
                  <a:schemeClr val="tx1"/>
                </a:solidFill>
                <a:effectLst/>
                <a:latin typeface="+mn-lt"/>
                <a:ea typeface="+mn-ea"/>
                <a:cs typeface="+mn-cs"/>
              </a:rPr>
              <a:t>Performansı doğruluk, kesinlik, duyarlılık ve F1-skoru ile ölçüyoruz; saldırı sonrası performans için özellikle F1-skoruna odaklanıyoruz. Bunun yanında Saldırı Başarı Oranı, yani ASR değerini de hesaplıyoruz. ASR yalnızca temiz veride başlangıçta doğru sınıflandırılmış hedef düğümler üzerinden hesaplanıyor ve saldırıdan sonra bu düğümlerin ne kadarının yanlış sınıflandırıldığını ölçüyor.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Here, we can see the performance of the models before any attack is applied, in other words, on clean data. Three of the models achieve very high performance on clean data. </a:t>
            </a:r>
            <a:r>
              <a:rPr lang="en-US" dirty="0" err="1"/>
              <a:t>HeteroSAGE</a:t>
            </a:r>
            <a:r>
              <a:rPr lang="en-US" dirty="0"/>
              <a:t> reaches 97.00 percent Accuracy and 97.05 percent F1-score. Similarly, </a:t>
            </a:r>
            <a:r>
              <a:rPr lang="en-US" dirty="0" err="1"/>
              <a:t>HeteroGAE</a:t>
            </a:r>
            <a:r>
              <a:rPr lang="en-US" dirty="0"/>
              <a:t> achieves 97.19 percent Accuracy and 97.24 percent F1-score. </a:t>
            </a:r>
            <a:r>
              <a:rPr lang="en-US" dirty="0" err="1"/>
              <a:t>HeteroGAT</a:t>
            </a:r>
            <a:r>
              <a:rPr lang="en-US" dirty="0"/>
              <a:t> is the strongest model on clean data, reaching 98.15 percent Accuracy and 98.17 percent F1-score. </a:t>
            </a:r>
            <a:r>
              <a:rPr lang="en-US" dirty="0" err="1"/>
              <a:t>HeteroGCN</a:t>
            </a:r>
            <a:r>
              <a:rPr lang="en-US" dirty="0"/>
              <a:t> shows lower performance, with 86.67 percent Accuracy and 87.54 percent F1-score. These results show that the models can perform very well under normal conditions. However, this is where the main point of our study begins. High performance on clean data does not directly tell us how the model will behave under attack. As I mentioned earlier, the use of relational information in graph models may create an expectation of some level of robustness. However, high clean-data performance is not the same as adversarial robustness. So, the question we want to answer now is this: For example, if a model achieves more than 98 percent performance on clean data, how much of this performance can it preserve when the attack begins?</a:t>
            </a:r>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kern="1200" dirty="0">
                <a:solidFill>
                  <a:schemeClr val="tx1"/>
                </a:solidFill>
                <a:effectLst/>
                <a:latin typeface="+mn-lt"/>
                <a:ea typeface="+mn-ea"/>
                <a:cs typeface="+mn-cs"/>
              </a:rPr>
              <a:t>Burada modellerin herhangi bir saldırı uygulanmadan önce, yani temiz veri üzerindeki performanslarını görüyoruz. Ve üç model temiz veride yüksek performans gösteriyor. </a:t>
            </a:r>
            <a:r>
              <a:rPr lang="tr-TR" sz="1200" b="0" kern="1200" dirty="0" err="1">
                <a:solidFill>
                  <a:schemeClr val="tx1"/>
                </a:solidFill>
                <a:effectLst/>
                <a:latin typeface="+mn-lt"/>
                <a:ea typeface="+mn-ea"/>
                <a:cs typeface="+mn-cs"/>
              </a:rPr>
              <a:t>HeteroSAGE</a:t>
            </a:r>
            <a:r>
              <a:rPr lang="tr-TR" sz="1200" b="0" kern="1200" dirty="0">
                <a:solidFill>
                  <a:schemeClr val="tx1"/>
                </a:solidFill>
                <a:effectLst/>
                <a:latin typeface="+mn-lt"/>
                <a:ea typeface="+mn-ea"/>
                <a:cs typeface="+mn-cs"/>
              </a:rPr>
              <a:t> yüzde 97,00 doğruluk ve yüzde 97,05 F1-skoruna ulaşıyor. </a:t>
            </a:r>
            <a:r>
              <a:rPr lang="tr-TR" sz="1200" b="0" kern="1200" dirty="0" err="1">
                <a:solidFill>
                  <a:schemeClr val="tx1"/>
                </a:solidFill>
                <a:effectLst/>
                <a:latin typeface="+mn-lt"/>
                <a:ea typeface="+mn-ea"/>
                <a:cs typeface="+mn-cs"/>
              </a:rPr>
              <a:t>HeteroGAE</a:t>
            </a:r>
            <a:r>
              <a:rPr lang="tr-TR" sz="1200" b="0" kern="1200" dirty="0">
                <a:solidFill>
                  <a:schemeClr val="tx1"/>
                </a:solidFill>
                <a:effectLst/>
                <a:latin typeface="+mn-lt"/>
                <a:ea typeface="+mn-ea"/>
                <a:cs typeface="+mn-cs"/>
              </a:rPr>
              <a:t> benzer şekilde yüzde 97,19 doğruluk ve yüzde 97,24 F1-skoruna ulaşıyor. </a:t>
            </a:r>
            <a:r>
              <a:rPr lang="tr-TR" sz="1200" b="0" kern="1200" dirty="0" err="1">
                <a:solidFill>
                  <a:schemeClr val="tx1"/>
                </a:solidFill>
                <a:effectLst/>
                <a:latin typeface="+mn-lt"/>
                <a:ea typeface="+mn-ea"/>
                <a:cs typeface="+mn-cs"/>
              </a:rPr>
              <a:t>HeteroGAT</a:t>
            </a:r>
            <a:r>
              <a:rPr lang="tr-TR" sz="1200" b="0" kern="1200" dirty="0">
                <a:solidFill>
                  <a:schemeClr val="tx1"/>
                </a:solidFill>
                <a:effectLst/>
                <a:latin typeface="+mn-lt"/>
                <a:ea typeface="+mn-ea"/>
                <a:cs typeface="+mn-cs"/>
              </a:rPr>
              <a:t> ise temiz veride en güçlü model ve yüzde 98,15 doğruluk ile yüzde 98,17 F1-skoruna ulaşıyor. </a:t>
            </a:r>
            <a:r>
              <a:rPr lang="tr-TR" sz="1200" b="0" kern="1200" dirty="0" err="1">
                <a:solidFill>
                  <a:schemeClr val="tx1"/>
                </a:solidFill>
                <a:effectLst/>
                <a:latin typeface="+mn-lt"/>
                <a:ea typeface="+mn-ea"/>
                <a:cs typeface="+mn-cs"/>
              </a:rPr>
              <a:t>HeteroGCN’nin</a:t>
            </a:r>
            <a:r>
              <a:rPr lang="tr-TR" sz="1200" b="0" kern="1200" dirty="0">
                <a:solidFill>
                  <a:schemeClr val="tx1"/>
                </a:solidFill>
                <a:effectLst/>
                <a:latin typeface="+mn-lt"/>
                <a:ea typeface="+mn-ea"/>
                <a:cs typeface="+mn-cs"/>
              </a:rPr>
              <a:t> performansı ise daha düşük; doğruluğu yüzde 86,67 ve F1-skoru yüzde 87,54. Bu sonuçlar bize modellerin normal koşullarda oldukça başarılı olabildiğini gösteriyor. Ancak bizim çalışmamız açısından asıl önemli nokta burada başlıyor. Çünkü temiz veri üzerindeki yüksek performans bize modelin saldırı altındaki davranışını doğrudan söylemiyor. Başta bahsettiğim gibi, graf modellerinin ilişkisel bilgiyi kullanması belirli bir dayanıklılık beklentisi oluşturabilir. Ancak yüksek temiz veri başarısı ile </a:t>
            </a:r>
            <a:r>
              <a:rPr lang="tr-TR" sz="1200" b="0" kern="1200" dirty="0" err="1">
                <a:solidFill>
                  <a:schemeClr val="tx1"/>
                </a:solidFill>
                <a:effectLst/>
                <a:latin typeface="+mn-lt"/>
                <a:ea typeface="+mn-ea"/>
                <a:cs typeface="+mn-cs"/>
              </a:rPr>
              <a:t>adversarial</a:t>
            </a:r>
            <a:r>
              <a:rPr lang="tr-TR" sz="1200" b="0" kern="1200" dirty="0">
                <a:solidFill>
                  <a:schemeClr val="tx1"/>
                </a:solidFill>
                <a:effectLst/>
                <a:latin typeface="+mn-lt"/>
                <a:ea typeface="+mn-ea"/>
                <a:cs typeface="+mn-cs"/>
              </a:rPr>
              <a:t> dayanıklılık aynı şey değildir. Dolayısıyla şimdi görmek istediğimiz şey şu: Örneğin yüzde 98'in üzerinde performans gösteren bir model, saldırı başladığında bu başarısını ne ölçüde koruyabiliyor?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These graphs show how the Attack Success Rate, or ASR, changes as the epsilon value increases for the FGSM, PGD, and BIM attacks. As epsilon increases, in other words, as the attack becomes stronger, ASR generally increases as well. This means that more malicious nodes that were initially classified correctly become misclassified after the attack. As we can see from the graphs, </a:t>
            </a:r>
            <a:r>
              <a:rPr lang="en-US" dirty="0" err="1"/>
              <a:t>HeteroSAGE</a:t>
            </a:r>
            <a:r>
              <a:rPr lang="en-US" dirty="0"/>
              <a:t> is particularly vulnerable. Under FGSM and PGD, the ASR increases rapidly and reaches relatively high values at larger epsilon levels. A similar vulnerability can also be observed under BIM. </a:t>
            </a:r>
            <a:r>
              <a:rPr lang="en-US" dirty="0" err="1"/>
              <a:t>HeteroGAE</a:t>
            </a:r>
            <a:r>
              <a:rPr lang="en-US" dirty="0"/>
              <a:t> behaves differently depending on the attack type. Under PGD, ASR decreases after a certain point, while under BIM it increases significantly. </a:t>
            </a:r>
            <a:r>
              <a:rPr lang="en-US" dirty="0" err="1"/>
              <a:t>HeteroGAT</a:t>
            </a:r>
            <a:r>
              <a:rPr lang="en-US" dirty="0"/>
              <a:t> is not completely robust either. However, especially at low and medium perturbation levels, its degradation is more gradual. The </a:t>
            </a:r>
            <a:r>
              <a:rPr lang="en-US" dirty="0" err="1"/>
              <a:t>HeteroGCN</a:t>
            </a:r>
            <a:r>
              <a:rPr lang="en-US" dirty="0"/>
              <a:t> results should be interpreted carefully. In some conditions, its ASR appears lower than that of the other models. However, this does not directly mean that it is more robust. Its clean-data accuracy is already lower, so the number of target nodes that are correctly classified before the attack is also smaller. For this reason, ASR should be interpreted together with F1-score and Accuracy.</a:t>
            </a:r>
          </a:p>
          <a:p>
            <a:r>
              <a:rPr lang="en-US" dirty="0"/>
              <a:t>---</a:t>
            </a:r>
          </a:p>
          <a:p>
            <a:r>
              <a:rPr lang="tr-TR" sz="1200" b="0" kern="1200" dirty="0">
                <a:solidFill>
                  <a:schemeClr val="tx1"/>
                </a:solidFill>
                <a:effectLst/>
                <a:latin typeface="+mn-lt"/>
                <a:ea typeface="+mn-ea"/>
                <a:cs typeface="+mn-cs"/>
              </a:rPr>
              <a:t>Grafiklerde FGSM, PGD ve BIM saldırıları için epsilon arttıkça Saldırı Başarı Oranının (ASR), nasıl değiştiğini görüyoruz. Ve epsilon değeri yani saldırı şiddeti arttıkça ASR de artıyor. Yani başlangıçta doğru sınıflandırılan daha fazla kötü niyetli düğüm saldırı sonrasında yanlış sınıflandırılıyor.</a:t>
            </a:r>
          </a:p>
          <a:p>
            <a:r>
              <a:rPr lang="tr-TR" sz="1200" b="0" kern="1200" dirty="0">
                <a:solidFill>
                  <a:schemeClr val="tx1"/>
                </a:solidFill>
                <a:effectLst/>
                <a:latin typeface="+mn-lt"/>
                <a:ea typeface="+mn-ea"/>
                <a:cs typeface="+mn-cs"/>
              </a:rPr>
              <a:t>Grafiklerden görüldüğü üzere </a:t>
            </a:r>
            <a:r>
              <a:rPr lang="tr-TR" sz="1200" b="0" kern="1200" dirty="0" err="1">
                <a:solidFill>
                  <a:schemeClr val="tx1"/>
                </a:solidFill>
                <a:effectLst/>
                <a:latin typeface="+mn-lt"/>
                <a:ea typeface="+mn-ea"/>
                <a:cs typeface="+mn-cs"/>
              </a:rPr>
              <a:t>HeteroSAGE</a:t>
            </a:r>
            <a:r>
              <a:rPr lang="tr-TR" sz="1200" b="0" kern="1200" dirty="0">
                <a:solidFill>
                  <a:schemeClr val="tx1"/>
                </a:solidFill>
                <a:effectLst/>
                <a:latin typeface="+mn-lt"/>
                <a:ea typeface="+mn-ea"/>
                <a:cs typeface="+mn-cs"/>
              </a:rPr>
              <a:t> savunmasız kalıyor. FGSM ve PGD saldırıları altında ASR değeri hızlı biçimde yükseliyor ve yüksek epsilon seviyelerinde oldukça büyük değerlere ulaşıyor. BIM altında da benzer bir savunmasızlık görülüyor. </a:t>
            </a:r>
            <a:r>
              <a:rPr lang="tr-TR" sz="1200" b="0" kern="1200" dirty="0" err="1">
                <a:solidFill>
                  <a:schemeClr val="tx1"/>
                </a:solidFill>
                <a:effectLst/>
                <a:latin typeface="+mn-lt"/>
                <a:ea typeface="+mn-ea"/>
                <a:cs typeface="+mn-cs"/>
              </a:rPr>
              <a:t>HeteroGAE</a:t>
            </a:r>
            <a:r>
              <a:rPr lang="tr-TR" sz="1200" b="0" kern="1200" dirty="0">
                <a:solidFill>
                  <a:schemeClr val="tx1"/>
                </a:solidFill>
                <a:effectLst/>
                <a:latin typeface="+mn-lt"/>
                <a:ea typeface="+mn-ea"/>
                <a:cs typeface="+mn-cs"/>
              </a:rPr>
              <a:t> ise saldırı türüne göre farklı davranıyor. PGD saldırısında ASR bir noktadan sonra düşerken, BIM saldırısında belirgin biçimde yükseliyor. </a:t>
            </a:r>
            <a:r>
              <a:rPr lang="tr-TR" sz="1200" b="0" kern="1200" dirty="0" err="1">
                <a:solidFill>
                  <a:schemeClr val="tx1"/>
                </a:solidFill>
                <a:effectLst/>
                <a:latin typeface="+mn-lt"/>
                <a:ea typeface="+mn-ea"/>
                <a:cs typeface="+mn-cs"/>
              </a:rPr>
              <a:t>HeteroGAT</a:t>
            </a:r>
            <a:r>
              <a:rPr lang="tr-TR" sz="1200" b="0" kern="1200" dirty="0">
                <a:solidFill>
                  <a:schemeClr val="tx1"/>
                </a:solidFill>
                <a:effectLst/>
                <a:latin typeface="+mn-lt"/>
                <a:ea typeface="+mn-ea"/>
                <a:cs typeface="+mn-cs"/>
              </a:rPr>
              <a:t> için tamamen dayanıklı diyemeyiz; ancak özellikle düşük ve orta pertürbasyon seviyelerinde bozulma daha kademeli gerçekleşiyor.</a:t>
            </a:r>
          </a:p>
          <a:p>
            <a:r>
              <a:rPr lang="tr-TR" sz="1200" b="0" kern="1200" dirty="0" err="1">
                <a:solidFill>
                  <a:schemeClr val="tx1"/>
                </a:solidFill>
                <a:effectLst/>
                <a:latin typeface="+mn-lt"/>
                <a:ea typeface="+mn-ea"/>
                <a:cs typeface="+mn-cs"/>
              </a:rPr>
              <a:t>HeteroGCN</a:t>
            </a:r>
            <a:r>
              <a:rPr lang="tr-TR" sz="1200" b="0" kern="1200" dirty="0">
                <a:solidFill>
                  <a:schemeClr val="tx1"/>
                </a:solidFill>
                <a:effectLst/>
                <a:latin typeface="+mn-lt"/>
                <a:ea typeface="+mn-ea"/>
                <a:cs typeface="+mn-cs"/>
              </a:rPr>
              <a:t> sonuçlarını dikkatli yorumlamak gerekiyor. Bazı koşullarda ASR diğer modellere göre daha düşük görünüyor; ancak bu, doğrudan daha dayanıklı olduğu anlamına gelmez. Çünkü temiz veri doğruluğu zaten daha düşük. Dolayısıyla saldırıdan önce doğru sınıflandırılmış hedef düğüm sayısı da daha az. Bu nedenle </a:t>
            </a:r>
            <a:r>
              <a:rPr lang="tr-TR" sz="1200" b="0" kern="1200" dirty="0" err="1">
                <a:solidFill>
                  <a:schemeClr val="tx1"/>
                </a:solidFill>
                <a:effectLst/>
                <a:latin typeface="+mn-lt"/>
                <a:ea typeface="+mn-ea"/>
                <a:cs typeface="+mn-cs"/>
              </a:rPr>
              <a:t>ASR’yi</a:t>
            </a:r>
            <a:r>
              <a:rPr lang="tr-TR" sz="1200" b="0" kern="1200" dirty="0">
                <a:solidFill>
                  <a:schemeClr val="tx1"/>
                </a:solidFill>
                <a:effectLst/>
                <a:latin typeface="+mn-lt"/>
                <a:ea typeface="+mn-ea"/>
                <a:cs typeface="+mn-cs"/>
              </a:rPr>
              <a:t> F1-skoru ve doğruluk ile birlikte değerlendirmemiz gerekiyor.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Here, we can see how F1-score and Accuracy change under attack as epsilon increases. In general, both metrics decrease. However, the rate of degradation varies across models and attack types. </a:t>
            </a:r>
            <a:r>
              <a:rPr lang="en-US" dirty="0" err="1"/>
              <a:t>HeteroSAGE</a:t>
            </a:r>
            <a:r>
              <a:rPr lang="en-US" dirty="0"/>
              <a:t> is the clearest example of the difference between clean-data performance and stability under attack. Although it has an F1-score above 97 percent on clean data, its performance decreases rapidly as the perturbation level increases, especially under FGSM and BIM. </a:t>
            </a:r>
            <a:r>
              <a:rPr lang="en-US" dirty="0" err="1"/>
              <a:t>HeteroGAT</a:t>
            </a:r>
            <a:r>
              <a:rPr lang="en-US" dirty="0"/>
              <a:t>, on the other hand, shows a more gradual decline in many conditions. Therefore, it provides the best balance between high clean-data performance and stability under attack. </a:t>
            </a:r>
            <a:r>
              <a:rPr lang="en-US" dirty="0" err="1"/>
              <a:t>HeteroGAE</a:t>
            </a:r>
            <a:r>
              <a:rPr lang="en-US" dirty="0"/>
              <a:t> again shows attack-dependent behavior. It appears more stable under FGSM, while the other attacks can cause a more noticeable performance decrease. </a:t>
            </a:r>
            <a:r>
              <a:rPr lang="en-US" dirty="0" err="1"/>
              <a:t>HeteroGCN</a:t>
            </a:r>
            <a:r>
              <a:rPr lang="en-US" dirty="0"/>
              <a:t> already starts with lower baseline performance, so its absolute performance after the attack remains among the weakest of the evaluated models.</a:t>
            </a:r>
          </a:p>
          <a:p>
            <a:r>
              <a:rPr lang="en-US" dirty="0"/>
              <a:t>----</a:t>
            </a:r>
            <a:br>
              <a:rPr lang="en-US" dirty="0"/>
            </a:br>
            <a:r>
              <a:rPr lang="en-US" dirty="0" err="1"/>
              <a:t>Burada</a:t>
            </a:r>
            <a:r>
              <a:rPr lang="en-US" dirty="0"/>
              <a:t> </a:t>
            </a:r>
            <a:r>
              <a:rPr lang="tr-TR" sz="1200" b="0" kern="1200" dirty="0">
                <a:solidFill>
                  <a:schemeClr val="tx1"/>
                </a:solidFill>
                <a:effectLst/>
                <a:latin typeface="+mn-lt"/>
                <a:ea typeface="+mn-ea"/>
                <a:cs typeface="+mn-cs"/>
              </a:rPr>
              <a:t>F1-skoru ve doğruluğun saldırı altında epsilon arttıkça nasıl değiştiğini görüyoruz. Genel olarak her iki metrik de düşüyor; ancak düşüş hızı modelden modele ve saldırı türüne göre değişiyor.</a:t>
            </a:r>
          </a:p>
          <a:p>
            <a:r>
              <a:rPr lang="tr-TR" sz="1200" b="0" kern="1200" dirty="0" err="1">
                <a:solidFill>
                  <a:schemeClr val="tx1"/>
                </a:solidFill>
                <a:effectLst/>
                <a:latin typeface="+mn-lt"/>
                <a:ea typeface="+mn-ea"/>
                <a:cs typeface="+mn-cs"/>
              </a:rPr>
              <a:t>HeteroSAGE</a:t>
            </a:r>
            <a:r>
              <a:rPr lang="tr-TR" sz="1200" b="0" kern="1200" dirty="0">
                <a:solidFill>
                  <a:schemeClr val="tx1"/>
                </a:solidFill>
                <a:effectLst/>
                <a:latin typeface="+mn-lt"/>
                <a:ea typeface="+mn-ea"/>
                <a:cs typeface="+mn-cs"/>
              </a:rPr>
              <a:t>, temiz veri başarısı ile kararlılık arasındaki farkı en açık gösteren model. Temiz veride yüzde 97’nin üzerinde F1-skoruna sahipken, pertürbasyon arttığında özellikle FGSM ve BIM saldırılarında hızlı bir performans kaybı yaşıyor. </a:t>
            </a:r>
            <a:r>
              <a:rPr lang="tr-TR" sz="1200" b="0" kern="1200" dirty="0" err="1">
                <a:solidFill>
                  <a:schemeClr val="tx1"/>
                </a:solidFill>
                <a:effectLst/>
                <a:latin typeface="+mn-lt"/>
                <a:ea typeface="+mn-ea"/>
                <a:cs typeface="+mn-cs"/>
              </a:rPr>
              <a:t>HeteroGAT</a:t>
            </a:r>
            <a:r>
              <a:rPr lang="tr-TR" sz="1200" b="0" kern="1200" dirty="0">
                <a:solidFill>
                  <a:schemeClr val="tx1"/>
                </a:solidFill>
                <a:effectLst/>
                <a:latin typeface="+mn-lt"/>
                <a:ea typeface="+mn-ea"/>
                <a:cs typeface="+mn-cs"/>
              </a:rPr>
              <a:t> ise birçok koşulda daha kademeli bir düşüş gösteriyor ve bu nedenle yüksek temiz veri performansı ile saldırıya karşı kararlılığı arasında en dengeli modeli oluşturuyor. </a:t>
            </a:r>
            <a:r>
              <a:rPr lang="tr-TR" sz="1200" b="0" kern="1200" dirty="0" err="1">
                <a:solidFill>
                  <a:schemeClr val="tx1"/>
                </a:solidFill>
                <a:effectLst/>
                <a:latin typeface="+mn-lt"/>
                <a:ea typeface="+mn-ea"/>
                <a:cs typeface="+mn-cs"/>
              </a:rPr>
              <a:t>HeteroGAE</a:t>
            </a:r>
            <a:r>
              <a:rPr lang="tr-TR" sz="1200" b="0" kern="1200" dirty="0">
                <a:solidFill>
                  <a:schemeClr val="tx1"/>
                </a:solidFill>
                <a:effectLst/>
                <a:latin typeface="+mn-lt"/>
                <a:ea typeface="+mn-ea"/>
                <a:cs typeface="+mn-cs"/>
              </a:rPr>
              <a:t> yine saldırı türüne bağlı davranıyor; FGSM saldırısı altında daha kararlı görünürken, diğer saldırılar performansı daha belirgin şekilde düşürebiliyor. </a:t>
            </a:r>
            <a:r>
              <a:rPr lang="tr-TR" sz="1200" b="0" kern="1200" dirty="0" err="1">
                <a:solidFill>
                  <a:schemeClr val="tx1"/>
                </a:solidFill>
                <a:effectLst/>
                <a:latin typeface="+mn-lt"/>
                <a:ea typeface="+mn-ea"/>
                <a:cs typeface="+mn-cs"/>
              </a:rPr>
              <a:t>HeteroGCN</a:t>
            </a:r>
            <a:r>
              <a:rPr lang="tr-TR" sz="1200" b="0" kern="1200" dirty="0">
                <a:solidFill>
                  <a:schemeClr val="tx1"/>
                </a:solidFill>
                <a:effectLst/>
                <a:latin typeface="+mn-lt"/>
                <a:ea typeface="+mn-ea"/>
                <a:cs typeface="+mn-cs"/>
              </a:rPr>
              <a:t> ise zaten daha düşük bir başlangıç performansına sahip olduğu için saldırı sonrası mutlak performansı en zayıf modellerden biri oluyor.</a:t>
            </a:r>
          </a:p>
          <a:p>
            <a:r>
              <a:rPr lang="tr-TR" sz="1200" b="0" kern="1200" dirty="0">
                <a:solidFill>
                  <a:schemeClr val="tx1"/>
                </a:solidFill>
                <a:effectLst/>
                <a:latin typeface="+mn-lt"/>
                <a:ea typeface="+mn-ea"/>
                <a:cs typeface="+mn-cs"/>
              </a:rPr>
              <a:t>Buradaki temel sonuç şu: Her saldırı türünde ve her pertürbasyon seviyesinde tutarlı biçimde en dayanıklı olan tek bir mimari yok.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To conclude, I would like to highlight three main findings. First, high clean-data performance does not guarantee adversarial robustness. </a:t>
            </a:r>
            <a:r>
              <a:rPr lang="en-US" dirty="0" err="1"/>
              <a:t>HeteroSAGE</a:t>
            </a:r>
            <a:r>
              <a:rPr lang="en-US" dirty="0"/>
              <a:t> is a clear example of this. Although it performs very well on clean data, its performance degrades rapidly under perturbation. Second, robustness should not be summarized using only a single metric. Especially when the models have different baseline performances, ASR should always be interpreted together with Accuracy and F1-score. Finally, the relational graph structure alone does not provide a defense against feature attacks. Even when the topology remains completely fixed, changes in node features can significantly affect the model decisions. As future work, structure-based attacks, joint perturbations of features and topology and mechanisms that can detect attacks before classification can be investigated. Overall, our results show that security-oriented GNN models should be evaluated not only based on their accuracy on clean data, but also based on their behavior under adversarial attack.</a:t>
            </a:r>
          </a:p>
          <a:p>
            <a:r>
              <a:rPr lang="en-US" dirty="0"/>
              <a:t>---</a:t>
            </a:r>
            <a:br>
              <a:rPr lang="en-US" dirty="0"/>
            </a:br>
            <a:r>
              <a:rPr lang="tr-TR" sz="1200" b="0" kern="1200" dirty="0">
                <a:solidFill>
                  <a:schemeClr val="tx1"/>
                </a:solidFill>
                <a:effectLst/>
                <a:latin typeface="+mn-lt"/>
                <a:ea typeface="+mn-ea"/>
                <a:cs typeface="+mn-cs"/>
              </a:rPr>
              <a:t>Sonuç olarak üç temel bulguyu vurgulamak istiyorum. Bunlardan ilki, yüksek temiz veri performansı modelin dayanıklılığını garanti etmiyor. </a:t>
            </a:r>
            <a:r>
              <a:rPr lang="tr-TR" sz="1200" b="0" kern="1200" dirty="0" err="1">
                <a:solidFill>
                  <a:schemeClr val="tx1"/>
                </a:solidFill>
                <a:effectLst/>
                <a:latin typeface="+mn-lt"/>
                <a:ea typeface="+mn-ea"/>
                <a:cs typeface="+mn-cs"/>
              </a:rPr>
              <a:t>HeteroSAGE</a:t>
            </a:r>
            <a:r>
              <a:rPr lang="tr-TR" sz="1200" b="0" kern="1200" dirty="0">
                <a:solidFill>
                  <a:schemeClr val="tx1"/>
                </a:solidFill>
                <a:effectLst/>
                <a:latin typeface="+mn-lt"/>
                <a:ea typeface="+mn-ea"/>
                <a:cs typeface="+mn-cs"/>
              </a:rPr>
              <a:t> bunun açık bir örneği; temiz veride çok başarılı olmasına rağmen pertürbasyon altında hızlı biçimde bozuluyor. İkincisi, dayanıklılık tek bir metrikle özetlenmemeli. Özellikle modellerin başlangıç performansları farklı olduğunda ASR mutlaka doğruluk ve F1-skoru ile birlikte yorumlanmalı. Son olarak, ilişkisel graf yapısı tek başına öznitelik saldırılarına karşı bir savunma sağlamıyor. Topoloji tamamen sabit tutulsa bile, düğüm özniteliklerindeki değişiklikler model kararlarını önemli ölçüde etkileyebiliyor.</a:t>
            </a:r>
            <a:br>
              <a:rPr lang="tr-TR" sz="1200" b="0" kern="1200" dirty="0">
                <a:solidFill>
                  <a:schemeClr val="tx1"/>
                </a:solidFill>
                <a:effectLst/>
                <a:latin typeface="+mn-lt"/>
                <a:ea typeface="+mn-ea"/>
                <a:cs typeface="+mn-cs"/>
              </a:rPr>
            </a:br>
            <a:endParaRPr lang="tr-TR" sz="1200" b="0" kern="1200" dirty="0">
              <a:solidFill>
                <a:schemeClr val="tx1"/>
              </a:solidFill>
              <a:effectLst/>
              <a:latin typeface="+mn-lt"/>
              <a:ea typeface="+mn-ea"/>
              <a:cs typeface="+mn-cs"/>
            </a:endParaRPr>
          </a:p>
          <a:p>
            <a:r>
              <a:rPr lang="tr-TR" sz="1200" b="0" kern="1200" dirty="0">
                <a:solidFill>
                  <a:schemeClr val="tx1"/>
                </a:solidFill>
                <a:effectLst/>
                <a:latin typeface="+mn-lt"/>
                <a:ea typeface="+mn-ea"/>
                <a:cs typeface="+mn-cs"/>
              </a:rPr>
              <a:t>Gelecek çalışmalarda yapı tabanlı saldırılar, öznitelik ve topolojiye aynı anda uygulanan pertürbasyonlar ve saldırıları sınıflandırma öncesinde tespit edebilecek mekanizmalar incelenebilir. Genel olarak sonuçlar, güvenlik odaklı GNN modellerinin yalnızca temiz veri üzerindeki doğruluklarıyla değil, saldırı altındaki davranışlarıyla da değerlendirilmesi gerektiğini gösteriyor.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A8BC-0432-5CD8-6178-89DE42A0E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433A0-A1AE-2559-DD4F-F0158E1AB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9409A-7314-3EEC-F7B1-EE919B00846D}"/>
              </a:ext>
            </a:extLst>
          </p:cNvPr>
          <p:cNvSpPr>
            <a:spLocks noGrp="1"/>
          </p:cNvSpPr>
          <p:nvPr>
            <p:ph type="body" idx="1"/>
          </p:nvPr>
        </p:nvSpPr>
        <p:spPr/>
        <p:txBody>
          <a:bodyPr/>
          <a:lstStyle/>
          <a:p>
            <a:r>
              <a:rPr lang="en-US" dirty="0"/>
              <a:t>[~30 seconds]
Thank you very much for listening. I will be happy to answer your questions.</a:t>
            </a:r>
          </a:p>
          <a:p>
            <a:r>
              <a:rPr lang="en-US" dirty="0"/>
              <a:t>---</a:t>
            </a:r>
            <a:br>
              <a:rPr lang="en-US" dirty="0"/>
            </a:br>
            <a:r>
              <a:rPr lang="tr-TR" sz="1200" b="0" kern="1200" dirty="0">
                <a:solidFill>
                  <a:schemeClr val="tx1"/>
                </a:solidFill>
                <a:effectLst/>
                <a:latin typeface="+mn-lt"/>
                <a:ea typeface="+mn-ea"/>
                <a:cs typeface="+mn-cs"/>
              </a:rPr>
              <a:t>Dinlediğiniz için çok teşekkür ederim. Sorularınızı yanıtlayabilirim.</a:t>
            </a:r>
          </a:p>
          <a:p>
            <a:endParaRPr lang="en-US" dirty="0"/>
          </a:p>
        </p:txBody>
      </p:sp>
      <p:sp>
        <p:nvSpPr>
          <p:cNvPr id="4" name="Slide Number Placeholder 3">
            <a:extLst>
              <a:ext uri="{FF2B5EF4-FFF2-40B4-BE49-F238E27FC236}">
                <a16:creationId xmlns:a16="http://schemas.microsoft.com/office/drawing/2014/main" id="{CF51EA36-4C01-D066-00A1-5CA00409C18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422406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45C6D"/>
          </a:solidFill>
          <a:ln w="12700">
            <a:solidFill>
              <a:srgbClr val="445C6D"/>
            </a:solidFill>
            <a:prstDash val="solid"/>
          </a:ln>
        </p:spPr>
        <p:txBody>
          <a:bodyPr/>
          <a:lstStyle/>
          <a:p>
            <a:endParaRPr lang="tr-TR"/>
          </a:p>
        </p:txBody>
      </p:sp>
      <p:sp>
        <p:nvSpPr>
          <p:cNvPr id="3" name="Text 1"/>
          <p:cNvSpPr/>
          <p:nvPr/>
        </p:nvSpPr>
        <p:spPr>
          <a:xfrm>
            <a:off x="411480" y="6510528"/>
            <a:ext cx="9784080" cy="182880"/>
          </a:xfrm>
          <a:prstGeom prst="rect">
            <a:avLst/>
          </a:prstGeom>
          <a:noFill/>
          <a:ln/>
        </p:spPr>
        <p:txBody>
          <a:bodyPr wrap="square" lIns="0" tIns="0" rIns="0" bIns="0" rtlCol="0" anchor="ctr"/>
          <a:lstStyle/>
          <a:p>
            <a:pPr marL="0" indent="0">
              <a:buNone/>
            </a:pPr>
            <a:r>
              <a:rPr lang="en-US" sz="780">
                <a:solidFill>
                  <a:srgbClr val="879EB0"/>
                </a:solidFill>
                <a:latin typeface="Aptos" pitchFamily="34" charset="0"/>
                <a:ea typeface="Aptos" pitchFamily="34" charset="-122"/>
                <a:cs typeface="Aptos" pitchFamily="34" charset="-120"/>
              </a:rPr>
              <a:t>Vulnerability of Heterogeneous Graph Learning Models to White-Box Feature Attacks</a:t>
            </a:r>
            <a:endParaRPr lang="en-US" sz="780"/>
          </a:p>
        </p:txBody>
      </p:sp>
      <p:sp>
        <p:nvSpPr>
          <p:cNvPr id="2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hyperlink" Target="https://isslab.co/" TargetMode="External"/><Relationship Id="rId12"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3.png"/><Relationship Id="rId5" Type="http://schemas.openxmlformats.org/officeDocument/2006/relationships/image" Target="../media/image13.png"/><Relationship Id="rId10" Type="http://schemas.openxmlformats.org/officeDocument/2006/relationships/image" Target="../media/image5.emf"/><Relationship Id="rId4" Type="http://schemas.openxmlformats.org/officeDocument/2006/relationships/image" Target="../media/image2.sv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A"/>
        </a:solidFill>
        <a:effectLst/>
      </p:bgPr>
    </p:bg>
    <p:spTree>
      <p:nvGrpSpPr>
        <p:cNvPr id="1" name=""/>
        <p:cNvGrpSpPr/>
        <p:nvPr/>
      </p:nvGrpSpPr>
      <p:grpSpPr>
        <a:xfrm>
          <a:off x="0" y="0"/>
          <a:ext cx="0" cy="0"/>
          <a:chOff x="0" y="0"/>
          <a:chExt cx="0" cy="0"/>
        </a:xfrm>
      </p:grpSpPr>
      <p:sp>
        <p:nvSpPr>
          <p:cNvPr id="25" name="Shape 23"/>
          <p:cNvSpPr/>
          <p:nvPr/>
        </p:nvSpPr>
        <p:spPr>
          <a:xfrm>
            <a:off x="4317476" y="4060476"/>
            <a:ext cx="7235187" cy="623035"/>
          </a:xfrm>
          <a:prstGeom prst="roundRect">
            <a:avLst>
              <a:gd name="adj" fmla="val 6977"/>
            </a:avLst>
          </a:prstGeom>
          <a:solidFill>
            <a:srgbClr val="CEE9EA"/>
          </a:solidFill>
          <a:ln w="12700">
            <a:solidFill>
              <a:srgbClr val="CEE9EA"/>
            </a:solidFill>
            <a:prstDash val="solid"/>
          </a:ln>
        </p:spPr>
        <p:txBody>
          <a:bodyPr/>
          <a:lstStyle/>
          <a:p>
            <a:endParaRPr dirty="0"/>
          </a:p>
        </p:txBody>
      </p:sp>
      <p:sp>
        <p:nvSpPr>
          <p:cNvPr id="2" name="Shape 0"/>
          <p:cNvSpPr/>
          <p:nvPr/>
        </p:nvSpPr>
        <p:spPr>
          <a:xfrm>
            <a:off x="0" y="0"/>
            <a:ext cx="3977640" cy="6858000"/>
          </a:xfrm>
          <a:prstGeom prst="rect">
            <a:avLst/>
          </a:prstGeom>
          <a:solidFill>
            <a:srgbClr val="445C6D"/>
          </a:solidFill>
          <a:ln w="12700">
            <a:solidFill>
              <a:srgbClr val="445C6D"/>
            </a:solidFill>
            <a:prstDash val="solid"/>
          </a:ln>
        </p:spPr>
        <p:txBody>
          <a:bodyPr/>
          <a:lstStyle/>
          <a:p>
            <a:endParaRPr dirty="0"/>
          </a:p>
        </p:txBody>
      </p:sp>
      <p:sp>
        <p:nvSpPr>
          <p:cNvPr id="3" name="Shape 1"/>
          <p:cNvSpPr/>
          <p:nvPr/>
        </p:nvSpPr>
        <p:spPr>
          <a:xfrm>
            <a:off x="741192" y="1662963"/>
            <a:ext cx="17232" cy="893625"/>
          </a:xfrm>
          <a:prstGeom prst="line">
            <a:avLst/>
          </a:prstGeom>
          <a:noFill/>
          <a:ln w="20320">
            <a:solidFill>
              <a:srgbClr val="B0D2CF">
                <a:alpha val="88000"/>
              </a:srgbClr>
            </a:solidFill>
            <a:prstDash val="solid"/>
          </a:ln>
        </p:spPr>
        <p:txBody>
          <a:bodyPr/>
          <a:lstStyle/>
          <a:p>
            <a:endParaRPr dirty="0"/>
          </a:p>
        </p:txBody>
      </p:sp>
      <p:sp>
        <p:nvSpPr>
          <p:cNvPr id="4" name="Shape 2"/>
          <p:cNvSpPr/>
          <p:nvPr/>
        </p:nvSpPr>
        <p:spPr>
          <a:xfrm>
            <a:off x="1325880" y="2286000"/>
            <a:ext cx="0" cy="914400"/>
          </a:xfrm>
          <a:prstGeom prst="line">
            <a:avLst/>
          </a:prstGeom>
          <a:noFill/>
          <a:ln w="20320">
            <a:solidFill>
              <a:srgbClr val="B0D2CF">
                <a:alpha val="88000"/>
              </a:srgbClr>
            </a:solidFill>
            <a:prstDash val="solid"/>
          </a:ln>
        </p:spPr>
        <p:txBody>
          <a:bodyPr/>
          <a:lstStyle/>
          <a:p>
            <a:endParaRPr dirty="0"/>
          </a:p>
        </p:txBody>
      </p:sp>
      <p:sp>
        <p:nvSpPr>
          <p:cNvPr id="5" name="Shape 3"/>
          <p:cNvSpPr/>
          <p:nvPr/>
        </p:nvSpPr>
        <p:spPr>
          <a:xfrm flipV="1">
            <a:off x="1370092" y="2830068"/>
            <a:ext cx="1551659" cy="356214"/>
          </a:xfrm>
          <a:prstGeom prst="line">
            <a:avLst/>
          </a:prstGeom>
          <a:noFill/>
          <a:ln w="20320">
            <a:solidFill>
              <a:srgbClr val="B0D2CF">
                <a:alpha val="88000"/>
              </a:srgbClr>
            </a:solidFill>
            <a:prstDash val="solid"/>
          </a:ln>
        </p:spPr>
        <p:txBody>
          <a:bodyPr/>
          <a:lstStyle/>
          <a:p>
            <a:endParaRPr dirty="0"/>
          </a:p>
        </p:txBody>
      </p:sp>
      <p:sp>
        <p:nvSpPr>
          <p:cNvPr id="6" name="Shape 4"/>
          <p:cNvSpPr/>
          <p:nvPr/>
        </p:nvSpPr>
        <p:spPr>
          <a:xfrm>
            <a:off x="731520" y="3200400"/>
            <a:ext cx="960120" cy="594360"/>
          </a:xfrm>
          <a:prstGeom prst="line">
            <a:avLst/>
          </a:prstGeom>
          <a:noFill/>
          <a:ln w="20320">
            <a:solidFill>
              <a:srgbClr val="B0D2CF">
                <a:alpha val="88000"/>
              </a:srgbClr>
            </a:solidFill>
            <a:prstDash val="solid"/>
          </a:ln>
        </p:spPr>
        <p:txBody>
          <a:bodyPr/>
          <a:lstStyle/>
          <a:p>
            <a:endParaRPr dirty="0"/>
          </a:p>
        </p:txBody>
      </p:sp>
      <p:sp>
        <p:nvSpPr>
          <p:cNvPr id="7" name="Shape 5"/>
          <p:cNvSpPr/>
          <p:nvPr/>
        </p:nvSpPr>
        <p:spPr>
          <a:xfrm>
            <a:off x="1691640" y="3794759"/>
            <a:ext cx="1058544" cy="347071"/>
          </a:xfrm>
          <a:prstGeom prst="line">
            <a:avLst/>
          </a:prstGeom>
          <a:noFill/>
          <a:ln w="20320">
            <a:solidFill>
              <a:srgbClr val="B0D2CF">
                <a:alpha val="88000"/>
              </a:srgbClr>
            </a:solidFill>
            <a:prstDash val="solid"/>
          </a:ln>
        </p:spPr>
        <p:txBody>
          <a:bodyPr/>
          <a:lstStyle/>
          <a:p>
            <a:endParaRPr dirty="0"/>
          </a:p>
        </p:txBody>
      </p:sp>
      <p:sp>
        <p:nvSpPr>
          <p:cNvPr id="8" name="Shape 6"/>
          <p:cNvSpPr/>
          <p:nvPr/>
        </p:nvSpPr>
        <p:spPr>
          <a:xfrm>
            <a:off x="2423160" y="1874520"/>
            <a:ext cx="502920" cy="960120"/>
          </a:xfrm>
          <a:prstGeom prst="line">
            <a:avLst/>
          </a:prstGeom>
          <a:noFill/>
          <a:ln w="20320">
            <a:solidFill>
              <a:srgbClr val="B0D2CF">
                <a:alpha val="88000"/>
              </a:srgbClr>
            </a:solidFill>
            <a:prstDash val="solid"/>
          </a:ln>
        </p:spPr>
        <p:txBody>
          <a:bodyPr/>
          <a:lstStyle/>
          <a:p>
            <a:endParaRPr dirty="0"/>
          </a:p>
        </p:txBody>
      </p:sp>
      <p:sp>
        <p:nvSpPr>
          <p:cNvPr id="9" name="Shape 7"/>
          <p:cNvSpPr/>
          <p:nvPr/>
        </p:nvSpPr>
        <p:spPr>
          <a:xfrm>
            <a:off x="2926080" y="2834640"/>
            <a:ext cx="239252" cy="1554480"/>
          </a:xfrm>
          <a:prstGeom prst="line">
            <a:avLst/>
          </a:prstGeom>
          <a:noFill/>
          <a:ln w="20320">
            <a:solidFill>
              <a:srgbClr val="B0D2CF">
                <a:alpha val="88000"/>
              </a:srgbClr>
            </a:solidFill>
            <a:prstDash val="solid"/>
          </a:ln>
        </p:spPr>
        <p:txBody>
          <a:bodyPr/>
          <a:lstStyle/>
          <a:p>
            <a:endParaRPr dirty="0"/>
          </a:p>
        </p:txBody>
      </p:sp>
      <p:sp>
        <p:nvSpPr>
          <p:cNvPr id="10" name="Shape 8"/>
          <p:cNvSpPr/>
          <p:nvPr/>
        </p:nvSpPr>
        <p:spPr>
          <a:xfrm>
            <a:off x="1744348" y="3855916"/>
            <a:ext cx="303910" cy="1066592"/>
          </a:xfrm>
          <a:prstGeom prst="line">
            <a:avLst/>
          </a:prstGeom>
          <a:noFill/>
          <a:ln w="20320">
            <a:solidFill>
              <a:srgbClr val="B0D2CF">
                <a:alpha val="88000"/>
              </a:srgbClr>
            </a:solidFill>
            <a:prstDash val="solid"/>
          </a:ln>
        </p:spPr>
        <p:txBody>
          <a:bodyPr/>
          <a:lstStyle/>
          <a:p>
            <a:endParaRPr dirty="0"/>
          </a:p>
        </p:txBody>
      </p:sp>
      <p:sp>
        <p:nvSpPr>
          <p:cNvPr id="11" name="Shape 9"/>
          <p:cNvSpPr/>
          <p:nvPr/>
        </p:nvSpPr>
        <p:spPr>
          <a:xfrm flipH="1">
            <a:off x="1058547" y="3794760"/>
            <a:ext cx="633093" cy="1066592"/>
          </a:xfrm>
          <a:prstGeom prst="line">
            <a:avLst/>
          </a:prstGeom>
          <a:noFill/>
          <a:ln w="20320">
            <a:solidFill>
              <a:srgbClr val="B0D2CF">
                <a:alpha val="88000"/>
              </a:srgbClr>
            </a:solidFill>
            <a:prstDash val="solid"/>
          </a:ln>
        </p:spPr>
        <p:txBody>
          <a:bodyPr/>
          <a:lstStyle/>
          <a:p>
            <a:endParaRPr dirty="0"/>
          </a:p>
        </p:txBody>
      </p:sp>
      <p:sp>
        <p:nvSpPr>
          <p:cNvPr id="12" name="Shape 10"/>
          <p:cNvSpPr/>
          <p:nvPr/>
        </p:nvSpPr>
        <p:spPr>
          <a:xfrm>
            <a:off x="652741" y="1490169"/>
            <a:ext cx="164592" cy="164592"/>
          </a:xfrm>
          <a:prstGeom prst="ellipse">
            <a:avLst/>
          </a:prstGeom>
          <a:solidFill>
            <a:srgbClr val="CEE9EA"/>
          </a:solidFill>
          <a:ln w="10160">
            <a:solidFill>
              <a:srgbClr val="FFFFFF"/>
            </a:solidFill>
            <a:prstDash val="solid"/>
          </a:ln>
        </p:spPr>
        <p:txBody>
          <a:bodyPr/>
          <a:lstStyle/>
          <a:p>
            <a:endParaRPr dirty="0"/>
          </a:p>
        </p:txBody>
      </p:sp>
      <p:sp>
        <p:nvSpPr>
          <p:cNvPr id="13" name="Shape 11"/>
          <p:cNvSpPr/>
          <p:nvPr/>
        </p:nvSpPr>
        <p:spPr>
          <a:xfrm>
            <a:off x="667512" y="2578608"/>
            <a:ext cx="164592" cy="164592"/>
          </a:xfrm>
          <a:prstGeom prst="ellipse">
            <a:avLst/>
          </a:prstGeom>
          <a:solidFill>
            <a:srgbClr val="B0D2CF"/>
          </a:solidFill>
          <a:ln w="10160">
            <a:solidFill>
              <a:srgbClr val="FFFFFF"/>
            </a:solidFill>
            <a:prstDash val="solid"/>
          </a:ln>
        </p:spPr>
        <p:txBody>
          <a:bodyPr/>
          <a:lstStyle/>
          <a:p>
            <a:endParaRPr dirty="0"/>
          </a:p>
        </p:txBody>
      </p:sp>
      <p:sp>
        <p:nvSpPr>
          <p:cNvPr id="14" name="Shape 12"/>
          <p:cNvSpPr/>
          <p:nvPr/>
        </p:nvSpPr>
        <p:spPr>
          <a:xfrm>
            <a:off x="649224" y="3118104"/>
            <a:ext cx="164592" cy="164592"/>
          </a:xfrm>
          <a:prstGeom prst="ellipse">
            <a:avLst/>
          </a:prstGeom>
          <a:solidFill>
            <a:srgbClr val="B0D2CF"/>
          </a:solidFill>
          <a:ln w="10160">
            <a:solidFill>
              <a:srgbClr val="FFFFFF"/>
            </a:solidFill>
            <a:prstDash val="solid"/>
          </a:ln>
        </p:spPr>
        <p:txBody>
          <a:bodyPr/>
          <a:lstStyle/>
          <a:p>
            <a:endParaRPr dirty="0"/>
          </a:p>
        </p:txBody>
      </p:sp>
      <p:sp>
        <p:nvSpPr>
          <p:cNvPr id="15" name="Shape 13"/>
          <p:cNvSpPr/>
          <p:nvPr/>
        </p:nvSpPr>
        <p:spPr>
          <a:xfrm>
            <a:off x="1609344" y="3712464"/>
            <a:ext cx="164592" cy="164592"/>
          </a:xfrm>
          <a:prstGeom prst="ellipse">
            <a:avLst/>
          </a:prstGeom>
          <a:solidFill>
            <a:srgbClr val="CEE9EA"/>
          </a:solidFill>
          <a:ln w="10160">
            <a:solidFill>
              <a:srgbClr val="FFFFFF"/>
            </a:solidFill>
            <a:prstDash val="solid"/>
          </a:ln>
        </p:spPr>
        <p:txBody>
          <a:bodyPr/>
          <a:lstStyle/>
          <a:p>
            <a:endParaRPr dirty="0"/>
          </a:p>
        </p:txBody>
      </p:sp>
      <p:sp>
        <p:nvSpPr>
          <p:cNvPr id="16" name="Shape 14"/>
          <p:cNvSpPr/>
          <p:nvPr/>
        </p:nvSpPr>
        <p:spPr>
          <a:xfrm>
            <a:off x="2340864" y="1792224"/>
            <a:ext cx="164592" cy="164592"/>
          </a:xfrm>
          <a:prstGeom prst="ellipse">
            <a:avLst/>
          </a:prstGeom>
          <a:solidFill>
            <a:srgbClr val="B0D2CF"/>
          </a:solidFill>
          <a:ln w="10160">
            <a:solidFill>
              <a:srgbClr val="FFFFFF"/>
            </a:solidFill>
            <a:prstDash val="solid"/>
          </a:ln>
        </p:spPr>
        <p:txBody>
          <a:bodyPr/>
          <a:lstStyle/>
          <a:p>
            <a:endParaRPr dirty="0"/>
          </a:p>
        </p:txBody>
      </p:sp>
      <p:sp>
        <p:nvSpPr>
          <p:cNvPr id="17" name="Shape 15"/>
          <p:cNvSpPr/>
          <p:nvPr/>
        </p:nvSpPr>
        <p:spPr>
          <a:xfrm>
            <a:off x="2843784" y="2752344"/>
            <a:ext cx="164592" cy="164592"/>
          </a:xfrm>
          <a:prstGeom prst="ellipse">
            <a:avLst/>
          </a:prstGeom>
          <a:solidFill>
            <a:srgbClr val="B0D2CF"/>
          </a:solidFill>
          <a:ln w="10160">
            <a:solidFill>
              <a:srgbClr val="FFFFFF"/>
            </a:solidFill>
            <a:prstDash val="solid"/>
          </a:ln>
        </p:spPr>
        <p:txBody>
          <a:bodyPr/>
          <a:lstStyle/>
          <a:p>
            <a:endParaRPr dirty="0"/>
          </a:p>
        </p:txBody>
      </p:sp>
      <p:sp>
        <p:nvSpPr>
          <p:cNvPr id="18" name="Shape 16"/>
          <p:cNvSpPr/>
          <p:nvPr/>
        </p:nvSpPr>
        <p:spPr>
          <a:xfrm>
            <a:off x="1988820" y="4922508"/>
            <a:ext cx="164592" cy="164592"/>
          </a:xfrm>
          <a:prstGeom prst="ellipse">
            <a:avLst/>
          </a:prstGeom>
          <a:solidFill>
            <a:srgbClr val="CEE9EA"/>
          </a:solidFill>
          <a:ln w="10160">
            <a:solidFill>
              <a:srgbClr val="FFFFFF"/>
            </a:solidFill>
            <a:prstDash val="solid"/>
          </a:ln>
        </p:spPr>
        <p:txBody>
          <a:bodyPr/>
          <a:lstStyle/>
          <a:p>
            <a:endParaRPr dirty="0"/>
          </a:p>
        </p:txBody>
      </p:sp>
      <p:sp>
        <p:nvSpPr>
          <p:cNvPr id="19" name="Shape 17"/>
          <p:cNvSpPr/>
          <p:nvPr/>
        </p:nvSpPr>
        <p:spPr>
          <a:xfrm>
            <a:off x="1239263" y="3159252"/>
            <a:ext cx="164592" cy="164592"/>
          </a:xfrm>
          <a:prstGeom prst="ellipse">
            <a:avLst/>
          </a:prstGeom>
          <a:solidFill>
            <a:srgbClr val="B0D2CF"/>
          </a:solidFill>
          <a:ln w="10160">
            <a:solidFill>
              <a:srgbClr val="FFFFFF"/>
            </a:solidFill>
            <a:prstDash val="solid"/>
          </a:ln>
        </p:spPr>
        <p:txBody>
          <a:bodyPr/>
          <a:lstStyle/>
          <a:p>
            <a:endParaRPr dirty="0"/>
          </a:p>
        </p:txBody>
      </p:sp>
      <p:sp>
        <p:nvSpPr>
          <p:cNvPr id="22" name="Shape 20"/>
          <p:cNvSpPr/>
          <p:nvPr/>
        </p:nvSpPr>
        <p:spPr>
          <a:xfrm>
            <a:off x="4553712" y="3921168"/>
            <a:ext cx="1143000" cy="0"/>
          </a:xfrm>
          <a:prstGeom prst="line">
            <a:avLst/>
          </a:prstGeom>
          <a:noFill/>
          <a:ln w="50800">
            <a:solidFill>
              <a:srgbClr val="8BB3B4"/>
            </a:solidFill>
            <a:prstDash val="solid"/>
          </a:ln>
        </p:spPr>
        <p:txBody>
          <a:bodyPr/>
          <a:lstStyle/>
          <a:p>
            <a:endParaRPr dirty="0"/>
          </a:p>
        </p:txBody>
      </p:sp>
      <p:sp>
        <p:nvSpPr>
          <p:cNvPr id="23" name="Text 21"/>
          <p:cNvSpPr/>
          <p:nvPr/>
        </p:nvSpPr>
        <p:spPr>
          <a:xfrm>
            <a:off x="4399772" y="4141830"/>
            <a:ext cx="6920500" cy="401130"/>
          </a:xfrm>
          <a:prstGeom prst="rect">
            <a:avLst/>
          </a:prstGeom>
          <a:noFill/>
          <a:ln/>
        </p:spPr>
        <p:txBody>
          <a:bodyPr wrap="square" lIns="0" tIns="0" rIns="0" bIns="0" rtlCol="0" anchor="ctr"/>
          <a:lstStyle/>
          <a:p>
            <a:r>
              <a:rPr lang="en-US" sz="1500" dirty="0">
                <a:solidFill>
                  <a:srgbClr val="1F2A33"/>
                </a:solidFill>
                <a:latin typeface="Aptos" pitchFamily="34" charset="0"/>
                <a:ea typeface="Aptos" pitchFamily="34" charset="-122"/>
                <a:cs typeface="Aptos" pitchFamily="34" charset="-120"/>
              </a:rPr>
              <a:t>Gizem KARYAĞDI  • </a:t>
            </a:r>
            <a:r>
              <a:rPr lang="tr-TR" sz="1400" dirty="0" err="1"/>
              <a:t>Assist</a:t>
            </a:r>
            <a:r>
              <a:rPr lang="tr-TR" sz="1400" dirty="0"/>
              <a:t>. Prof. Dr. </a:t>
            </a:r>
            <a:r>
              <a:rPr lang="en-US" sz="1500" dirty="0" err="1">
                <a:solidFill>
                  <a:srgbClr val="1F2A33"/>
                </a:solidFill>
                <a:latin typeface="Aptos" pitchFamily="34" charset="0"/>
                <a:ea typeface="Aptos" pitchFamily="34" charset="-122"/>
                <a:cs typeface="Aptos" pitchFamily="34" charset="-120"/>
              </a:rPr>
              <a:t>İlker</a:t>
            </a:r>
            <a:r>
              <a:rPr lang="en-US" sz="1500" dirty="0">
                <a:solidFill>
                  <a:srgbClr val="1F2A33"/>
                </a:solidFill>
                <a:latin typeface="Aptos" pitchFamily="34" charset="0"/>
                <a:ea typeface="Aptos" pitchFamily="34" charset="-122"/>
                <a:cs typeface="Aptos" pitchFamily="34" charset="-120"/>
              </a:rPr>
              <a:t> ÖZÇELİK • </a:t>
            </a:r>
            <a:r>
              <a:rPr lang="tr-TR" sz="1400" dirty="0" err="1"/>
              <a:t>Assoc</a:t>
            </a:r>
            <a:r>
              <a:rPr lang="tr-TR" sz="1400" dirty="0"/>
              <a:t>. Prof. Dr. </a:t>
            </a:r>
            <a:r>
              <a:rPr lang="en-US" sz="1500" dirty="0">
                <a:solidFill>
                  <a:srgbClr val="1F2A33"/>
                </a:solidFill>
                <a:latin typeface="Aptos" pitchFamily="34" charset="0"/>
                <a:ea typeface="Aptos" pitchFamily="34" charset="-122"/>
                <a:cs typeface="Aptos" pitchFamily="34" charset="-120"/>
              </a:rPr>
              <a:t>Elis SOYLU YILMAZ</a:t>
            </a:r>
            <a:endParaRPr lang="en-US" sz="1500" dirty="0"/>
          </a:p>
        </p:txBody>
      </p:sp>
      <p:sp>
        <p:nvSpPr>
          <p:cNvPr id="27"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1</a:t>
            </a:fld>
            <a:endParaRPr lang="en-US"/>
          </a:p>
        </p:txBody>
      </p:sp>
      <p:sp>
        <p:nvSpPr>
          <p:cNvPr id="28" name="Shape 14">
            <a:extLst>
              <a:ext uri="{FF2B5EF4-FFF2-40B4-BE49-F238E27FC236}">
                <a16:creationId xmlns:a16="http://schemas.microsoft.com/office/drawing/2014/main" id="{FAA93ED9-9BC7-FA75-925B-D3FE8C01B2B1}"/>
              </a:ext>
            </a:extLst>
          </p:cNvPr>
          <p:cNvSpPr/>
          <p:nvPr/>
        </p:nvSpPr>
        <p:spPr>
          <a:xfrm>
            <a:off x="1239263" y="2114349"/>
            <a:ext cx="164592" cy="164592"/>
          </a:xfrm>
          <a:prstGeom prst="ellipse">
            <a:avLst/>
          </a:prstGeom>
          <a:solidFill>
            <a:srgbClr val="B0D2CF"/>
          </a:solidFill>
          <a:ln w="10160">
            <a:solidFill>
              <a:srgbClr val="FFFFFF"/>
            </a:solidFill>
            <a:prstDash val="solid"/>
          </a:ln>
        </p:spPr>
        <p:txBody>
          <a:bodyPr/>
          <a:lstStyle/>
          <a:p>
            <a:endParaRPr/>
          </a:p>
        </p:txBody>
      </p:sp>
      <p:sp>
        <p:nvSpPr>
          <p:cNvPr id="29" name="Shape 13">
            <a:extLst>
              <a:ext uri="{FF2B5EF4-FFF2-40B4-BE49-F238E27FC236}">
                <a16:creationId xmlns:a16="http://schemas.microsoft.com/office/drawing/2014/main" id="{8879DC85-83FD-8EA8-A92F-E187AE01D480}"/>
              </a:ext>
            </a:extLst>
          </p:cNvPr>
          <p:cNvSpPr/>
          <p:nvPr/>
        </p:nvSpPr>
        <p:spPr>
          <a:xfrm>
            <a:off x="3083036" y="4389120"/>
            <a:ext cx="164592" cy="164592"/>
          </a:xfrm>
          <a:prstGeom prst="ellipse">
            <a:avLst/>
          </a:prstGeom>
          <a:solidFill>
            <a:srgbClr val="CEE9EA"/>
          </a:solidFill>
          <a:ln w="10160">
            <a:solidFill>
              <a:srgbClr val="FFFFFF"/>
            </a:solidFill>
            <a:prstDash val="solid"/>
          </a:ln>
        </p:spPr>
        <p:txBody>
          <a:bodyPr/>
          <a:lstStyle/>
          <a:p>
            <a:endParaRPr/>
          </a:p>
        </p:txBody>
      </p:sp>
      <p:sp>
        <p:nvSpPr>
          <p:cNvPr id="30" name="Shape 13">
            <a:extLst>
              <a:ext uri="{FF2B5EF4-FFF2-40B4-BE49-F238E27FC236}">
                <a16:creationId xmlns:a16="http://schemas.microsoft.com/office/drawing/2014/main" id="{74894782-BEBD-512E-9329-063E6D33CE72}"/>
              </a:ext>
            </a:extLst>
          </p:cNvPr>
          <p:cNvSpPr/>
          <p:nvPr/>
        </p:nvSpPr>
        <p:spPr>
          <a:xfrm>
            <a:off x="948822" y="4861352"/>
            <a:ext cx="164592" cy="164592"/>
          </a:xfrm>
          <a:prstGeom prst="ellipse">
            <a:avLst/>
          </a:prstGeom>
          <a:solidFill>
            <a:srgbClr val="CEE9EA"/>
          </a:solidFill>
          <a:ln w="10160">
            <a:solidFill>
              <a:srgbClr val="FFFFFF"/>
            </a:solidFill>
            <a:prstDash val="solid"/>
          </a:ln>
        </p:spPr>
        <p:txBody>
          <a:bodyPr/>
          <a:lstStyle/>
          <a:p>
            <a:endParaRPr/>
          </a:p>
        </p:txBody>
      </p:sp>
      <p:sp>
        <p:nvSpPr>
          <p:cNvPr id="31" name="Shape 13">
            <a:extLst>
              <a:ext uri="{FF2B5EF4-FFF2-40B4-BE49-F238E27FC236}">
                <a16:creationId xmlns:a16="http://schemas.microsoft.com/office/drawing/2014/main" id="{B44F5203-7E14-8344-F8B9-52AF50579D83}"/>
              </a:ext>
            </a:extLst>
          </p:cNvPr>
          <p:cNvSpPr/>
          <p:nvPr/>
        </p:nvSpPr>
        <p:spPr>
          <a:xfrm>
            <a:off x="2750184" y="4088122"/>
            <a:ext cx="164592" cy="164592"/>
          </a:xfrm>
          <a:prstGeom prst="ellipse">
            <a:avLst/>
          </a:prstGeom>
          <a:solidFill>
            <a:srgbClr val="CEE9EA"/>
          </a:solidFill>
          <a:ln w="10160">
            <a:solidFill>
              <a:srgbClr val="FFFFFF"/>
            </a:solidFill>
            <a:prstDash val="solid"/>
          </a:ln>
        </p:spPr>
        <p:txBody>
          <a:bodyPr/>
          <a:lstStyle/>
          <a:p>
            <a:endParaRPr/>
          </a:p>
        </p:txBody>
      </p:sp>
      <p:sp>
        <p:nvSpPr>
          <p:cNvPr id="24" name="Text 19">
            <a:extLst>
              <a:ext uri="{FF2B5EF4-FFF2-40B4-BE49-F238E27FC236}">
                <a16:creationId xmlns:a16="http://schemas.microsoft.com/office/drawing/2014/main" id="{E1EAD319-724A-F9DF-3658-1A5275AF9C02}"/>
              </a:ext>
            </a:extLst>
          </p:cNvPr>
          <p:cNvSpPr/>
          <p:nvPr/>
        </p:nvSpPr>
        <p:spPr>
          <a:xfrm>
            <a:off x="4526280" y="1261872"/>
            <a:ext cx="6903720" cy="2240280"/>
          </a:xfrm>
          <a:prstGeom prst="rect">
            <a:avLst/>
          </a:prstGeom>
          <a:noFill/>
          <a:ln/>
        </p:spPr>
        <p:txBody>
          <a:bodyPr wrap="square" lIns="0" tIns="0" rIns="0" bIns="0" rtlCol="0" anchor="ctr">
            <a:normAutofit/>
          </a:bodyPr>
          <a:lstStyle/>
          <a:p>
            <a:pPr marL="0" indent="0">
              <a:buNone/>
            </a:pPr>
            <a:r>
              <a:rPr sz="4000" b="1" dirty="0">
                <a:solidFill>
                  <a:srgbClr val="445C6D"/>
                </a:solidFill>
                <a:latin typeface="Aptos Display"/>
              </a:rPr>
              <a:t>Vulnerability of Heterogeneous</a:t>
            </a:r>
            <a:endParaRPr lang="en-US" sz="2800" dirty="0"/>
          </a:p>
          <a:p>
            <a:r>
              <a:rPr sz="4000" b="1" dirty="0">
                <a:solidFill>
                  <a:srgbClr val="445C6D"/>
                </a:solidFill>
                <a:latin typeface="Aptos Display"/>
              </a:rPr>
              <a:t>Graph Learning Models to</a:t>
            </a:r>
          </a:p>
          <a:p>
            <a:r>
              <a:rPr sz="4000" b="1" dirty="0">
                <a:solidFill>
                  <a:srgbClr val="445C6D"/>
                </a:solidFill>
                <a:latin typeface="Aptos Display"/>
              </a:rPr>
              <a:t>White-Box Feature Attacks</a:t>
            </a:r>
          </a:p>
        </p:txBody>
      </p:sp>
      <p:pic>
        <p:nvPicPr>
          <p:cNvPr id="20" name="Grafik 19">
            <a:extLst>
              <a:ext uri="{FF2B5EF4-FFF2-40B4-BE49-F238E27FC236}">
                <a16:creationId xmlns:a16="http://schemas.microsoft.com/office/drawing/2014/main" id="{E2AF4065-91E8-A53B-DF4C-235E7819D8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9842" y="4170418"/>
            <a:ext cx="2880360" cy="2880360"/>
          </a:xfrm>
          <a:prstGeom prst="rect">
            <a:avLst/>
          </a:prstGeom>
        </p:spPr>
      </p:pic>
      <p:pic>
        <p:nvPicPr>
          <p:cNvPr id="26" name="Grafik 25">
            <a:extLst>
              <a:ext uri="{FF2B5EF4-FFF2-40B4-BE49-F238E27FC236}">
                <a16:creationId xmlns:a16="http://schemas.microsoft.com/office/drawing/2014/main" id="{C73A0884-E8C7-BC47-3224-7B0C2A0E62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36516" y="182880"/>
            <a:ext cx="1586968" cy="1269981"/>
          </a:xfrm>
          <a:prstGeom prst="rect">
            <a:avLst/>
          </a:prstGeom>
        </p:spPr>
      </p:pic>
      <p:pic>
        <p:nvPicPr>
          <p:cNvPr id="33" name="Resim 32">
            <a:extLst>
              <a:ext uri="{FF2B5EF4-FFF2-40B4-BE49-F238E27FC236}">
                <a16:creationId xmlns:a16="http://schemas.microsoft.com/office/drawing/2014/main" id="{52A23D83-F78B-BAAD-F281-DD2B73F89F70}"/>
              </a:ext>
            </a:extLst>
          </p:cNvPr>
          <p:cNvPicPr>
            <a:picLocks noChangeAspect="1"/>
          </p:cNvPicPr>
          <p:nvPr/>
        </p:nvPicPr>
        <p:blipFill>
          <a:blip r:embed="rId7"/>
          <a:stretch>
            <a:fillRect/>
          </a:stretch>
        </p:blipFill>
        <p:spPr>
          <a:xfrm>
            <a:off x="4057513" y="184720"/>
            <a:ext cx="1113795" cy="11137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2" name="Shape 6">
            <a:extLst>
              <a:ext uri="{FF2B5EF4-FFF2-40B4-BE49-F238E27FC236}">
                <a16:creationId xmlns:a16="http://schemas.microsoft.com/office/drawing/2014/main" id="{F0D988E6-362A-EBBA-FFC5-E9BD2207739A}"/>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
        <p:nvSpPr>
          <p:cNvPr id="3" name="Text 1"/>
          <p:cNvSpPr/>
          <p:nvPr/>
        </p:nvSpPr>
        <p:spPr>
          <a:xfrm>
            <a:off x="530352" y="621792"/>
            <a:ext cx="10972800" cy="530352"/>
          </a:xfrm>
          <a:prstGeom prst="rect">
            <a:avLst/>
          </a:prstGeom>
          <a:noFill/>
          <a:ln/>
        </p:spPr>
        <p:txBody>
          <a:bodyPr wrap="square" lIns="0" tIns="0" rIns="0" bIns="0" rtlCol="0" anchor="ctr"/>
          <a:lstStyle/>
          <a:p>
            <a:r>
              <a:rPr lang="tr-TR" sz="2800" b="1" dirty="0" err="1">
                <a:solidFill>
                  <a:srgbClr val="445C6D"/>
                </a:solidFill>
                <a:latin typeface="Aptos Display"/>
              </a:rPr>
              <a:t>Motivation</a:t>
            </a:r>
            <a:r>
              <a:rPr lang="tr-TR" sz="2800" b="1" dirty="0">
                <a:solidFill>
                  <a:srgbClr val="445C6D"/>
                </a:solidFill>
                <a:latin typeface="Aptos Display"/>
              </a:rPr>
              <a:t>, </a:t>
            </a:r>
            <a:r>
              <a:rPr lang="tr-TR" sz="2800" b="1" dirty="0" err="1">
                <a:solidFill>
                  <a:srgbClr val="445C6D"/>
                </a:solidFill>
                <a:latin typeface="Aptos Display"/>
              </a:rPr>
              <a:t>Research</a:t>
            </a:r>
            <a:r>
              <a:rPr lang="tr-TR" sz="2800" b="1" dirty="0">
                <a:solidFill>
                  <a:srgbClr val="445C6D"/>
                </a:solidFill>
                <a:latin typeface="Aptos Display"/>
              </a:rPr>
              <a:t> </a:t>
            </a:r>
            <a:r>
              <a:rPr lang="tr-TR" sz="2800" b="1" dirty="0" err="1">
                <a:solidFill>
                  <a:srgbClr val="445C6D"/>
                </a:solidFill>
                <a:latin typeface="Aptos Display"/>
              </a:rPr>
              <a:t>Gap</a:t>
            </a:r>
            <a:r>
              <a:rPr lang="tr-TR" sz="2800" b="1" dirty="0">
                <a:solidFill>
                  <a:srgbClr val="445C6D"/>
                </a:solidFill>
                <a:latin typeface="Aptos Display"/>
              </a:rPr>
              <a:t>, </a:t>
            </a:r>
            <a:r>
              <a:rPr lang="tr-TR" sz="2800" b="1" dirty="0" err="1">
                <a:solidFill>
                  <a:srgbClr val="445C6D"/>
                </a:solidFill>
                <a:latin typeface="Aptos Display"/>
              </a:rPr>
              <a:t>and</a:t>
            </a:r>
            <a:r>
              <a:rPr lang="tr-TR" sz="2800" b="1" dirty="0">
                <a:solidFill>
                  <a:srgbClr val="445C6D"/>
                </a:solidFill>
                <a:latin typeface="Aptos Display"/>
              </a:rPr>
              <a:t> </a:t>
            </a:r>
            <a:r>
              <a:rPr lang="tr-TR" sz="2800" b="1" dirty="0" err="1">
                <a:solidFill>
                  <a:srgbClr val="445C6D"/>
                </a:solidFill>
                <a:latin typeface="Aptos Display"/>
              </a:rPr>
              <a:t>Study</a:t>
            </a:r>
            <a:r>
              <a:rPr lang="tr-TR" sz="2800" b="1" dirty="0">
                <a:solidFill>
                  <a:srgbClr val="445C6D"/>
                </a:solidFill>
                <a:latin typeface="Aptos Display"/>
              </a:rPr>
              <a:t> </a:t>
            </a:r>
            <a:r>
              <a:rPr lang="tr-TR" sz="2800" b="1" dirty="0" err="1">
                <a:solidFill>
                  <a:srgbClr val="445C6D"/>
                </a:solidFill>
                <a:latin typeface="Aptos Display"/>
              </a:rPr>
              <a:t>Objective</a:t>
            </a:r>
            <a:endParaRPr lang="tr-TR" sz="2800" dirty="0"/>
          </a:p>
        </p:txBody>
      </p:sp>
      <p:sp>
        <p:nvSpPr>
          <p:cNvPr id="4" name="Text 2"/>
          <p:cNvSpPr/>
          <p:nvPr/>
        </p:nvSpPr>
        <p:spPr>
          <a:xfrm>
            <a:off x="566928" y="1298448"/>
            <a:ext cx="10972800" cy="493776"/>
          </a:xfrm>
          <a:prstGeom prst="rect">
            <a:avLst/>
          </a:prstGeom>
          <a:noFill/>
          <a:ln/>
        </p:spPr>
        <p:txBody>
          <a:bodyPr wrap="square" lIns="0" tIns="0" rIns="0" bIns="0" rtlCol="0" anchor="ctr">
            <a:normAutofit/>
          </a:bodyPr>
          <a:lstStyle/>
          <a:p>
            <a:r>
              <a:rPr lang="tr-TR" sz="1600" dirty="0"/>
              <a:t>“</a:t>
            </a:r>
            <a:r>
              <a:rPr lang="tr-TR" sz="1600" dirty="0" err="1"/>
              <a:t>While</a:t>
            </a:r>
            <a:r>
              <a:rPr lang="tr-TR" sz="1600" dirty="0"/>
              <a:t> </a:t>
            </a:r>
            <a:r>
              <a:rPr lang="tr-TR" sz="1600" dirty="0" err="1"/>
              <a:t>GNNs</a:t>
            </a:r>
            <a:r>
              <a:rPr lang="tr-TR" sz="1600" dirty="0"/>
              <a:t> </a:t>
            </a:r>
            <a:r>
              <a:rPr lang="tr-TR" sz="1600" dirty="0" err="1"/>
              <a:t>combine</a:t>
            </a:r>
            <a:r>
              <a:rPr lang="tr-TR" sz="1600" dirty="0"/>
              <a:t> </a:t>
            </a:r>
            <a:r>
              <a:rPr lang="tr-TR" sz="1600" dirty="0" err="1"/>
              <a:t>node</a:t>
            </a:r>
            <a:r>
              <a:rPr lang="tr-TR" sz="1600" dirty="0"/>
              <a:t> </a:t>
            </a:r>
            <a:r>
              <a:rPr lang="tr-TR" sz="1600" dirty="0" err="1"/>
              <a:t>attributes</a:t>
            </a:r>
            <a:r>
              <a:rPr lang="tr-TR" sz="1600" dirty="0"/>
              <a:t> </a:t>
            </a:r>
            <a:r>
              <a:rPr lang="tr-TR" sz="1600" dirty="0" err="1"/>
              <a:t>with</a:t>
            </a:r>
            <a:r>
              <a:rPr lang="tr-TR" sz="1600" dirty="0"/>
              <a:t> </a:t>
            </a:r>
            <a:r>
              <a:rPr lang="tr-TR" sz="1600" dirty="0" err="1"/>
              <a:t>relational</a:t>
            </a:r>
            <a:r>
              <a:rPr lang="tr-TR" sz="1600" dirty="0"/>
              <a:t> </a:t>
            </a:r>
            <a:r>
              <a:rPr lang="tr-TR" sz="1600" dirty="0" err="1"/>
              <a:t>information</a:t>
            </a:r>
            <a:r>
              <a:rPr lang="tr-TR" sz="1600" dirty="0"/>
              <a:t> </a:t>
            </a:r>
            <a:r>
              <a:rPr lang="tr-TR" sz="1600" dirty="0" err="1"/>
              <a:t>to</a:t>
            </a:r>
            <a:r>
              <a:rPr lang="tr-TR" sz="1600" dirty="0"/>
              <a:t> </a:t>
            </a:r>
            <a:r>
              <a:rPr lang="tr-TR" sz="1600" dirty="0" err="1"/>
              <a:t>learn</a:t>
            </a:r>
            <a:r>
              <a:rPr lang="tr-TR" sz="1600" dirty="0"/>
              <a:t> </a:t>
            </a:r>
            <a:r>
              <a:rPr lang="tr-TR" sz="1600" dirty="0" err="1"/>
              <a:t>powerful</a:t>
            </a:r>
            <a:r>
              <a:rPr lang="tr-TR" sz="1600" dirty="0"/>
              <a:t> </a:t>
            </a:r>
            <a:r>
              <a:rPr lang="tr-TR" sz="1600" dirty="0" err="1"/>
              <a:t>representations</a:t>
            </a:r>
            <a:r>
              <a:rPr lang="tr-TR" sz="1600" dirty="0"/>
              <a:t>, </a:t>
            </a:r>
            <a:r>
              <a:rPr lang="tr-TR" sz="1600" dirty="0" err="1"/>
              <a:t>their</a:t>
            </a:r>
            <a:r>
              <a:rPr lang="tr-TR" sz="1600" dirty="0"/>
              <a:t> </a:t>
            </a:r>
            <a:r>
              <a:rPr lang="tr-TR" sz="1600" dirty="0" err="1"/>
              <a:t>robustness</a:t>
            </a:r>
            <a:r>
              <a:rPr lang="tr-TR" sz="1600" dirty="0"/>
              <a:t> </a:t>
            </a:r>
            <a:r>
              <a:rPr lang="tr-TR" sz="1600" dirty="0" err="1"/>
              <a:t>against</a:t>
            </a:r>
            <a:r>
              <a:rPr lang="tr-TR" sz="1600" dirty="0"/>
              <a:t> </a:t>
            </a:r>
            <a:r>
              <a:rPr lang="tr-TR" sz="1600" dirty="0" err="1"/>
              <a:t>adversarial</a:t>
            </a:r>
            <a:r>
              <a:rPr lang="tr-TR" sz="1600" dirty="0"/>
              <a:t> </a:t>
            </a:r>
            <a:r>
              <a:rPr lang="tr-TR" sz="1600" dirty="0" err="1"/>
              <a:t>attacks</a:t>
            </a:r>
            <a:r>
              <a:rPr lang="tr-TR" sz="1600" dirty="0"/>
              <a:t> </a:t>
            </a:r>
            <a:r>
              <a:rPr lang="tr-TR" sz="1600" dirty="0" err="1"/>
              <a:t>becomes</a:t>
            </a:r>
            <a:r>
              <a:rPr lang="tr-TR" sz="1600" dirty="0"/>
              <a:t> an </a:t>
            </a:r>
            <a:r>
              <a:rPr lang="tr-TR" sz="1600" dirty="0" err="1"/>
              <a:t>important</a:t>
            </a:r>
            <a:r>
              <a:rPr lang="tr-TR" sz="1600" dirty="0"/>
              <a:t> </a:t>
            </a:r>
            <a:r>
              <a:rPr lang="tr-TR" sz="1600" dirty="0" err="1"/>
              <a:t>research</a:t>
            </a:r>
            <a:r>
              <a:rPr lang="tr-TR" sz="1600" dirty="0"/>
              <a:t> </a:t>
            </a:r>
            <a:r>
              <a:rPr lang="tr-TR" sz="1600" dirty="0" err="1"/>
              <a:t>question</a:t>
            </a:r>
            <a:r>
              <a:rPr lang="tr-TR" sz="1600" dirty="0"/>
              <a:t>.”</a:t>
            </a:r>
            <a:endParaRPr lang="tr-TR" sz="1720" dirty="0"/>
          </a:p>
        </p:txBody>
      </p:sp>
      <p:sp>
        <p:nvSpPr>
          <p:cNvPr id="5" name="Shape 3"/>
          <p:cNvSpPr/>
          <p:nvPr/>
        </p:nvSpPr>
        <p:spPr>
          <a:xfrm>
            <a:off x="566928" y="1993391"/>
            <a:ext cx="3456432" cy="3185277"/>
          </a:xfrm>
          <a:prstGeom prst="roundRect">
            <a:avLst>
              <a:gd name="adj" fmla="val 2941"/>
            </a:avLst>
          </a:prstGeom>
          <a:solidFill>
            <a:srgbClr val="FFFFFF"/>
          </a:solidFill>
          <a:ln w="12700">
            <a:solidFill>
              <a:srgbClr val="D9E3E4"/>
            </a:solidFill>
            <a:prstDash val="solid"/>
          </a:ln>
        </p:spPr>
        <p:txBody>
          <a:bodyPr/>
          <a:lstStyle/>
          <a:p>
            <a:endParaRPr/>
          </a:p>
        </p:txBody>
      </p:sp>
      <p:sp>
        <p:nvSpPr>
          <p:cNvPr id="6" name="Text 4"/>
          <p:cNvSpPr/>
          <p:nvPr/>
        </p:nvSpPr>
        <p:spPr>
          <a:xfrm>
            <a:off x="731520" y="2139696"/>
            <a:ext cx="3127248" cy="256032"/>
          </a:xfrm>
          <a:prstGeom prst="rect">
            <a:avLst/>
          </a:prstGeom>
          <a:noFill/>
          <a:ln/>
        </p:spPr>
        <p:txBody>
          <a:bodyPr wrap="square" lIns="0" tIns="0" rIns="0" bIns="0" rtlCol="0" anchor="ctr"/>
          <a:lstStyle/>
          <a:p>
            <a:r>
              <a:rPr lang="tr-TR" sz="1420" b="1" dirty="0" err="1">
                <a:solidFill>
                  <a:srgbClr val="445C6D"/>
                </a:solidFill>
                <a:latin typeface="Aptos Display"/>
              </a:rPr>
              <a:t>Why</a:t>
            </a:r>
            <a:r>
              <a:rPr lang="tr-TR" sz="1420" b="1" dirty="0">
                <a:solidFill>
                  <a:srgbClr val="445C6D"/>
                </a:solidFill>
                <a:latin typeface="Aptos Display"/>
              </a:rPr>
              <a:t> </a:t>
            </a:r>
            <a:r>
              <a:rPr lang="tr-TR" sz="1420" b="1" dirty="0" err="1">
                <a:solidFill>
                  <a:srgbClr val="445C6D"/>
                </a:solidFill>
                <a:latin typeface="Aptos Display"/>
              </a:rPr>
              <a:t>GNNs</a:t>
            </a:r>
            <a:r>
              <a:rPr lang="tr-TR" sz="1420" b="1" dirty="0">
                <a:solidFill>
                  <a:srgbClr val="445C6D"/>
                </a:solidFill>
                <a:latin typeface="Aptos Display"/>
              </a:rPr>
              <a:t>?</a:t>
            </a:r>
            <a:endParaRPr lang="tr-TR" sz="1420" dirty="0"/>
          </a:p>
        </p:txBody>
      </p:sp>
      <p:sp>
        <p:nvSpPr>
          <p:cNvPr id="7" name="Text 5"/>
          <p:cNvSpPr/>
          <p:nvPr/>
        </p:nvSpPr>
        <p:spPr>
          <a:xfrm>
            <a:off x="731520" y="2468880"/>
            <a:ext cx="3127248" cy="1572768"/>
          </a:xfrm>
          <a:prstGeom prst="rect">
            <a:avLst/>
          </a:prstGeom>
          <a:noFill/>
          <a:ln/>
        </p:spPr>
        <p:txBody>
          <a:bodyPr wrap="square" lIns="254" tIns="254" rIns="254" bIns="254" rtlCol="0" anchor="t"/>
          <a:lstStyle/>
          <a:p>
            <a:r>
              <a:rPr lang="tr-TR" sz="1400" dirty="0">
                <a:solidFill>
                  <a:srgbClr val="1F2A33"/>
                </a:solidFill>
              </a:rPr>
              <a:t>They </a:t>
            </a:r>
            <a:r>
              <a:rPr lang="tr-TR" sz="1400" dirty="0" err="1">
                <a:solidFill>
                  <a:srgbClr val="1F2A33"/>
                </a:solidFill>
              </a:rPr>
              <a:t>jointly</a:t>
            </a:r>
            <a:r>
              <a:rPr lang="tr-TR" sz="1400" dirty="0">
                <a:solidFill>
                  <a:srgbClr val="1F2A33"/>
                </a:solidFill>
              </a:rPr>
              <a:t> </a:t>
            </a:r>
            <a:r>
              <a:rPr lang="tr-TR" sz="1400" dirty="0" err="1">
                <a:solidFill>
                  <a:srgbClr val="1F2A33"/>
                </a:solidFill>
              </a:rPr>
              <a:t>learn</a:t>
            </a:r>
            <a:r>
              <a:rPr lang="tr-TR" sz="1400" dirty="0">
                <a:solidFill>
                  <a:srgbClr val="1F2A33"/>
                </a:solidFill>
              </a:rPr>
              <a:t> </a:t>
            </a:r>
            <a:r>
              <a:rPr lang="tr-TR" sz="1400" dirty="0" err="1">
                <a:solidFill>
                  <a:srgbClr val="1F2A33"/>
                </a:solidFill>
              </a:rPr>
              <a:t>node-level</a:t>
            </a:r>
            <a:r>
              <a:rPr lang="tr-TR" sz="1400" dirty="0">
                <a:solidFill>
                  <a:srgbClr val="1F2A33"/>
                </a:solidFill>
              </a:rPr>
              <a:t> </a:t>
            </a:r>
            <a:r>
              <a:rPr lang="tr-TR" sz="1400" dirty="0" err="1">
                <a:solidFill>
                  <a:srgbClr val="1F2A33"/>
                </a:solidFill>
              </a:rPr>
              <a:t>attributes</a:t>
            </a:r>
            <a:r>
              <a:rPr lang="tr-TR" sz="1400" dirty="0">
                <a:solidFill>
                  <a:srgbClr val="1F2A33"/>
                </a:solidFill>
              </a:rPr>
              <a:t> </a:t>
            </a:r>
            <a:r>
              <a:rPr lang="tr-TR" sz="1400" dirty="0" err="1">
                <a:solidFill>
                  <a:srgbClr val="1F2A33"/>
                </a:solidFill>
              </a:rPr>
              <a:t>and</a:t>
            </a:r>
            <a:r>
              <a:rPr lang="tr-TR" sz="1400" dirty="0">
                <a:solidFill>
                  <a:srgbClr val="1F2A33"/>
                </a:solidFill>
              </a:rPr>
              <a:t> </a:t>
            </a:r>
            <a:r>
              <a:rPr lang="tr-TR" sz="1400" dirty="0" err="1">
                <a:solidFill>
                  <a:srgbClr val="1F2A33"/>
                </a:solidFill>
              </a:rPr>
              <a:t>inter-entity</a:t>
            </a:r>
            <a:r>
              <a:rPr lang="tr-TR" sz="1400" dirty="0">
                <a:solidFill>
                  <a:srgbClr val="1F2A33"/>
                </a:solidFill>
              </a:rPr>
              <a:t> </a:t>
            </a:r>
            <a:r>
              <a:rPr lang="tr-TR" sz="1400" dirty="0" err="1">
                <a:solidFill>
                  <a:srgbClr val="1F2A33"/>
                </a:solidFill>
              </a:rPr>
              <a:t>dependencies</a:t>
            </a:r>
            <a:r>
              <a:rPr lang="tr-TR" sz="1400" dirty="0">
                <a:solidFill>
                  <a:srgbClr val="1F2A33"/>
                </a:solidFill>
              </a:rPr>
              <a:t>; </a:t>
            </a:r>
            <a:r>
              <a:rPr lang="tr-TR" sz="1400" dirty="0" err="1">
                <a:solidFill>
                  <a:srgbClr val="1F2A33"/>
                </a:solidFill>
              </a:rPr>
              <a:t>therefore</a:t>
            </a:r>
            <a:r>
              <a:rPr lang="tr-TR" sz="1400" dirty="0">
                <a:solidFill>
                  <a:srgbClr val="1F2A33"/>
                </a:solidFill>
              </a:rPr>
              <a:t>, they </a:t>
            </a:r>
            <a:r>
              <a:rPr lang="tr-TR" sz="1400" dirty="0" err="1">
                <a:solidFill>
                  <a:srgbClr val="1F2A33"/>
                </a:solidFill>
              </a:rPr>
              <a:t>are</a:t>
            </a:r>
            <a:r>
              <a:rPr lang="tr-TR" sz="1400" dirty="0">
                <a:solidFill>
                  <a:srgbClr val="1F2A33"/>
                </a:solidFill>
              </a:rPr>
              <a:t> </a:t>
            </a:r>
            <a:r>
              <a:rPr lang="tr-TR" sz="1400" dirty="0" err="1">
                <a:solidFill>
                  <a:srgbClr val="1F2A33"/>
                </a:solidFill>
              </a:rPr>
              <a:t>suitable</a:t>
            </a:r>
            <a:r>
              <a:rPr lang="tr-TR" sz="1400" dirty="0">
                <a:solidFill>
                  <a:srgbClr val="1F2A33"/>
                </a:solidFill>
              </a:rPr>
              <a:t> </a:t>
            </a:r>
            <a:r>
              <a:rPr lang="tr-TR" sz="1400" dirty="0" err="1">
                <a:solidFill>
                  <a:srgbClr val="1F2A33"/>
                </a:solidFill>
              </a:rPr>
              <a:t>for</a:t>
            </a:r>
            <a:r>
              <a:rPr lang="tr-TR" sz="1400" dirty="0">
                <a:solidFill>
                  <a:srgbClr val="1F2A33"/>
                </a:solidFill>
              </a:rPr>
              <a:t> </a:t>
            </a:r>
            <a:r>
              <a:rPr lang="tr-TR" sz="1400" dirty="0" err="1">
                <a:solidFill>
                  <a:srgbClr val="1F2A33"/>
                </a:solidFill>
              </a:rPr>
              <a:t>relational</a:t>
            </a:r>
            <a:r>
              <a:rPr lang="tr-TR" sz="1400" dirty="0">
                <a:solidFill>
                  <a:srgbClr val="1F2A33"/>
                </a:solidFill>
              </a:rPr>
              <a:t> </a:t>
            </a:r>
            <a:r>
              <a:rPr lang="tr-TR" sz="1400" dirty="0" err="1">
                <a:solidFill>
                  <a:srgbClr val="1F2A33"/>
                </a:solidFill>
              </a:rPr>
              <a:t>analysis</a:t>
            </a:r>
            <a:r>
              <a:rPr lang="tr-TR" sz="1400" dirty="0">
                <a:solidFill>
                  <a:srgbClr val="1F2A33"/>
                </a:solidFill>
              </a:rPr>
              <a:t> of </a:t>
            </a:r>
            <a:r>
              <a:rPr lang="tr-TR" sz="1400" dirty="0" err="1">
                <a:solidFill>
                  <a:srgbClr val="1F2A33"/>
                </a:solidFill>
              </a:rPr>
              <a:t>interacting</a:t>
            </a:r>
            <a:r>
              <a:rPr lang="tr-TR" sz="1400" dirty="0">
                <a:solidFill>
                  <a:srgbClr val="1F2A33"/>
                </a:solidFill>
              </a:rPr>
              <a:t> data </a:t>
            </a:r>
            <a:r>
              <a:rPr lang="tr-TR" sz="1400" dirty="0" err="1">
                <a:solidFill>
                  <a:srgbClr val="1F2A33"/>
                </a:solidFill>
              </a:rPr>
              <a:t>instances</a:t>
            </a:r>
            <a:r>
              <a:rPr lang="tr-TR" sz="1400" dirty="0">
                <a:solidFill>
                  <a:srgbClr val="1F2A33"/>
                </a:solidFill>
              </a:rPr>
              <a:t>.</a:t>
            </a:r>
            <a:endParaRPr lang="tr-TR" sz="1200" dirty="0"/>
          </a:p>
        </p:txBody>
      </p:sp>
      <p:sp>
        <p:nvSpPr>
          <p:cNvPr id="8" name="Shape 6"/>
          <p:cNvSpPr/>
          <p:nvPr/>
        </p:nvSpPr>
        <p:spPr>
          <a:xfrm>
            <a:off x="4352544" y="1993392"/>
            <a:ext cx="3456432" cy="3185276"/>
          </a:xfrm>
          <a:prstGeom prst="roundRect">
            <a:avLst>
              <a:gd name="adj" fmla="val 2941"/>
            </a:avLst>
          </a:prstGeom>
          <a:solidFill>
            <a:srgbClr val="FFFFFF"/>
          </a:solidFill>
          <a:ln w="12700">
            <a:solidFill>
              <a:srgbClr val="D9E3E4"/>
            </a:solidFill>
            <a:prstDash val="solid"/>
          </a:ln>
        </p:spPr>
        <p:txBody>
          <a:bodyPr/>
          <a:lstStyle/>
          <a:p>
            <a:endParaRPr/>
          </a:p>
        </p:txBody>
      </p:sp>
      <p:sp>
        <p:nvSpPr>
          <p:cNvPr id="9" name="Text 7"/>
          <p:cNvSpPr/>
          <p:nvPr/>
        </p:nvSpPr>
        <p:spPr>
          <a:xfrm>
            <a:off x="4517136" y="2139696"/>
            <a:ext cx="3127248" cy="256032"/>
          </a:xfrm>
          <a:prstGeom prst="rect">
            <a:avLst/>
          </a:prstGeom>
          <a:noFill/>
          <a:ln/>
        </p:spPr>
        <p:txBody>
          <a:bodyPr wrap="square" lIns="0" tIns="0" rIns="0" bIns="0" rtlCol="0" anchor="ctr"/>
          <a:lstStyle/>
          <a:p>
            <a:r>
              <a:rPr lang="tr-TR" sz="1420" b="1" dirty="0" err="1">
                <a:solidFill>
                  <a:srgbClr val="445C6D"/>
                </a:solidFill>
                <a:latin typeface="Aptos Display"/>
              </a:rPr>
              <a:t>What</a:t>
            </a:r>
            <a:r>
              <a:rPr lang="tr-TR" sz="1420" b="1" dirty="0">
                <a:solidFill>
                  <a:srgbClr val="445C6D"/>
                </a:solidFill>
                <a:latin typeface="Aptos Display"/>
              </a:rPr>
              <a:t> is </a:t>
            </a:r>
            <a:r>
              <a:rPr lang="tr-TR" sz="1420" b="1" dirty="0" err="1">
                <a:solidFill>
                  <a:srgbClr val="445C6D"/>
                </a:solidFill>
                <a:latin typeface="Aptos Display"/>
              </a:rPr>
              <a:t>the</a:t>
            </a:r>
            <a:r>
              <a:rPr lang="tr-TR" sz="1420" b="1" dirty="0">
                <a:solidFill>
                  <a:srgbClr val="445C6D"/>
                </a:solidFill>
                <a:latin typeface="Aptos Display"/>
              </a:rPr>
              <a:t> </a:t>
            </a:r>
            <a:r>
              <a:rPr lang="tr-TR" sz="1420" b="1" dirty="0" err="1">
                <a:solidFill>
                  <a:srgbClr val="445C6D"/>
                </a:solidFill>
                <a:latin typeface="Aptos Display"/>
              </a:rPr>
              <a:t>research</a:t>
            </a:r>
            <a:r>
              <a:rPr lang="tr-TR" sz="1420" b="1" dirty="0">
                <a:solidFill>
                  <a:srgbClr val="445C6D"/>
                </a:solidFill>
                <a:latin typeface="Aptos Display"/>
              </a:rPr>
              <a:t> </a:t>
            </a:r>
            <a:r>
              <a:rPr lang="tr-TR" sz="1420" b="1" dirty="0" err="1">
                <a:solidFill>
                  <a:srgbClr val="445C6D"/>
                </a:solidFill>
                <a:latin typeface="Aptos Display"/>
              </a:rPr>
              <a:t>gap</a:t>
            </a:r>
            <a:r>
              <a:rPr lang="tr-TR" sz="1420" b="1" dirty="0">
                <a:solidFill>
                  <a:srgbClr val="445C6D"/>
                </a:solidFill>
                <a:latin typeface="Aptos Display"/>
              </a:rPr>
              <a:t>?</a:t>
            </a:r>
            <a:endParaRPr lang="tr-TR" sz="1420" dirty="0"/>
          </a:p>
        </p:txBody>
      </p:sp>
      <p:sp>
        <p:nvSpPr>
          <p:cNvPr id="10" name="Text 8"/>
          <p:cNvSpPr/>
          <p:nvPr/>
        </p:nvSpPr>
        <p:spPr>
          <a:xfrm>
            <a:off x="4517136" y="2468880"/>
            <a:ext cx="3127248" cy="1572768"/>
          </a:xfrm>
          <a:prstGeom prst="rect">
            <a:avLst/>
          </a:prstGeom>
          <a:noFill/>
          <a:ln/>
        </p:spPr>
        <p:txBody>
          <a:bodyPr wrap="square" lIns="254" tIns="254" rIns="254" bIns="254" rtlCol="0" anchor="t"/>
          <a:lstStyle/>
          <a:p>
            <a:r>
              <a:rPr lang="tr-TR" sz="1400" dirty="0" err="1"/>
              <a:t>Existing</a:t>
            </a:r>
            <a:r>
              <a:rPr lang="tr-TR" sz="1400" dirty="0"/>
              <a:t> </a:t>
            </a:r>
            <a:r>
              <a:rPr lang="tr-TR" sz="1400" dirty="0" err="1"/>
              <a:t>studies</a:t>
            </a:r>
            <a:r>
              <a:rPr lang="tr-TR" sz="1400" dirty="0"/>
              <a:t> </a:t>
            </a:r>
            <a:r>
              <a:rPr lang="tr-TR" sz="1400" dirty="0" err="1"/>
              <a:t>mostly</a:t>
            </a:r>
            <a:r>
              <a:rPr lang="tr-TR" sz="1400" dirty="0"/>
              <a:t> </a:t>
            </a:r>
            <a:r>
              <a:rPr lang="tr-TR" sz="1400" dirty="0" err="1"/>
              <a:t>focus</a:t>
            </a:r>
            <a:r>
              <a:rPr lang="tr-TR" sz="1400" dirty="0"/>
              <a:t> on </a:t>
            </a:r>
            <a:r>
              <a:rPr lang="tr-TR" sz="1400" dirty="0" err="1"/>
              <a:t>attacks</a:t>
            </a:r>
            <a:r>
              <a:rPr lang="tr-TR" sz="1400" dirty="0"/>
              <a:t> </a:t>
            </a:r>
            <a:r>
              <a:rPr lang="tr-TR" sz="1400" dirty="0" err="1"/>
              <a:t>that</a:t>
            </a:r>
            <a:r>
              <a:rPr lang="tr-TR" sz="1400" dirty="0"/>
              <a:t> </a:t>
            </a:r>
            <a:r>
              <a:rPr lang="tr-TR" sz="1400" dirty="0" err="1"/>
              <a:t>modify</a:t>
            </a:r>
            <a:r>
              <a:rPr lang="tr-TR" sz="1400" dirty="0"/>
              <a:t> </a:t>
            </a:r>
            <a:r>
              <a:rPr lang="tr-TR" sz="1400" dirty="0" err="1"/>
              <a:t>graph</a:t>
            </a:r>
            <a:r>
              <a:rPr lang="tr-TR" sz="1400" dirty="0"/>
              <a:t> </a:t>
            </a:r>
            <a:r>
              <a:rPr lang="tr-TR" sz="1400" dirty="0" err="1"/>
              <a:t>structure</a:t>
            </a:r>
            <a:r>
              <a:rPr lang="tr-TR" sz="1400" dirty="0"/>
              <a:t>; </a:t>
            </a:r>
            <a:r>
              <a:rPr lang="tr-TR" sz="1400" dirty="0" err="1"/>
              <a:t>studies</a:t>
            </a:r>
            <a:r>
              <a:rPr lang="tr-TR" sz="1400" dirty="0"/>
              <a:t> </a:t>
            </a:r>
            <a:r>
              <a:rPr lang="tr-TR" sz="1400" dirty="0" err="1"/>
              <a:t>comparing</a:t>
            </a:r>
            <a:r>
              <a:rPr lang="tr-TR" sz="1400" dirty="0"/>
              <a:t> </a:t>
            </a:r>
            <a:r>
              <a:rPr lang="tr-TR" sz="1400" dirty="0" err="1"/>
              <a:t>different</a:t>
            </a:r>
            <a:r>
              <a:rPr lang="tr-TR" sz="1400" dirty="0"/>
              <a:t> GNN </a:t>
            </a:r>
            <a:r>
              <a:rPr lang="tr-TR" sz="1400" dirty="0" err="1"/>
              <a:t>architectures</a:t>
            </a:r>
            <a:r>
              <a:rPr lang="tr-TR" sz="1400" dirty="0"/>
              <a:t> </a:t>
            </a:r>
            <a:r>
              <a:rPr lang="tr-TR" sz="1400" dirty="0" err="1"/>
              <a:t>under</a:t>
            </a:r>
            <a:r>
              <a:rPr lang="tr-TR" sz="1400" dirty="0"/>
              <a:t> </a:t>
            </a:r>
            <a:r>
              <a:rPr lang="tr-TR" sz="1400" dirty="0" err="1"/>
              <a:t>the</a:t>
            </a:r>
            <a:r>
              <a:rPr lang="tr-TR" sz="1400" dirty="0"/>
              <a:t> </a:t>
            </a:r>
            <a:r>
              <a:rPr lang="tr-TR" sz="1400" dirty="0" err="1"/>
              <a:t>same</a:t>
            </a:r>
            <a:r>
              <a:rPr lang="tr-TR" sz="1400" dirty="0"/>
              <a:t> data, </a:t>
            </a:r>
            <a:r>
              <a:rPr lang="tr-TR" sz="1400" dirty="0" err="1"/>
              <a:t>attack</a:t>
            </a:r>
            <a:r>
              <a:rPr lang="tr-TR" sz="1400" dirty="0"/>
              <a:t> </a:t>
            </a:r>
            <a:r>
              <a:rPr lang="tr-TR" sz="1400" dirty="0" err="1"/>
              <a:t>conditions</a:t>
            </a:r>
            <a:r>
              <a:rPr lang="tr-TR" sz="1400" dirty="0"/>
              <a:t>, </a:t>
            </a:r>
            <a:r>
              <a:rPr lang="tr-TR" sz="1400" dirty="0" err="1"/>
              <a:t>and</a:t>
            </a:r>
            <a:r>
              <a:rPr lang="tr-TR" sz="1400" dirty="0"/>
              <a:t> </a:t>
            </a:r>
            <a:r>
              <a:rPr lang="tr-TR" sz="1400" dirty="0" err="1"/>
              <a:t>evaluation</a:t>
            </a:r>
            <a:r>
              <a:rPr lang="tr-TR" sz="1400" dirty="0"/>
              <a:t> </a:t>
            </a:r>
            <a:r>
              <a:rPr lang="tr-TR" sz="1400" dirty="0" err="1"/>
              <a:t>metrics</a:t>
            </a:r>
            <a:r>
              <a:rPr lang="tr-TR" sz="1400" dirty="0"/>
              <a:t> </a:t>
            </a:r>
            <a:r>
              <a:rPr lang="tr-TR" sz="1400" dirty="0" err="1"/>
              <a:t>remain</a:t>
            </a:r>
            <a:r>
              <a:rPr lang="tr-TR" sz="1400" dirty="0"/>
              <a:t> </a:t>
            </a:r>
            <a:r>
              <a:rPr lang="tr-TR" sz="1400" dirty="0" err="1"/>
              <a:t>limited</a:t>
            </a:r>
            <a:r>
              <a:rPr lang="tr-TR" sz="1400" dirty="0"/>
              <a:t>.</a:t>
            </a:r>
            <a:endParaRPr lang="en-US" sz="1400" dirty="0"/>
          </a:p>
        </p:txBody>
      </p:sp>
      <p:sp>
        <p:nvSpPr>
          <p:cNvPr id="11" name="Shape 9"/>
          <p:cNvSpPr/>
          <p:nvPr/>
        </p:nvSpPr>
        <p:spPr>
          <a:xfrm>
            <a:off x="8138160" y="1993391"/>
            <a:ext cx="3456432" cy="3185276"/>
          </a:xfrm>
          <a:prstGeom prst="roundRect">
            <a:avLst>
              <a:gd name="adj" fmla="val 2941"/>
            </a:avLst>
          </a:prstGeom>
          <a:solidFill>
            <a:srgbClr val="FFFFFF"/>
          </a:solidFill>
          <a:ln w="12700">
            <a:solidFill>
              <a:srgbClr val="D9E3E4"/>
            </a:solidFill>
            <a:prstDash val="solid"/>
          </a:ln>
        </p:spPr>
        <p:txBody>
          <a:bodyPr/>
          <a:lstStyle/>
          <a:p>
            <a:endParaRPr/>
          </a:p>
        </p:txBody>
      </p:sp>
      <p:sp>
        <p:nvSpPr>
          <p:cNvPr id="12" name="Text 10"/>
          <p:cNvSpPr/>
          <p:nvPr/>
        </p:nvSpPr>
        <p:spPr>
          <a:xfrm>
            <a:off x="8302752" y="2139696"/>
            <a:ext cx="3127248" cy="256032"/>
          </a:xfrm>
          <a:prstGeom prst="rect">
            <a:avLst/>
          </a:prstGeom>
          <a:noFill/>
          <a:ln/>
        </p:spPr>
        <p:txBody>
          <a:bodyPr wrap="square" lIns="0" tIns="0" rIns="0" bIns="0" rtlCol="0" anchor="ctr"/>
          <a:lstStyle/>
          <a:p>
            <a:r>
              <a:rPr lang="tr-TR" sz="1420" b="1" dirty="0" err="1">
                <a:solidFill>
                  <a:srgbClr val="445C6D"/>
                </a:solidFill>
                <a:latin typeface="Aptos Display"/>
              </a:rPr>
              <a:t>Research</a:t>
            </a:r>
            <a:r>
              <a:rPr lang="tr-TR" sz="1420" b="1" dirty="0">
                <a:solidFill>
                  <a:srgbClr val="445C6D"/>
                </a:solidFill>
                <a:latin typeface="Aptos Display"/>
              </a:rPr>
              <a:t> </a:t>
            </a:r>
            <a:r>
              <a:rPr lang="tr-TR" sz="1420" b="1" dirty="0" err="1">
                <a:solidFill>
                  <a:srgbClr val="445C6D"/>
                </a:solidFill>
                <a:latin typeface="Aptos Display"/>
              </a:rPr>
              <a:t>question</a:t>
            </a:r>
            <a:endParaRPr lang="tr-TR" sz="1420" dirty="0"/>
          </a:p>
        </p:txBody>
      </p:sp>
      <p:sp>
        <p:nvSpPr>
          <p:cNvPr id="13" name="Text 11"/>
          <p:cNvSpPr/>
          <p:nvPr/>
        </p:nvSpPr>
        <p:spPr>
          <a:xfrm>
            <a:off x="8302752" y="2468880"/>
            <a:ext cx="3127248" cy="1572768"/>
          </a:xfrm>
          <a:prstGeom prst="rect">
            <a:avLst/>
          </a:prstGeom>
          <a:noFill/>
          <a:ln/>
        </p:spPr>
        <p:txBody>
          <a:bodyPr wrap="square" lIns="254" tIns="254" rIns="254" bIns="254" rtlCol="0" anchor="t"/>
          <a:lstStyle/>
          <a:p>
            <a:r>
              <a:rPr lang="tr-TR" sz="1400" dirty="0" err="1"/>
              <a:t>When</a:t>
            </a:r>
            <a:r>
              <a:rPr lang="tr-TR" sz="1400" dirty="0"/>
              <a:t> </a:t>
            </a:r>
            <a:r>
              <a:rPr lang="tr-TR" sz="1400" dirty="0" err="1"/>
              <a:t>graph</a:t>
            </a:r>
            <a:r>
              <a:rPr lang="tr-TR" sz="1400" dirty="0"/>
              <a:t> </a:t>
            </a:r>
            <a:r>
              <a:rPr lang="tr-TR" sz="1400" dirty="0" err="1"/>
              <a:t>topology</a:t>
            </a:r>
            <a:r>
              <a:rPr lang="tr-TR" sz="1400" dirty="0"/>
              <a:t> is </a:t>
            </a:r>
            <a:r>
              <a:rPr lang="tr-TR" sz="1400" dirty="0" err="1"/>
              <a:t>fixed</a:t>
            </a:r>
            <a:r>
              <a:rPr lang="tr-TR" sz="1400" dirty="0"/>
              <a:t>, how </a:t>
            </a:r>
            <a:r>
              <a:rPr lang="tr-TR" sz="1400" dirty="0" err="1"/>
              <a:t>robust</a:t>
            </a:r>
            <a:r>
              <a:rPr lang="tr-TR" sz="1400" dirty="0"/>
              <a:t> </a:t>
            </a:r>
            <a:r>
              <a:rPr lang="tr-TR" sz="1400" dirty="0" err="1"/>
              <a:t>are</a:t>
            </a:r>
            <a:r>
              <a:rPr lang="tr-TR" sz="1400" dirty="0"/>
              <a:t> </a:t>
            </a:r>
            <a:r>
              <a:rPr lang="tr-TR" sz="1400" dirty="0" err="1"/>
              <a:t>different</a:t>
            </a:r>
            <a:r>
              <a:rPr lang="tr-TR" sz="1400" dirty="0"/>
              <a:t> </a:t>
            </a:r>
            <a:r>
              <a:rPr lang="tr-TR" sz="1400" dirty="0" err="1"/>
              <a:t>heterogeneous</a:t>
            </a:r>
            <a:r>
              <a:rPr lang="tr-TR" sz="1400" dirty="0"/>
              <a:t> GNN </a:t>
            </a:r>
            <a:r>
              <a:rPr lang="tr-TR" sz="1400" dirty="0" err="1"/>
              <a:t>architectures</a:t>
            </a:r>
            <a:r>
              <a:rPr lang="tr-TR" sz="1400" dirty="0"/>
              <a:t> </a:t>
            </a:r>
            <a:r>
              <a:rPr lang="tr-TR" sz="1400" dirty="0" err="1"/>
              <a:t>against</a:t>
            </a:r>
            <a:r>
              <a:rPr lang="tr-TR" sz="1400" dirty="0"/>
              <a:t> </a:t>
            </a:r>
            <a:r>
              <a:rPr lang="tr-TR" sz="1400" dirty="0" err="1"/>
              <a:t>feature-based</a:t>
            </a:r>
            <a:r>
              <a:rPr lang="tr-TR" sz="1400" dirty="0"/>
              <a:t> </a:t>
            </a:r>
            <a:r>
              <a:rPr lang="tr-TR" sz="1400" dirty="0" err="1"/>
              <a:t>white-box</a:t>
            </a:r>
            <a:r>
              <a:rPr lang="tr-TR" sz="1400" dirty="0"/>
              <a:t> </a:t>
            </a:r>
            <a:r>
              <a:rPr lang="tr-TR" sz="1400" dirty="0" err="1"/>
              <a:t>attacks</a:t>
            </a:r>
            <a:r>
              <a:rPr lang="tr-TR" sz="1400" dirty="0"/>
              <a:t>?</a:t>
            </a:r>
          </a:p>
        </p:txBody>
      </p:sp>
      <p:sp>
        <p:nvSpPr>
          <p:cNvPr id="2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2</a:t>
            </a:fld>
            <a:endParaRPr lang="en-US"/>
          </a:p>
        </p:txBody>
      </p:sp>
      <p:sp>
        <p:nvSpPr>
          <p:cNvPr id="26" name="Text 0">
            <a:extLst>
              <a:ext uri="{FF2B5EF4-FFF2-40B4-BE49-F238E27FC236}">
                <a16:creationId xmlns:a16="http://schemas.microsoft.com/office/drawing/2014/main" id="{EADBCE4A-8B7B-FE5C-A1E9-8035963CD1FC}"/>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dirty="0">
                <a:solidFill>
                  <a:srgbClr val="8BB3B4"/>
                </a:solidFill>
                <a:latin typeface="Aptos"/>
              </a:rPr>
              <a:t>1. WHY THIS STUDY?</a:t>
            </a:r>
            <a:endParaRPr lang="en-US" sz="1050" dirty="0"/>
          </a:p>
        </p:txBody>
      </p:sp>
      <p:pic>
        <p:nvPicPr>
          <p:cNvPr id="16" name="Grafik 15">
            <a:extLst>
              <a:ext uri="{FF2B5EF4-FFF2-40B4-BE49-F238E27FC236}">
                <a16:creationId xmlns:a16="http://schemas.microsoft.com/office/drawing/2014/main" id="{22E61D82-24C1-FAE8-B24F-420A258BC7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02" y="6446520"/>
            <a:ext cx="273517" cy="2286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530352" y="621792"/>
            <a:ext cx="10972800" cy="530352"/>
          </a:xfrm>
          <a:prstGeom prst="rect">
            <a:avLst/>
          </a:prstGeom>
          <a:noFill/>
          <a:ln/>
        </p:spPr>
        <p:txBody>
          <a:bodyPr wrap="square" lIns="0" tIns="0" rIns="0" bIns="0" rtlCol="0" anchor="ctr"/>
          <a:lstStyle/>
          <a:p>
            <a:r>
              <a:rPr lang="tr-TR" sz="2400" b="1" dirty="0" err="1">
                <a:solidFill>
                  <a:srgbClr val="445C6D"/>
                </a:solidFill>
                <a:latin typeface="Aptos Display"/>
              </a:rPr>
              <a:t>Heterogeneous</a:t>
            </a:r>
            <a:r>
              <a:rPr lang="tr-TR" sz="2400" b="1" dirty="0">
                <a:solidFill>
                  <a:srgbClr val="445C6D"/>
                </a:solidFill>
                <a:latin typeface="Aptos Display"/>
              </a:rPr>
              <a:t> </a:t>
            </a:r>
            <a:r>
              <a:rPr lang="tr-TR" sz="2400" b="1" dirty="0" err="1">
                <a:solidFill>
                  <a:srgbClr val="445C6D"/>
                </a:solidFill>
                <a:latin typeface="Aptos Display"/>
              </a:rPr>
              <a:t>Graph</a:t>
            </a:r>
            <a:r>
              <a:rPr lang="tr-TR" sz="2400" b="1" dirty="0">
                <a:solidFill>
                  <a:srgbClr val="445C6D"/>
                </a:solidFill>
                <a:latin typeface="Aptos Display"/>
              </a:rPr>
              <a:t> </a:t>
            </a:r>
            <a:r>
              <a:rPr lang="tr-TR" sz="2400" b="1" dirty="0" err="1">
                <a:solidFill>
                  <a:srgbClr val="445C6D"/>
                </a:solidFill>
                <a:latin typeface="Aptos Display"/>
              </a:rPr>
              <a:t>and</a:t>
            </a:r>
            <a:r>
              <a:rPr lang="tr-TR" sz="2400" b="1" dirty="0">
                <a:solidFill>
                  <a:srgbClr val="445C6D"/>
                </a:solidFill>
                <a:latin typeface="Aptos Display"/>
              </a:rPr>
              <a:t> White Box </a:t>
            </a:r>
            <a:r>
              <a:rPr lang="tr-TR" sz="2400" b="1" dirty="0" err="1">
                <a:solidFill>
                  <a:srgbClr val="445C6D"/>
                </a:solidFill>
                <a:latin typeface="Aptos Display"/>
              </a:rPr>
              <a:t>Threat</a:t>
            </a:r>
            <a:r>
              <a:rPr lang="tr-TR" sz="2400" b="1" dirty="0">
                <a:solidFill>
                  <a:srgbClr val="445C6D"/>
                </a:solidFill>
                <a:latin typeface="Aptos Display"/>
              </a:rPr>
              <a:t> Model</a:t>
            </a:r>
            <a:endParaRPr lang="tr-TR" sz="2400" dirty="0"/>
          </a:p>
        </p:txBody>
      </p:sp>
      <p:sp>
        <p:nvSpPr>
          <p:cNvPr id="4" name="Text 2"/>
          <p:cNvSpPr/>
          <p:nvPr/>
        </p:nvSpPr>
        <p:spPr>
          <a:xfrm>
            <a:off x="658368" y="1298448"/>
            <a:ext cx="4023360" cy="274320"/>
          </a:xfrm>
          <a:prstGeom prst="rect">
            <a:avLst/>
          </a:prstGeom>
          <a:noFill/>
          <a:ln/>
        </p:spPr>
        <p:txBody>
          <a:bodyPr wrap="square" lIns="0" tIns="0" rIns="0" bIns="0" rtlCol="0" anchor="ctr"/>
          <a:lstStyle/>
          <a:p>
            <a:r>
              <a:rPr lang="tr-TR" sz="1600" b="1" dirty="0">
                <a:solidFill>
                  <a:srgbClr val="445C6D"/>
                </a:solidFill>
                <a:latin typeface="Aptos Display"/>
              </a:rPr>
              <a:t>DNS </a:t>
            </a:r>
            <a:r>
              <a:rPr lang="tr-TR" sz="1600" b="1" dirty="0" err="1">
                <a:solidFill>
                  <a:srgbClr val="445C6D"/>
                </a:solidFill>
                <a:latin typeface="Aptos Display"/>
              </a:rPr>
              <a:t>client</a:t>
            </a:r>
            <a:r>
              <a:rPr lang="tr-TR" sz="1600" b="1" dirty="0">
                <a:solidFill>
                  <a:srgbClr val="445C6D"/>
                </a:solidFill>
                <a:latin typeface="Aptos Display"/>
              </a:rPr>
              <a:t>–domain </a:t>
            </a:r>
            <a:r>
              <a:rPr lang="tr-TR" sz="1600" b="1" dirty="0" err="1">
                <a:solidFill>
                  <a:srgbClr val="445C6D"/>
                </a:solidFill>
                <a:latin typeface="Aptos Display"/>
              </a:rPr>
              <a:t>graph</a:t>
            </a:r>
            <a:r>
              <a:rPr lang="tr-TR" sz="1600" b="1" dirty="0">
                <a:solidFill>
                  <a:srgbClr val="445C6D"/>
                </a:solidFill>
                <a:latin typeface="Aptos Display"/>
              </a:rPr>
              <a:t> </a:t>
            </a:r>
            <a:r>
              <a:rPr lang="tr-TR" sz="1600" b="1" dirty="0" err="1">
                <a:solidFill>
                  <a:srgbClr val="445C6D"/>
                </a:solidFill>
                <a:latin typeface="Aptos Display"/>
              </a:rPr>
              <a:t>representation</a:t>
            </a:r>
            <a:endParaRPr lang="tr-TR" sz="1600" dirty="0"/>
          </a:p>
        </p:txBody>
      </p:sp>
      <p:sp>
        <p:nvSpPr>
          <p:cNvPr id="5" name="Text 3"/>
          <p:cNvSpPr/>
          <p:nvPr/>
        </p:nvSpPr>
        <p:spPr>
          <a:xfrm>
            <a:off x="1612309" y="1771547"/>
            <a:ext cx="1463040" cy="228600"/>
          </a:xfrm>
          <a:prstGeom prst="rect">
            <a:avLst/>
          </a:prstGeom>
          <a:noFill/>
          <a:ln/>
        </p:spPr>
        <p:txBody>
          <a:bodyPr wrap="square" lIns="0" tIns="0" rIns="0" bIns="0" rtlCol="0" anchor="ctr"/>
          <a:lstStyle/>
          <a:p>
            <a:r>
              <a:rPr lang="tr-TR" sz="1050" b="1" dirty="0">
                <a:solidFill>
                  <a:srgbClr val="879EB0"/>
                </a:solidFill>
              </a:rPr>
              <a:t>Client </a:t>
            </a:r>
            <a:r>
              <a:rPr lang="tr-TR" sz="1050" b="1" dirty="0" err="1">
                <a:solidFill>
                  <a:srgbClr val="879EB0"/>
                </a:solidFill>
              </a:rPr>
              <a:t>nodes</a:t>
            </a:r>
            <a:endParaRPr lang="tr-TR" sz="1050" dirty="0"/>
          </a:p>
        </p:txBody>
      </p:sp>
      <p:sp>
        <p:nvSpPr>
          <p:cNvPr id="6" name="Text 4"/>
          <p:cNvSpPr/>
          <p:nvPr/>
        </p:nvSpPr>
        <p:spPr>
          <a:xfrm>
            <a:off x="4681728" y="1732575"/>
            <a:ext cx="1554480" cy="228600"/>
          </a:xfrm>
          <a:prstGeom prst="rect">
            <a:avLst/>
          </a:prstGeom>
          <a:noFill/>
          <a:ln/>
        </p:spPr>
        <p:txBody>
          <a:bodyPr wrap="square" lIns="0" tIns="0" rIns="0" bIns="0" rtlCol="0" anchor="ctr"/>
          <a:lstStyle/>
          <a:p>
            <a:r>
              <a:rPr lang="tr-TR" sz="1050" b="1" dirty="0">
                <a:solidFill>
                  <a:srgbClr val="8BB3B4"/>
                </a:solidFill>
              </a:rPr>
              <a:t>Domain </a:t>
            </a:r>
            <a:r>
              <a:rPr lang="tr-TR" sz="1050" b="1" dirty="0" err="1">
                <a:solidFill>
                  <a:srgbClr val="8BB3B4"/>
                </a:solidFill>
              </a:rPr>
              <a:t>nodes</a:t>
            </a:r>
            <a:endParaRPr lang="tr-TR" sz="1050" dirty="0"/>
          </a:p>
        </p:txBody>
      </p:sp>
      <p:sp>
        <p:nvSpPr>
          <p:cNvPr id="7" name="Shape 5"/>
          <p:cNvSpPr/>
          <p:nvPr/>
        </p:nvSpPr>
        <p:spPr>
          <a:xfrm flipV="1">
            <a:off x="1361749" y="3196971"/>
            <a:ext cx="467345" cy="8207"/>
          </a:xfrm>
          <a:prstGeom prst="line">
            <a:avLst/>
          </a:prstGeom>
          <a:noFill/>
          <a:ln w="16510">
            <a:solidFill>
              <a:srgbClr val="B65C5B"/>
            </a:solidFill>
            <a:prstDash val="solid"/>
            <a:headEnd type="none"/>
            <a:tailEnd type="triangle"/>
          </a:ln>
        </p:spPr>
        <p:txBody>
          <a:bodyPr/>
          <a:lstStyle/>
          <a:p>
            <a:endParaRPr>
              <a:highlight>
                <a:srgbClr val="B65C5B"/>
              </a:highlight>
            </a:endParaRPr>
          </a:p>
        </p:txBody>
      </p:sp>
      <p:sp>
        <p:nvSpPr>
          <p:cNvPr id="10" name="Shape 8"/>
          <p:cNvSpPr/>
          <p:nvPr/>
        </p:nvSpPr>
        <p:spPr>
          <a:xfrm>
            <a:off x="5332154" y="3071579"/>
            <a:ext cx="0" cy="0"/>
          </a:xfrm>
          <a:prstGeom prst="line">
            <a:avLst/>
          </a:prstGeom>
          <a:noFill/>
          <a:ln w="8890">
            <a:solidFill>
              <a:srgbClr val="D3DEE1"/>
            </a:solidFill>
            <a:prstDash val="solid"/>
          </a:ln>
        </p:spPr>
        <p:txBody>
          <a:bodyPr/>
          <a:lstStyle/>
          <a:p>
            <a:endParaRPr/>
          </a:p>
        </p:txBody>
      </p:sp>
      <p:sp>
        <p:nvSpPr>
          <p:cNvPr id="14" name="Shape 12"/>
          <p:cNvSpPr/>
          <p:nvPr/>
        </p:nvSpPr>
        <p:spPr>
          <a:xfrm>
            <a:off x="5335161" y="3812645"/>
            <a:ext cx="0" cy="0"/>
          </a:xfrm>
          <a:prstGeom prst="line">
            <a:avLst/>
          </a:prstGeom>
          <a:noFill/>
          <a:ln w="8890">
            <a:solidFill>
              <a:srgbClr val="D3DEE1"/>
            </a:solidFill>
            <a:prstDash val="solid"/>
          </a:ln>
        </p:spPr>
        <p:txBody>
          <a:bodyPr/>
          <a:lstStyle/>
          <a:p>
            <a:endParaRPr/>
          </a:p>
        </p:txBody>
      </p:sp>
      <p:sp>
        <p:nvSpPr>
          <p:cNvPr id="16" name="Shape 14"/>
          <p:cNvSpPr/>
          <p:nvPr/>
        </p:nvSpPr>
        <p:spPr>
          <a:xfrm>
            <a:off x="5334168" y="4426107"/>
            <a:ext cx="0" cy="0"/>
          </a:xfrm>
          <a:prstGeom prst="line">
            <a:avLst/>
          </a:prstGeom>
          <a:noFill/>
          <a:ln w="8890">
            <a:solidFill>
              <a:srgbClr val="D3DEE1"/>
            </a:solidFill>
            <a:prstDash val="solid"/>
          </a:ln>
        </p:spPr>
        <p:txBody>
          <a:bodyPr/>
          <a:lstStyle/>
          <a:p>
            <a:endParaRPr/>
          </a:p>
        </p:txBody>
      </p:sp>
      <p:sp>
        <p:nvSpPr>
          <p:cNvPr id="20" name="Shape 18"/>
          <p:cNvSpPr/>
          <p:nvPr/>
        </p:nvSpPr>
        <p:spPr>
          <a:xfrm>
            <a:off x="5335161" y="3812645"/>
            <a:ext cx="0" cy="91440"/>
          </a:xfrm>
          <a:prstGeom prst="line">
            <a:avLst/>
          </a:prstGeom>
          <a:noFill/>
          <a:ln w="8890">
            <a:solidFill>
              <a:srgbClr val="D3DEE1"/>
            </a:solidFill>
            <a:prstDash val="solid"/>
          </a:ln>
        </p:spPr>
        <p:txBody>
          <a:bodyPr/>
          <a:lstStyle/>
          <a:p>
            <a:endParaRPr/>
          </a:p>
        </p:txBody>
      </p:sp>
      <p:sp>
        <p:nvSpPr>
          <p:cNvPr id="21" name="Shape 19"/>
          <p:cNvSpPr/>
          <p:nvPr/>
        </p:nvSpPr>
        <p:spPr>
          <a:xfrm>
            <a:off x="1804177" y="2179992"/>
            <a:ext cx="347472" cy="347472"/>
          </a:xfrm>
          <a:prstGeom prst="ellipse">
            <a:avLst/>
          </a:prstGeom>
          <a:solidFill>
            <a:srgbClr val="879EB0"/>
          </a:solidFill>
          <a:ln w="12700">
            <a:solidFill>
              <a:srgbClr val="FFFFFF"/>
            </a:solidFill>
            <a:prstDash val="solid"/>
          </a:ln>
        </p:spPr>
        <p:txBody>
          <a:bodyPr/>
          <a:lstStyle/>
          <a:p>
            <a:endParaRPr/>
          </a:p>
        </p:txBody>
      </p:sp>
      <p:sp>
        <p:nvSpPr>
          <p:cNvPr id="22" name="Text 20"/>
          <p:cNvSpPr/>
          <p:nvPr/>
        </p:nvSpPr>
        <p:spPr>
          <a:xfrm>
            <a:off x="1831609" y="2285148"/>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C1</a:t>
            </a:r>
            <a:endParaRPr lang="en-US" sz="750"/>
          </a:p>
        </p:txBody>
      </p:sp>
      <p:sp>
        <p:nvSpPr>
          <p:cNvPr id="23" name="Shape 21"/>
          <p:cNvSpPr/>
          <p:nvPr/>
        </p:nvSpPr>
        <p:spPr>
          <a:xfrm>
            <a:off x="1834826" y="3045158"/>
            <a:ext cx="347472" cy="347472"/>
          </a:xfrm>
          <a:prstGeom prst="ellipse">
            <a:avLst/>
          </a:prstGeom>
          <a:solidFill>
            <a:srgbClr val="879EB0"/>
          </a:solidFill>
          <a:ln w="12700">
            <a:solidFill>
              <a:srgbClr val="FFFFFF"/>
            </a:solidFill>
            <a:prstDash val="solid"/>
          </a:ln>
        </p:spPr>
        <p:txBody>
          <a:bodyPr/>
          <a:lstStyle/>
          <a:p>
            <a:endParaRPr/>
          </a:p>
        </p:txBody>
      </p:sp>
      <p:sp>
        <p:nvSpPr>
          <p:cNvPr id="24" name="Text 22"/>
          <p:cNvSpPr/>
          <p:nvPr/>
        </p:nvSpPr>
        <p:spPr>
          <a:xfrm>
            <a:off x="1862258" y="3150314"/>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C2</a:t>
            </a:r>
            <a:endParaRPr lang="en-US" sz="750"/>
          </a:p>
        </p:txBody>
      </p:sp>
      <p:sp>
        <p:nvSpPr>
          <p:cNvPr id="25" name="Shape 23"/>
          <p:cNvSpPr/>
          <p:nvPr/>
        </p:nvSpPr>
        <p:spPr>
          <a:xfrm>
            <a:off x="1858937" y="4251960"/>
            <a:ext cx="347472" cy="347472"/>
          </a:xfrm>
          <a:prstGeom prst="ellipse">
            <a:avLst/>
          </a:prstGeom>
          <a:solidFill>
            <a:srgbClr val="879EB0"/>
          </a:solidFill>
          <a:ln w="12700">
            <a:solidFill>
              <a:srgbClr val="FFFFFF"/>
            </a:solidFill>
            <a:prstDash val="solid"/>
          </a:ln>
        </p:spPr>
        <p:txBody>
          <a:bodyPr/>
          <a:lstStyle/>
          <a:p>
            <a:endParaRPr/>
          </a:p>
        </p:txBody>
      </p:sp>
      <p:sp>
        <p:nvSpPr>
          <p:cNvPr id="26" name="Text 24"/>
          <p:cNvSpPr/>
          <p:nvPr/>
        </p:nvSpPr>
        <p:spPr>
          <a:xfrm>
            <a:off x="1886369" y="4357116"/>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C3</a:t>
            </a:r>
            <a:endParaRPr lang="en-US" sz="750"/>
          </a:p>
        </p:txBody>
      </p:sp>
      <p:sp>
        <p:nvSpPr>
          <p:cNvPr id="27" name="Shape 25"/>
          <p:cNvSpPr/>
          <p:nvPr/>
        </p:nvSpPr>
        <p:spPr>
          <a:xfrm>
            <a:off x="5315063" y="2167928"/>
            <a:ext cx="347472" cy="347472"/>
          </a:xfrm>
          <a:prstGeom prst="ellipse">
            <a:avLst/>
          </a:prstGeom>
          <a:solidFill>
            <a:srgbClr val="8BB3B4"/>
          </a:solidFill>
          <a:ln w="12700">
            <a:solidFill>
              <a:srgbClr val="FFFFFF"/>
            </a:solidFill>
            <a:prstDash val="solid"/>
          </a:ln>
        </p:spPr>
        <p:txBody>
          <a:bodyPr/>
          <a:lstStyle/>
          <a:p>
            <a:endParaRPr/>
          </a:p>
        </p:txBody>
      </p:sp>
      <p:sp>
        <p:nvSpPr>
          <p:cNvPr id="28" name="Text 26"/>
          <p:cNvSpPr/>
          <p:nvPr/>
        </p:nvSpPr>
        <p:spPr>
          <a:xfrm>
            <a:off x="5342495" y="2273084"/>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D1</a:t>
            </a:r>
            <a:endParaRPr lang="en-US" sz="750"/>
          </a:p>
        </p:txBody>
      </p:sp>
      <p:sp>
        <p:nvSpPr>
          <p:cNvPr id="29" name="Shape 27"/>
          <p:cNvSpPr/>
          <p:nvPr/>
        </p:nvSpPr>
        <p:spPr>
          <a:xfrm>
            <a:off x="5332154" y="2906987"/>
            <a:ext cx="347472" cy="347472"/>
          </a:xfrm>
          <a:prstGeom prst="ellipse">
            <a:avLst/>
          </a:prstGeom>
          <a:solidFill>
            <a:srgbClr val="8BB3B4"/>
          </a:solidFill>
          <a:ln w="12700">
            <a:solidFill>
              <a:srgbClr val="FFFFFF"/>
            </a:solidFill>
            <a:prstDash val="solid"/>
          </a:ln>
        </p:spPr>
        <p:txBody>
          <a:bodyPr/>
          <a:lstStyle/>
          <a:p>
            <a:endParaRPr/>
          </a:p>
        </p:txBody>
      </p:sp>
      <p:sp>
        <p:nvSpPr>
          <p:cNvPr id="30" name="Text 28"/>
          <p:cNvSpPr/>
          <p:nvPr/>
        </p:nvSpPr>
        <p:spPr>
          <a:xfrm>
            <a:off x="5359586" y="3012143"/>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D2</a:t>
            </a:r>
            <a:endParaRPr lang="en-US" sz="750"/>
          </a:p>
        </p:txBody>
      </p:sp>
      <p:sp>
        <p:nvSpPr>
          <p:cNvPr id="31" name="Shape 29"/>
          <p:cNvSpPr/>
          <p:nvPr/>
        </p:nvSpPr>
        <p:spPr>
          <a:xfrm>
            <a:off x="5335161" y="3648053"/>
            <a:ext cx="347472" cy="347472"/>
          </a:xfrm>
          <a:prstGeom prst="ellipse">
            <a:avLst/>
          </a:prstGeom>
          <a:solidFill>
            <a:srgbClr val="8BB3B4"/>
          </a:solidFill>
          <a:ln w="12700">
            <a:solidFill>
              <a:srgbClr val="FFFFFF"/>
            </a:solidFill>
            <a:prstDash val="solid"/>
          </a:ln>
        </p:spPr>
        <p:txBody>
          <a:bodyPr/>
          <a:lstStyle/>
          <a:p>
            <a:endParaRPr/>
          </a:p>
        </p:txBody>
      </p:sp>
      <p:sp>
        <p:nvSpPr>
          <p:cNvPr id="32" name="Text 30"/>
          <p:cNvSpPr/>
          <p:nvPr/>
        </p:nvSpPr>
        <p:spPr>
          <a:xfrm>
            <a:off x="5362593" y="3753209"/>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D3</a:t>
            </a:r>
            <a:endParaRPr lang="en-US" sz="750"/>
          </a:p>
        </p:txBody>
      </p:sp>
      <p:sp>
        <p:nvSpPr>
          <p:cNvPr id="33" name="Shape 31"/>
          <p:cNvSpPr/>
          <p:nvPr/>
        </p:nvSpPr>
        <p:spPr>
          <a:xfrm>
            <a:off x="5334168" y="4261515"/>
            <a:ext cx="347472" cy="347472"/>
          </a:xfrm>
          <a:prstGeom prst="ellipse">
            <a:avLst/>
          </a:prstGeom>
          <a:solidFill>
            <a:srgbClr val="8BB3B4"/>
          </a:solidFill>
          <a:ln w="12700">
            <a:solidFill>
              <a:srgbClr val="FFFFFF"/>
            </a:solidFill>
            <a:prstDash val="solid"/>
          </a:ln>
        </p:spPr>
        <p:txBody>
          <a:bodyPr/>
          <a:lstStyle/>
          <a:p>
            <a:endParaRPr/>
          </a:p>
        </p:txBody>
      </p:sp>
      <p:sp>
        <p:nvSpPr>
          <p:cNvPr id="34" name="Text 32"/>
          <p:cNvSpPr/>
          <p:nvPr/>
        </p:nvSpPr>
        <p:spPr>
          <a:xfrm>
            <a:off x="5361600" y="4366671"/>
            <a:ext cx="292608" cy="109728"/>
          </a:xfrm>
          <a:prstGeom prst="rect">
            <a:avLst/>
          </a:prstGeom>
          <a:noFill/>
          <a:ln/>
        </p:spPr>
        <p:txBody>
          <a:bodyPr wrap="square" lIns="0" tIns="0" rIns="0" bIns="0" rtlCol="0" anchor="ctr"/>
          <a:lstStyle/>
          <a:p>
            <a:pPr marL="0" indent="0" algn="ctr">
              <a:buNone/>
            </a:pPr>
            <a:r>
              <a:rPr lang="en-US" sz="750" b="1">
                <a:solidFill>
                  <a:srgbClr val="FFFFFF"/>
                </a:solidFill>
              </a:rPr>
              <a:t>D4</a:t>
            </a:r>
            <a:endParaRPr lang="en-US" sz="750"/>
          </a:p>
        </p:txBody>
      </p:sp>
      <p:sp>
        <p:nvSpPr>
          <p:cNvPr id="35" name="Shape 33"/>
          <p:cNvSpPr/>
          <p:nvPr/>
        </p:nvSpPr>
        <p:spPr>
          <a:xfrm>
            <a:off x="581180" y="4946400"/>
            <a:ext cx="2404872" cy="1280663"/>
          </a:xfrm>
          <a:prstGeom prst="roundRect">
            <a:avLst>
              <a:gd name="adj" fmla="val 6863"/>
            </a:avLst>
          </a:prstGeom>
          <a:solidFill>
            <a:srgbClr val="F2F6F7"/>
          </a:solidFill>
          <a:ln w="12700">
            <a:solidFill>
              <a:srgbClr val="D9E3E4"/>
            </a:solidFill>
            <a:prstDash val="solid"/>
          </a:ln>
        </p:spPr>
        <p:txBody>
          <a:bodyPr/>
          <a:lstStyle/>
          <a:p>
            <a:endParaRPr/>
          </a:p>
        </p:txBody>
      </p:sp>
      <p:sp>
        <p:nvSpPr>
          <p:cNvPr id="36" name="Text 34"/>
          <p:cNvSpPr/>
          <p:nvPr/>
        </p:nvSpPr>
        <p:spPr>
          <a:xfrm>
            <a:off x="745772" y="5001768"/>
            <a:ext cx="2093976" cy="256032"/>
          </a:xfrm>
          <a:prstGeom prst="rect">
            <a:avLst/>
          </a:prstGeom>
          <a:noFill/>
          <a:ln/>
        </p:spPr>
        <p:txBody>
          <a:bodyPr wrap="square" lIns="0" tIns="0" rIns="0" bIns="0" rtlCol="0" anchor="ctr"/>
          <a:lstStyle/>
          <a:p>
            <a:r>
              <a:rPr lang="tr-TR" sz="1420" b="1" dirty="0">
                <a:solidFill>
                  <a:srgbClr val="445C6D"/>
                </a:solidFill>
                <a:latin typeface="Aptos Display"/>
              </a:rPr>
              <a:t>Client </a:t>
            </a:r>
            <a:r>
              <a:rPr lang="tr-TR" sz="1420" b="1" dirty="0" err="1">
                <a:solidFill>
                  <a:srgbClr val="445C6D"/>
                </a:solidFill>
                <a:latin typeface="Aptos Display"/>
              </a:rPr>
              <a:t>features</a:t>
            </a:r>
            <a:r>
              <a:rPr lang="tr-TR" sz="1420" b="1" dirty="0">
                <a:solidFill>
                  <a:srgbClr val="445C6D"/>
                </a:solidFill>
                <a:latin typeface="Aptos Display"/>
              </a:rPr>
              <a:t> (6)</a:t>
            </a:r>
            <a:endParaRPr lang="tr-TR" sz="1420" dirty="0"/>
          </a:p>
        </p:txBody>
      </p:sp>
      <p:sp>
        <p:nvSpPr>
          <p:cNvPr id="37" name="Text 35"/>
          <p:cNvSpPr/>
          <p:nvPr/>
        </p:nvSpPr>
        <p:spPr>
          <a:xfrm>
            <a:off x="690908" y="5254871"/>
            <a:ext cx="2267712" cy="622117"/>
          </a:xfrm>
          <a:prstGeom prst="rect">
            <a:avLst/>
          </a:prstGeom>
          <a:noFill/>
          <a:ln/>
        </p:spPr>
        <p:txBody>
          <a:bodyPr wrap="square" lIns="254" tIns="254" rIns="254" bIns="254" rtlCol="0" anchor="t"/>
          <a:lstStyle/>
          <a:p>
            <a:r>
              <a:rPr lang="tr-TR" sz="1200" dirty="0"/>
              <a:t>Total DNS </a:t>
            </a:r>
            <a:r>
              <a:rPr lang="tr-TR" sz="1200" dirty="0" err="1"/>
              <a:t>request</a:t>
            </a:r>
            <a:r>
              <a:rPr lang="tr-TR" sz="1200" dirty="0"/>
              <a:t> </a:t>
            </a:r>
            <a:r>
              <a:rPr lang="tr-TR" sz="1200" dirty="0" err="1"/>
              <a:t>count</a:t>
            </a:r>
            <a:r>
              <a:rPr lang="tr-TR" sz="1200" dirty="0"/>
              <a:t>, </a:t>
            </a:r>
            <a:r>
              <a:rPr lang="tr-TR" sz="1200" dirty="0" err="1"/>
              <a:t>distinct</a:t>
            </a:r>
            <a:r>
              <a:rPr lang="tr-TR" sz="1200" dirty="0"/>
              <a:t> DNS </a:t>
            </a:r>
            <a:r>
              <a:rPr lang="tr-TR" sz="1200" dirty="0" err="1"/>
              <a:t>request</a:t>
            </a:r>
            <a:r>
              <a:rPr lang="tr-TR" sz="1200" dirty="0"/>
              <a:t> </a:t>
            </a:r>
            <a:r>
              <a:rPr lang="tr-TR" sz="1200" dirty="0" err="1"/>
              <a:t>count</a:t>
            </a:r>
            <a:r>
              <a:rPr lang="tr-TR" sz="1200" dirty="0"/>
              <a:t>, </a:t>
            </a:r>
            <a:r>
              <a:rPr lang="tr-TR" sz="1200" dirty="0" err="1"/>
              <a:t>average</a:t>
            </a:r>
            <a:r>
              <a:rPr lang="tr-TR" sz="1200" dirty="0"/>
              <a:t> </a:t>
            </a:r>
            <a:r>
              <a:rPr lang="tr-TR" sz="1200" dirty="0" err="1"/>
              <a:t>requests</a:t>
            </a:r>
            <a:r>
              <a:rPr lang="tr-TR" sz="1200" dirty="0"/>
              <a:t> </a:t>
            </a:r>
            <a:r>
              <a:rPr lang="tr-TR" sz="1200" dirty="0" err="1"/>
              <a:t>per</a:t>
            </a:r>
            <a:r>
              <a:rPr lang="tr-TR" sz="1200" dirty="0"/>
              <a:t> </a:t>
            </a:r>
            <a:r>
              <a:rPr lang="tr-TR" sz="1200" dirty="0" err="1"/>
              <a:t>minute</a:t>
            </a:r>
            <a:r>
              <a:rPr lang="tr-TR" sz="1200" dirty="0"/>
              <a:t>, </a:t>
            </a:r>
            <a:r>
              <a:rPr lang="tr-TR" sz="1200" dirty="0" err="1"/>
              <a:t>high-request</a:t>
            </a:r>
            <a:r>
              <a:rPr lang="tr-TR" sz="1200" dirty="0"/>
              <a:t> </a:t>
            </a:r>
            <a:r>
              <a:rPr lang="tr-TR" sz="1200" dirty="0" err="1"/>
              <a:t>minutes</a:t>
            </a:r>
            <a:r>
              <a:rPr lang="tr-TR" sz="1200" dirty="0"/>
              <a:t>, </a:t>
            </a:r>
            <a:r>
              <a:rPr lang="tr-TR" sz="1200" dirty="0" err="1"/>
              <a:t>successful</a:t>
            </a:r>
            <a:r>
              <a:rPr lang="tr-TR" sz="1200" dirty="0"/>
              <a:t> </a:t>
            </a:r>
            <a:r>
              <a:rPr lang="tr-TR" sz="1200" dirty="0" err="1"/>
              <a:t>response</a:t>
            </a:r>
            <a:r>
              <a:rPr lang="tr-TR" sz="1200" dirty="0"/>
              <a:t> </a:t>
            </a:r>
            <a:r>
              <a:rPr lang="tr-TR" sz="1200" dirty="0" err="1"/>
              <a:t>count</a:t>
            </a:r>
            <a:r>
              <a:rPr lang="tr-TR" sz="1200" dirty="0"/>
              <a:t>, </a:t>
            </a:r>
            <a:r>
              <a:rPr lang="tr-TR" sz="1200" dirty="0" err="1"/>
              <a:t>failed</a:t>
            </a:r>
            <a:r>
              <a:rPr lang="tr-TR" sz="1200" dirty="0"/>
              <a:t> </a:t>
            </a:r>
            <a:r>
              <a:rPr lang="tr-TR" sz="1200" dirty="0" err="1"/>
              <a:t>response</a:t>
            </a:r>
            <a:r>
              <a:rPr lang="tr-TR" sz="1200" dirty="0"/>
              <a:t> </a:t>
            </a:r>
            <a:r>
              <a:rPr lang="tr-TR" sz="1200" dirty="0" err="1"/>
              <a:t>count</a:t>
            </a:r>
            <a:endParaRPr lang="tr-TR" sz="1160" dirty="0"/>
          </a:p>
        </p:txBody>
      </p:sp>
      <p:sp>
        <p:nvSpPr>
          <p:cNvPr id="38" name="Shape 36"/>
          <p:cNvSpPr/>
          <p:nvPr/>
        </p:nvSpPr>
        <p:spPr>
          <a:xfrm>
            <a:off x="3179231" y="4941336"/>
            <a:ext cx="2404872" cy="1280663"/>
          </a:xfrm>
          <a:prstGeom prst="roundRect">
            <a:avLst>
              <a:gd name="adj" fmla="val 6863"/>
            </a:avLst>
          </a:prstGeom>
          <a:solidFill>
            <a:srgbClr val="F2F6F7"/>
          </a:solidFill>
          <a:ln w="12700">
            <a:solidFill>
              <a:srgbClr val="D9E3E4"/>
            </a:solidFill>
            <a:prstDash val="solid"/>
          </a:ln>
        </p:spPr>
        <p:txBody>
          <a:bodyPr/>
          <a:lstStyle/>
          <a:p>
            <a:endParaRPr/>
          </a:p>
        </p:txBody>
      </p:sp>
      <p:sp>
        <p:nvSpPr>
          <p:cNvPr id="39" name="Text 37"/>
          <p:cNvSpPr/>
          <p:nvPr/>
        </p:nvSpPr>
        <p:spPr>
          <a:xfrm>
            <a:off x="3380399" y="4996704"/>
            <a:ext cx="2093976" cy="256032"/>
          </a:xfrm>
          <a:prstGeom prst="rect">
            <a:avLst/>
          </a:prstGeom>
          <a:noFill/>
          <a:ln/>
        </p:spPr>
        <p:txBody>
          <a:bodyPr wrap="square" lIns="0" tIns="0" rIns="0" bIns="0" rtlCol="0" anchor="ctr"/>
          <a:lstStyle/>
          <a:p>
            <a:r>
              <a:rPr lang="tr-TR" sz="1420" b="1" dirty="0">
                <a:solidFill>
                  <a:srgbClr val="445C6D"/>
                </a:solidFill>
                <a:latin typeface="Aptos Display"/>
              </a:rPr>
              <a:t>Domain </a:t>
            </a:r>
            <a:r>
              <a:rPr lang="tr-TR" sz="1420" b="1" dirty="0" err="1">
                <a:solidFill>
                  <a:srgbClr val="445C6D"/>
                </a:solidFill>
                <a:latin typeface="Aptos Display"/>
              </a:rPr>
              <a:t>features</a:t>
            </a:r>
            <a:r>
              <a:rPr lang="tr-TR" sz="1420" b="1" dirty="0">
                <a:solidFill>
                  <a:srgbClr val="445C6D"/>
                </a:solidFill>
                <a:latin typeface="Aptos Display"/>
              </a:rPr>
              <a:t> (2)</a:t>
            </a:r>
            <a:endParaRPr lang="tr-TR" sz="1420" dirty="0"/>
          </a:p>
        </p:txBody>
      </p:sp>
      <p:sp>
        <p:nvSpPr>
          <p:cNvPr id="40" name="Text 38"/>
          <p:cNvSpPr/>
          <p:nvPr/>
        </p:nvSpPr>
        <p:spPr>
          <a:xfrm>
            <a:off x="3380399" y="5325888"/>
            <a:ext cx="2093976" cy="329184"/>
          </a:xfrm>
          <a:prstGeom prst="rect">
            <a:avLst/>
          </a:prstGeom>
          <a:noFill/>
          <a:ln/>
        </p:spPr>
        <p:txBody>
          <a:bodyPr wrap="square" lIns="254" tIns="254" rIns="254" bIns="254" rtlCol="0" anchor="t"/>
          <a:lstStyle/>
          <a:p>
            <a:r>
              <a:rPr lang="tr-TR" sz="1160" dirty="0" err="1">
                <a:solidFill>
                  <a:srgbClr val="1F2A33"/>
                </a:solidFill>
              </a:rPr>
              <a:t>Number</a:t>
            </a:r>
            <a:r>
              <a:rPr lang="tr-TR" sz="1160" dirty="0">
                <a:solidFill>
                  <a:srgbClr val="1F2A33"/>
                </a:solidFill>
              </a:rPr>
              <a:t> of </a:t>
            </a:r>
            <a:r>
              <a:rPr lang="tr-TR" sz="1160" dirty="0" err="1">
                <a:solidFill>
                  <a:srgbClr val="1F2A33"/>
                </a:solidFill>
              </a:rPr>
              <a:t>unique</a:t>
            </a:r>
            <a:r>
              <a:rPr lang="tr-TR" sz="1160" dirty="0">
                <a:solidFill>
                  <a:srgbClr val="1F2A33"/>
                </a:solidFill>
              </a:rPr>
              <a:t> </a:t>
            </a:r>
            <a:r>
              <a:rPr lang="tr-TR" sz="1160" dirty="0" err="1">
                <a:solidFill>
                  <a:srgbClr val="1F2A33"/>
                </a:solidFill>
              </a:rPr>
              <a:t>querying</a:t>
            </a:r>
            <a:r>
              <a:rPr lang="tr-TR" sz="1160" dirty="0">
                <a:solidFill>
                  <a:srgbClr val="1F2A33"/>
                </a:solidFill>
              </a:rPr>
              <a:t> </a:t>
            </a:r>
            <a:r>
              <a:rPr lang="tr-TR" sz="1160" dirty="0" err="1">
                <a:solidFill>
                  <a:srgbClr val="1F2A33"/>
                </a:solidFill>
              </a:rPr>
              <a:t>clients</a:t>
            </a:r>
            <a:r>
              <a:rPr lang="tr-TR" sz="1160" dirty="0">
                <a:solidFill>
                  <a:srgbClr val="1F2A33"/>
                </a:solidFill>
              </a:rPr>
              <a:t> </a:t>
            </a:r>
            <a:r>
              <a:rPr lang="tr-TR" sz="1160" dirty="0" err="1">
                <a:solidFill>
                  <a:srgbClr val="1F2A33"/>
                </a:solidFill>
              </a:rPr>
              <a:t>and</a:t>
            </a:r>
            <a:r>
              <a:rPr lang="tr-TR" sz="1160" dirty="0">
                <a:solidFill>
                  <a:srgbClr val="1F2A33"/>
                </a:solidFill>
              </a:rPr>
              <a:t> </a:t>
            </a:r>
            <a:r>
              <a:rPr lang="tr-TR" sz="1160" dirty="0" err="1">
                <a:solidFill>
                  <a:srgbClr val="1F2A33"/>
                </a:solidFill>
              </a:rPr>
              <a:t>maliciousness</a:t>
            </a:r>
            <a:r>
              <a:rPr lang="tr-TR" sz="1160" dirty="0">
                <a:solidFill>
                  <a:srgbClr val="1F2A33"/>
                </a:solidFill>
              </a:rPr>
              <a:t> </a:t>
            </a:r>
            <a:r>
              <a:rPr lang="tr-TR" sz="1160" dirty="0" err="1">
                <a:solidFill>
                  <a:srgbClr val="1F2A33"/>
                </a:solidFill>
              </a:rPr>
              <a:t>score</a:t>
            </a:r>
            <a:r>
              <a:rPr lang="tr-TR" sz="1160" dirty="0">
                <a:solidFill>
                  <a:srgbClr val="1F2A33"/>
                </a:solidFill>
              </a:rPr>
              <a:t>.</a:t>
            </a:r>
            <a:endParaRPr lang="tr-TR" sz="1160" dirty="0"/>
          </a:p>
        </p:txBody>
      </p:sp>
      <p:sp>
        <p:nvSpPr>
          <p:cNvPr id="41" name="Shape 39"/>
          <p:cNvSpPr/>
          <p:nvPr/>
        </p:nvSpPr>
        <p:spPr>
          <a:xfrm>
            <a:off x="5928360" y="1345525"/>
            <a:ext cx="5440680" cy="4526280"/>
          </a:xfrm>
          <a:prstGeom prst="roundRect">
            <a:avLst>
              <a:gd name="adj" fmla="val 1212"/>
            </a:avLst>
          </a:prstGeom>
          <a:solidFill>
            <a:srgbClr val="FFFFFF"/>
          </a:solidFill>
          <a:ln w="15240">
            <a:solidFill>
              <a:srgbClr val="D6E0E2"/>
            </a:solidFill>
            <a:prstDash val="solid"/>
          </a:ln>
        </p:spPr>
        <p:txBody>
          <a:bodyPr/>
          <a:lstStyle/>
          <a:p>
            <a:endParaRPr dirty="0"/>
          </a:p>
        </p:txBody>
      </p:sp>
      <p:sp>
        <p:nvSpPr>
          <p:cNvPr id="42" name="Text 40"/>
          <p:cNvSpPr/>
          <p:nvPr/>
        </p:nvSpPr>
        <p:spPr>
          <a:xfrm>
            <a:off x="6419088" y="1403604"/>
            <a:ext cx="3017520" cy="320040"/>
          </a:xfrm>
          <a:prstGeom prst="rect">
            <a:avLst/>
          </a:prstGeom>
          <a:noFill/>
          <a:ln/>
        </p:spPr>
        <p:txBody>
          <a:bodyPr wrap="square" lIns="0" tIns="0" rIns="0" bIns="0" rtlCol="0" anchor="ctr"/>
          <a:lstStyle/>
          <a:p>
            <a:r>
              <a:rPr lang="tr-TR" sz="1600" b="1" dirty="0">
                <a:solidFill>
                  <a:srgbClr val="445C6D"/>
                </a:solidFill>
                <a:latin typeface="Aptos Display"/>
              </a:rPr>
              <a:t>White-</a:t>
            </a:r>
            <a:r>
              <a:rPr lang="tr-TR" sz="1600" b="1" dirty="0" err="1">
                <a:solidFill>
                  <a:srgbClr val="445C6D"/>
                </a:solidFill>
                <a:latin typeface="Aptos Display"/>
              </a:rPr>
              <a:t>box</a:t>
            </a:r>
            <a:r>
              <a:rPr lang="tr-TR" sz="1600" b="1" dirty="0">
                <a:solidFill>
                  <a:srgbClr val="445C6D"/>
                </a:solidFill>
                <a:latin typeface="Aptos Display"/>
              </a:rPr>
              <a:t> </a:t>
            </a:r>
            <a:r>
              <a:rPr lang="tr-TR" sz="1600" b="1" dirty="0" err="1">
                <a:solidFill>
                  <a:srgbClr val="445C6D"/>
                </a:solidFill>
                <a:latin typeface="Aptos Display"/>
              </a:rPr>
              <a:t>feature</a:t>
            </a:r>
            <a:r>
              <a:rPr lang="tr-TR" sz="1600" b="1" dirty="0">
                <a:solidFill>
                  <a:srgbClr val="445C6D"/>
                </a:solidFill>
                <a:latin typeface="Aptos Display"/>
              </a:rPr>
              <a:t> </a:t>
            </a:r>
            <a:r>
              <a:rPr lang="tr-TR" sz="1600" b="1" dirty="0" err="1">
                <a:solidFill>
                  <a:srgbClr val="445C6D"/>
                </a:solidFill>
                <a:latin typeface="Aptos Display"/>
              </a:rPr>
              <a:t>attack</a:t>
            </a:r>
            <a:endParaRPr lang="tr-TR" sz="1600" dirty="0"/>
          </a:p>
        </p:txBody>
      </p:sp>
      <p:sp>
        <p:nvSpPr>
          <p:cNvPr id="43" name="Text 41"/>
          <p:cNvSpPr/>
          <p:nvPr/>
        </p:nvSpPr>
        <p:spPr>
          <a:xfrm>
            <a:off x="6419088" y="1669857"/>
            <a:ext cx="4480560" cy="502920"/>
          </a:xfrm>
          <a:prstGeom prst="rect">
            <a:avLst/>
          </a:prstGeom>
          <a:noFill/>
          <a:ln/>
        </p:spPr>
        <p:txBody>
          <a:bodyPr wrap="square" lIns="0" tIns="0" rIns="0" bIns="0" rtlCol="0" anchor="ctr"/>
          <a:lstStyle/>
          <a:p>
            <a:r>
              <a:rPr lang="tr-TR" sz="1320" dirty="0" err="1">
                <a:solidFill>
                  <a:srgbClr val="1F2A33"/>
                </a:solidFill>
              </a:rPr>
              <a:t>The</a:t>
            </a:r>
            <a:r>
              <a:rPr lang="tr-TR" sz="1320" dirty="0">
                <a:solidFill>
                  <a:srgbClr val="1F2A33"/>
                </a:solidFill>
              </a:rPr>
              <a:t> </a:t>
            </a:r>
            <a:r>
              <a:rPr lang="tr-TR" sz="1320" dirty="0" err="1">
                <a:solidFill>
                  <a:srgbClr val="1F2A33"/>
                </a:solidFill>
              </a:rPr>
              <a:t>attacker</a:t>
            </a:r>
            <a:r>
              <a:rPr lang="tr-TR" sz="1320" dirty="0">
                <a:solidFill>
                  <a:srgbClr val="1F2A33"/>
                </a:solidFill>
              </a:rPr>
              <a:t> can </a:t>
            </a:r>
            <a:r>
              <a:rPr lang="tr-TR" sz="1320" dirty="0" err="1">
                <a:solidFill>
                  <a:srgbClr val="1F2A33"/>
                </a:solidFill>
              </a:rPr>
              <a:t>access</a:t>
            </a:r>
            <a:r>
              <a:rPr lang="tr-TR" sz="1320" dirty="0">
                <a:solidFill>
                  <a:srgbClr val="1F2A33"/>
                </a:solidFill>
              </a:rPr>
              <a:t> model </a:t>
            </a:r>
            <a:r>
              <a:rPr lang="tr-TR" sz="1320" dirty="0" err="1">
                <a:solidFill>
                  <a:srgbClr val="1F2A33"/>
                </a:solidFill>
              </a:rPr>
              <a:t>parameters</a:t>
            </a:r>
            <a:r>
              <a:rPr lang="tr-TR" sz="1320" dirty="0">
                <a:solidFill>
                  <a:srgbClr val="1F2A33"/>
                </a:solidFill>
              </a:rPr>
              <a:t> </a:t>
            </a:r>
            <a:r>
              <a:rPr lang="tr-TR" sz="1320" dirty="0" err="1">
                <a:solidFill>
                  <a:srgbClr val="1F2A33"/>
                </a:solidFill>
              </a:rPr>
              <a:t>and</a:t>
            </a:r>
            <a:r>
              <a:rPr lang="tr-TR" sz="1320" dirty="0">
                <a:solidFill>
                  <a:srgbClr val="1F2A33"/>
                </a:solidFill>
              </a:rPr>
              <a:t> </a:t>
            </a:r>
            <a:r>
              <a:rPr lang="tr-TR" sz="1320" dirty="0" err="1">
                <a:solidFill>
                  <a:srgbClr val="1F2A33"/>
                </a:solidFill>
              </a:rPr>
              <a:t>input</a:t>
            </a:r>
            <a:r>
              <a:rPr lang="tr-TR" sz="1320" dirty="0">
                <a:solidFill>
                  <a:srgbClr val="1F2A33"/>
                </a:solidFill>
              </a:rPr>
              <a:t> </a:t>
            </a:r>
            <a:r>
              <a:rPr lang="tr-TR" sz="1320" dirty="0" err="1">
                <a:solidFill>
                  <a:srgbClr val="1F2A33"/>
                </a:solidFill>
              </a:rPr>
              <a:t>gradients</a:t>
            </a:r>
            <a:r>
              <a:rPr lang="tr-TR" sz="1320" dirty="0">
                <a:solidFill>
                  <a:srgbClr val="1F2A33"/>
                </a:solidFill>
              </a:rPr>
              <a:t>.</a:t>
            </a:r>
            <a:endParaRPr lang="tr-TR" sz="1320" dirty="0"/>
          </a:p>
        </p:txBody>
      </p:sp>
      <p:sp>
        <p:nvSpPr>
          <p:cNvPr id="44" name="Shape 42"/>
          <p:cNvSpPr/>
          <p:nvPr/>
        </p:nvSpPr>
        <p:spPr>
          <a:xfrm>
            <a:off x="6419088" y="3306913"/>
            <a:ext cx="1234440" cy="512064"/>
          </a:xfrm>
          <a:prstGeom prst="roundRect">
            <a:avLst>
              <a:gd name="adj" fmla="val 8929"/>
            </a:avLst>
          </a:prstGeom>
          <a:solidFill>
            <a:srgbClr val="EAF1F2"/>
          </a:solidFill>
          <a:ln w="12700">
            <a:solidFill>
              <a:srgbClr val="EAF1F2"/>
            </a:solidFill>
            <a:prstDash val="solid"/>
          </a:ln>
        </p:spPr>
        <p:txBody>
          <a:bodyPr/>
          <a:lstStyle/>
          <a:p>
            <a:endParaRPr/>
          </a:p>
        </p:txBody>
      </p:sp>
      <p:sp>
        <p:nvSpPr>
          <p:cNvPr id="45" name="Text 43"/>
          <p:cNvSpPr/>
          <p:nvPr/>
        </p:nvSpPr>
        <p:spPr>
          <a:xfrm>
            <a:off x="6894576" y="3444073"/>
            <a:ext cx="274320" cy="164592"/>
          </a:xfrm>
          <a:prstGeom prst="rect">
            <a:avLst/>
          </a:prstGeom>
          <a:noFill/>
          <a:ln/>
        </p:spPr>
        <p:txBody>
          <a:bodyPr wrap="square" lIns="0" tIns="0" rIns="0" bIns="0" rtlCol="0" anchor="ctr"/>
          <a:lstStyle/>
          <a:p>
            <a:pPr marL="0" indent="0" algn="ctr">
              <a:buNone/>
            </a:pPr>
            <a:r>
              <a:rPr lang="en-US" sz="1600" b="1">
                <a:solidFill>
                  <a:srgbClr val="445C6D"/>
                </a:solidFill>
              </a:rPr>
              <a:t>X</a:t>
            </a:r>
            <a:endParaRPr lang="en-US" sz="1600"/>
          </a:p>
        </p:txBody>
      </p:sp>
      <p:sp>
        <p:nvSpPr>
          <p:cNvPr id="46" name="Text 44"/>
          <p:cNvSpPr/>
          <p:nvPr/>
        </p:nvSpPr>
        <p:spPr>
          <a:xfrm>
            <a:off x="7754112" y="3380065"/>
            <a:ext cx="502920" cy="274320"/>
          </a:xfrm>
          <a:prstGeom prst="rect">
            <a:avLst/>
          </a:prstGeom>
          <a:noFill/>
          <a:ln/>
        </p:spPr>
        <p:txBody>
          <a:bodyPr wrap="square" lIns="0" tIns="0" rIns="0" bIns="0" rtlCol="0" anchor="ctr"/>
          <a:lstStyle/>
          <a:p>
            <a:pPr marL="0" indent="0" algn="ctr">
              <a:buNone/>
            </a:pPr>
            <a:r>
              <a:rPr lang="en-US" sz="2200">
                <a:solidFill>
                  <a:srgbClr val="B65C5C"/>
                </a:solidFill>
              </a:rPr>
              <a:t>→</a:t>
            </a:r>
            <a:endParaRPr lang="en-US" sz="2200"/>
          </a:p>
        </p:txBody>
      </p:sp>
      <p:sp>
        <p:nvSpPr>
          <p:cNvPr id="47" name="Shape 45"/>
          <p:cNvSpPr/>
          <p:nvPr/>
        </p:nvSpPr>
        <p:spPr>
          <a:xfrm>
            <a:off x="8321040" y="3306913"/>
            <a:ext cx="1234440" cy="512064"/>
          </a:xfrm>
          <a:prstGeom prst="roundRect">
            <a:avLst>
              <a:gd name="adj" fmla="val 8929"/>
            </a:avLst>
          </a:prstGeom>
          <a:solidFill>
            <a:srgbClr val="F6EAEA"/>
          </a:solidFill>
          <a:ln w="12700">
            <a:solidFill>
              <a:srgbClr val="F6EAEA"/>
            </a:solidFill>
            <a:prstDash val="solid"/>
          </a:ln>
        </p:spPr>
        <p:txBody>
          <a:bodyPr/>
          <a:lstStyle/>
          <a:p>
            <a:endParaRPr/>
          </a:p>
        </p:txBody>
      </p:sp>
      <p:sp>
        <p:nvSpPr>
          <p:cNvPr id="48" name="Text 46"/>
          <p:cNvSpPr/>
          <p:nvPr/>
        </p:nvSpPr>
        <p:spPr>
          <a:xfrm>
            <a:off x="8723376" y="3444073"/>
            <a:ext cx="411480" cy="164592"/>
          </a:xfrm>
          <a:prstGeom prst="rect">
            <a:avLst/>
          </a:prstGeom>
          <a:noFill/>
          <a:ln/>
        </p:spPr>
        <p:txBody>
          <a:bodyPr wrap="square" lIns="0" tIns="0" rIns="0" bIns="0" rtlCol="0" anchor="ctr"/>
          <a:lstStyle/>
          <a:p>
            <a:pPr marL="0" indent="0" algn="ctr">
              <a:buNone/>
            </a:pPr>
            <a:r>
              <a:rPr lang="en-US" sz="1600" b="1">
                <a:solidFill>
                  <a:srgbClr val="B65C5C"/>
                </a:solidFill>
              </a:rPr>
              <a:t>X′</a:t>
            </a:r>
            <a:endParaRPr lang="en-US" sz="1600"/>
          </a:p>
        </p:txBody>
      </p:sp>
      <p:sp>
        <p:nvSpPr>
          <p:cNvPr id="49" name="Text 47"/>
          <p:cNvSpPr/>
          <p:nvPr/>
        </p:nvSpPr>
        <p:spPr>
          <a:xfrm>
            <a:off x="9802368" y="3407497"/>
            <a:ext cx="1234440" cy="182880"/>
          </a:xfrm>
          <a:prstGeom prst="rect">
            <a:avLst/>
          </a:prstGeom>
          <a:noFill/>
          <a:ln/>
        </p:spPr>
        <p:txBody>
          <a:bodyPr wrap="square" lIns="0" tIns="0" rIns="0" bIns="0" rtlCol="0" anchor="ctr"/>
          <a:lstStyle/>
          <a:p>
            <a:r>
              <a:rPr lang="tr-TR" sz="1020" b="1" dirty="0" err="1">
                <a:solidFill>
                  <a:srgbClr val="B65C5C"/>
                </a:solidFill>
              </a:rPr>
              <a:t>Feature</a:t>
            </a:r>
            <a:r>
              <a:rPr lang="tr-TR" sz="1020" b="1" dirty="0">
                <a:solidFill>
                  <a:srgbClr val="B65C5C"/>
                </a:solidFill>
              </a:rPr>
              <a:t> </a:t>
            </a:r>
            <a:r>
              <a:rPr lang="tr-TR" sz="1020" b="1" dirty="0" err="1">
                <a:solidFill>
                  <a:srgbClr val="B65C5C"/>
                </a:solidFill>
              </a:rPr>
              <a:t>perturbation</a:t>
            </a:r>
            <a:endParaRPr lang="tr-TR" sz="1020" dirty="0"/>
          </a:p>
        </p:txBody>
      </p:sp>
      <p:sp>
        <p:nvSpPr>
          <p:cNvPr id="50" name="Text 48"/>
          <p:cNvSpPr/>
          <p:nvPr/>
        </p:nvSpPr>
        <p:spPr>
          <a:xfrm>
            <a:off x="6419088" y="3990137"/>
            <a:ext cx="4389120" cy="292608"/>
          </a:xfrm>
          <a:prstGeom prst="rect">
            <a:avLst/>
          </a:prstGeom>
          <a:noFill/>
          <a:ln/>
        </p:spPr>
        <p:txBody>
          <a:bodyPr wrap="square" lIns="0" tIns="0" rIns="0" bIns="0" rtlCol="0" anchor="ctr"/>
          <a:lstStyle/>
          <a:p>
            <a:r>
              <a:rPr lang="tr-TR" sz="1420" b="1" dirty="0" err="1">
                <a:solidFill>
                  <a:srgbClr val="5E8E79"/>
                </a:solidFill>
              </a:rPr>
              <a:t>Graph</a:t>
            </a:r>
            <a:r>
              <a:rPr lang="tr-TR" sz="1420" b="1" dirty="0">
                <a:solidFill>
                  <a:srgbClr val="5E8E79"/>
                </a:solidFill>
              </a:rPr>
              <a:t> </a:t>
            </a:r>
            <a:r>
              <a:rPr lang="tr-TR" sz="1420" b="1" dirty="0" err="1">
                <a:solidFill>
                  <a:srgbClr val="5E8E79"/>
                </a:solidFill>
              </a:rPr>
              <a:t>topology</a:t>
            </a:r>
            <a:r>
              <a:rPr lang="tr-TR" sz="1420" b="1" dirty="0">
                <a:solidFill>
                  <a:srgbClr val="5E8E79"/>
                </a:solidFill>
              </a:rPr>
              <a:t> </a:t>
            </a:r>
            <a:r>
              <a:rPr lang="tr-TR" sz="1420" b="1" dirty="0" err="1">
                <a:solidFill>
                  <a:srgbClr val="5E8E79"/>
                </a:solidFill>
              </a:rPr>
              <a:t>remains</a:t>
            </a:r>
            <a:r>
              <a:rPr lang="tr-TR" sz="1420" b="1" dirty="0">
                <a:solidFill>
                  <a:srgbClr val="5E8E79"/>
                </a:solidFill>
              </a:rPr>
              <a:t> </a:t>
            </a:r>
            <a:r>
              <a:rPr lang="tr-TR" sz="1420" b="1" dirty="0" err="1">
                <a:solidFill>
                  <a:srgbClr val="5E8E79"/>
                </a:solidFill>
              </a:rPr>
              <a:t>fixed</a:t>
            </a:r>
            <a:endParaRPr lang="tr-TR" sz="1420" dirty="0"/>
          </a:p>
        </p:txBody>
      </p:sp>
      <p:sp>
        <p:nvSpPr>
          <p:cNvPr id="51" name="Text 49"/>
          <p:cNvSpPr/>
          <p:nvPr/>
        </p:nvSpPr>
        <p:spPr>
          <a:xfrm>
            <a:off x="6428232" y="4351638"/>
            <a:ext cx="4526280" cy="694944"/>
          </a:xfrm>
          <a:prstGeom prst="rect">
            <a:avLst/>
          </a:prstGeom>
          <a:noFill/>
          <a:ln/>
        </p:spPr>
        <p:txBody>
          <a:bodyPr wrap="square" lIns="0" tIns="0" rIns="0" bIns="0" rtlCol="0" anchor="ctr"/>
          <a:lstStyle/>
          <a:p>
            <a:r>
              <a:rPr lang="tr-TR" sz="1320" dirty="0" err="1">
                <a:solidFill>
                  <a:srgbClr val="1F2A33"/>
                </a:solidFill>
              </a:rPr>
              <a:t>Only</a:t>
            </a:r>
            <a:r>
              <a:rPr lang="tr-TR" sz="1320" dirty="0">
                <a:solidFill>
                  <a:srgbClr val="1F2A33"/>
                </a:solidFill>
              </a:rPr>
              <a:t> </a:t>
            </a:r>
            <a:r>
              <a:rPr lang="tr-TR" sz="1320" dirty="0" err="1">
                <a:solidFill>
                  <a:srgbClr val="1F2A33"/>
                </a:solidFill>
              </a:rPr>
              <a:t>client-node</a:t>
            </a:r>
            <a:r>
              <a:rPr lang="tr-TR" sz="1320" dirty="0">
                <a:solidFill>
                  <a:srgbClr val="1F2A33"/>
                </a:solidFill>
              </a:rPr>
              <a:t> </a:t>
            </a:r>
            <a:r>
              <a:rPr lang="tr-TR" sz="1320" dirty="0" err="1">
                <a:solidFill>
                  <a:srgbClr val="1F2A33"/>
                </a:solidFill>
              </a:rPr>
              <a:t>features</a:t>
            </a:r>
            <a:r>
              <a:rPr lang="tr-TR" sz="1320" dirty="0">
                <a:solidFill>
                  <a:srgbClr val="1F2A33"/>
                </a:solidFill>
              </a:rPr>
              <a:t> </a:t>
            </a:r>
            <a:r>
              <a:rPr lang="tr-TR" sz="1320" dirty="0" err="1">
                <a:solidFill>
                  <a:srgbClr val="1F2A33"/>
                </a:solidFill>
              </a:rPr>
              <a:t>are</a:t>
            </a:r>
            <a:r>
              <a:rPr lang="tr-TR" sz="1320" dirty="0">
                <a:solidFill>
                  <a:srgbClr val="1F2A33"/>
                </a:solidFill>
              </a:rPr>
              <a:t> </a:t>
            </a:r>
            <a:r>
              <a:rPr lang="tr-TR" sz="1320" dirty="0" err="1">
                <a:solidFill>
                  <a:srgbClr val="1F2A33"/>
                </a:solidFill>
              </a:rPr>
              <a:t>perturbed</a:t>
            </a:r>
            <a:r>
              <a:rPr lang="tr-TR" sz="1320" dirty="0">
                <a:solidFill>
                  <a:srgbClr val="1F2A33"/>
                </a:solidFill>
              </a:rPr>
              <a:t>; domain </a:t>
            </a:r>
            <a:r>
              <a:rPr lang="tr-TR" sz="1320" dirty="0" err="1">
                <a:solidFill>
                  <a:srgbClr val="1F2A33"/>
                </a:solidFill>
              </a:rPr>
              <a:t>features</a:t>
            </a:r>
            <a:r>
              <a:rPr lang="tr-TR" sz="1320" dirty="0">
                <a:solidFill>
                  <a:srgbClr val="1F2A33"/>
                </a:solidFill>
              </a:rPr>
              <a:t> </a:t>
            </a:r>
            <a:r>
              <a:rPr lang="tr-TR" sz="1320" dirty="0" err="1">
                <a:solidFill>
                  <a:srgbClr val="1F2A33"/>
                </a:solidFill>
              </a:rPr>
              <a:t>and</a:t>
            </a:r>
            <a:r>
              <a:rPr lang="tr-TR" sz="1320" dirty="0">
                <a:solidFill>
                  <a:srgbClr val="1F2A33"/>
                </a:solidFill>
              </a:rPr>
              <a:t> </a:t>
            </a:r>
            <a:r>
              <a:rPr lang="tr-TR" sz="1320" dirty="0" err="1">
                <a:solidFill>
                  <a:srgbClr val="1F2A33"/>
                </a:solidFill>
              </a:rPr>
              <a:t>structural</a:t>
            </a:r>
            <a:r>
              <a:rPr lang="tr-TR" sz="1320" dirty="0">
                <a:solidFill>
                  <a:srgbClr val="1F2A33"/>
                </a:solidFill>
              </a:rPr>
              <a:t> </a:t>
            </a:r>
            <a:r>
              <a:rPr lang="tr-TR" sz="1320" dirty="0" err="1">
                <a:solidFill>
                  <a:srgbClr val="1F2A33"/>
                </a:solidFill>
              </a:rPr>
              <a:t>links</a:t>
            </a:r>
            <a:r>
              <a:rPr lang="tr-TR" sz="1320" dirty="0">
                <a:solidFill>
                  <a:srgbClr val="1F2A33"/>
                </a:solidFill>
              </a:rPr>
              <a:t> </a:t>
            </a:r>
            <a:r>
              <a:rPr lang="tr-TR" sz="1320" dirty="0" err="1">
                <a:solidFill>
                  <a:srgbClr val="1F2A33"/>
                </a:solidFill>
              </a:rPr>
              <a:t>are</a:t>
            </a:r>
            <a:r>
              <a:rPr lang="tr-TR" sz="1320" dirty="0">
                <a:solidFill>
                  <a:srgbClr val="1F2A33"/>
                </a:solidFill>
              </a:rPr>
              <a:t> </a:t>
            </a:r>
            <a:r>
              <a:rPr lang="tr-TR" sz="1320" dirty="0" err="1">
                <a:solidFill>
                  <a:srgbClr val="1F2A33"/>
                </a:solidFill>
              </a:rPr>
              <a:t>unchanged</a:t>
            </a:r>
            <a:r>
              <a:rPr lang="tr-TR" sz="1320" dirty="0">
                <a:solidFill>
                  <a:srgbClr val="1F2A33"/>
                </a:solidFill>
              </a:rPr>
              <a:t>.</a:t>
            </a:r>
            <a:endParaRPr lang="tr-TR" sz="1320" dirty="0"/>
          </a:p>
        </p:txBody>
      </p:sp>
      <p:sp>
        <p:nvSpPr>
          <p:cNvPr id="52" name="Shape 50"/>
          <p:cNvSpPr/>
          <p:nvPr/>
        </p:nvSpPr>
        <p:spPr>
          <a:xfrm>
            <a:off x="6428232" y="5294915"/>
            <a:ext cx="1005840" cy="347472"/>
          </a:xfrm>
          <a:prstGeom prst="roundRect">
            <a:avLst>
              <a:gd name="adj" fmla="val 21053"/>
            </a:avLst>
          </a:prstGeom>
          <a:solidFill>
            <a:srgbClr val="F4E4E4"/>
          </a:solidFill>
          <a:ln w="12700">
            <a:solidFill>
              <a:srgbClr val="F4E4E4"/>
            </a:solidFill>
            <a:prstDash val="solid"/>
          </a:ln>
        </p:spPr>
        <p:txBody>
          <a:bodyPr/>
          <a:lstStyle/>
          <a:p>
            <a:endParaRPr/>
          </a:p>
        </p:txBody>
      </p:sp>
      <p:sp>
        <p:nvSpPr>
          <p:cNvPr id="53" name="Text 51"/>
          <p:cNvSpPr/>
          <p:nvPr/>
        </p:nvSpPr>
        <p:spPr>
          <a:xfrm>
            <a:off x="6501384" y="5372639"/>
            <a:ext cx="859536" cy="164592"/>
          </a:xfrm>
          <a:prstGeom prst="rect">
            <a:avLst/>
          </a:prstGeom>
          <a:noFill/>
          <a:ln/>
        </p:spPr>
        <p:txBody>
          <a:bodyPr wrap="square" lIns="0" tIns="0" rIns="0" bIns="0" rtlCol="0" anchor="ctr"/>
          <a:lstStyle/>
          <a:p>
            <a:pPr marL="0" indent="0" algn="ctr">
              <a:buNone/>
            </a:pPr>
            <a:r>
              <a:rPr lang="en-US" sz="950" b="1">
                <a:solidFill>
                  <a:srgbClr val="B65C5C"/>
                </a:solidFill>
                <a:latin typeface="Aptos" pitchFamily="34" charset="0"/>
                <a:ea typeface="Aptos" pitchFamily="34" charset="-122"/>
                <a:cs typeface="Aptos" pitchFamily="34" charset="-120"/>
              </a:rPr>
              <a:t>FGSM</a:t>
            </a:r>
            <a:endParaRPr lang="en-US" sz="950"/>
          </a:p>
        </p:txBody>
      </p:sp>
      <p:sp>
        <p:nvSpPr>
          <p:cNvPr id="54" name="Shape 52"/>
          <p:cNvSpPr/>
          <p:nvPr/>
        </p:nvSpPr>
        <p:spPr>
          <a:xfrm>
            <a:off x="7616952" y="5294915"/>
            <a:ext cx="1005840" cy="347472"/>
          </a:xfrm>
          <a:prstGeom prst="roundRect">
            <a:avLst>
              <a:gd name="adj" fmla="val 21053"/>
            </a:avLst>
          </a:prstGeom>
          <a:solidFill>
            <a:srgbClr val="F4E4E4"/>
          </a:solidFill>
          <a:ln w="12700">
            <a:solidFill>
              <a:srgbClr val="F4E4E4"/>
            </a:solidFill>
            <a:prstDash val="solid"/>
          </a:ln>
        </p:spPr>
        <p:txBody>
          <a:bodyPr/>
          <a:lstStyle/>
          <a:p>
            <a:endParaRPr/>
          </a:p>
        </p:txBody>
      </p:sp>
      <p:sp>
        <p:nvSpPr>
          <p:cNvPr id="55" name="Text 53"/>
          <p:cNvSpPr/>
          <p:nvPr/>
        </p:nvSpPr>
        <p:spPr>
          <a:xfrm>
            <a:off x="7690104" y="5372639"/>
            <a:ext cx="859536" cy="164592"/>
          </a:xfrm>
          <a:prstGeom prst="rect">
            <a:avLst/>
          </a:prstGeom>
          <a:noFill/>
          <a:ln/>
        </p:spPr>
        <p:txBody>
          <a:bodyPr wrap="square" lIns="0" tIns="0" rIns="0" bIns="0" rtlCol="0" anchor="ctr"/>
          <a:lstStyle/>
          <a:p>
            <a:pPr marL="0" indent="0" algn="ctr">
              <a:buNone/>
            </a:pPr>
            <a:r>
              <a:rPr lang="en-US" sz="950" b="1">
                <a:solidFill>
                  <a:srgbClr val="B65C5C"/>
                </a:solidFill>
                <a:latin typeface="Aptos" pitchFamily="34" charset="0"/>
                <a:ea typeface="Aptos" pitchFamily="34" charset="-122"/>
                <a:cs typeface="Aptos" pitchFamily="34" charset="-120"/>
              </a:rPr>
              <a:t>PGD</a:t>
            </a:r>
            <a:endParaRPr lang="en-US" sz="950"/>
          </a:p>
        </p:txBody>
      </p:sp>
      <p:sp>
        <p:nvSpPr>
          <p:cNvPr id="56" name="Shape 54"/>
          <p:cNvSpPr/>
          <p:nvPr/>
        </p:nvSpPr>
        <p:spPr>
          <a:xfrm>
            <a:off x="8805672" y="5294915"/>
            <a:ext cx="1005840" cy="347472"/>
          </a:xfrm>
          <a:prstGeom prst="roundRect">
            <a:avLst>
              <a:gd name="adj" fmla="val 21053"/>
            </a:avLst>
          </a:prstGeom>
          <a:solidFill>
            <a:srgbClr val="F4E4E4"/>
          </a:solidFill>
          <a:ln w="12700">
            <a:solidFill>
              <a:srgbClr val="F4E4E4"/>
            </a:solidFill>
            <a:prstDash val="solid"/>
          </a:ln>
        </p:spPr>
        <p:txBody>
          <a:bodyPr/>
          <a:lstStyle/>
          <a:p>
            <a:endParaRPr/>
          </a:p>
        </p:txBody>
      </p:sp>
      <p:sp>
        <p:nvSpPr>
          <p:cNvPr id="57" name="Text 55"/>
          <p:cNvSpPr/>
          <p:nvPr/>
        </p:nvSpPr>
        <p:spPr>
          <a:xfrm>
            <a:off x="8878824" y="5372639"/>
            <a:ext cx="859536" cy="164592"/>
          </a:xfrm>
          <a:prstGeom prst="rect">
            <a:avLst/>
          </a:prstGeom>
          <a:noFill/>
          <a:ln/>
        </p:spPr>
        <p:txBody>
          <a:bodyPr wrap="square" lIns="0" tIns="0" rIns="0" bIns="0" rtlCol="0" anchor="ctr"/>
          <a:lstStyle/>
          <a:p>
            <a:pPr marL="0" indent="0" algn="ctr">
              <a:buNone/>
            </a:pPr>
            <a:r>
              <a:rPr lang="en-US" sz="950" b="1">
                <a:solidFill>
                  <a:srgbClr val="B65C5C"/>
                </a:solidFill>
                <a:latin typeface="Aptos" pitchFamily="34" charset="0"/>
                <a:ea typeface="Aptos" pitchFamily="34" charset="-122"/>
                <a:cs typeface="Aptos" pitchFamily="34" charset="-120"/>
              </a:rPr>
              <a:t>BIM</a:t>
            </a:r>
            <a:endParaRPr lang="en-US" sz="950"/>
          </a:p>
        </p:txBody>
      </p:sp>
      <p:sp>
        <p:nvSpPr>
          <p:cNvPr id="58" name="Shape 56"/>
          <p:cNvSpPr/>
          <p:nvPr/>
        </p:nvSpPr>
        <p:spPr>
          <a:xfrm>
            <a:off x="9994392" y="5294915"/>
            <a:ext cx="1280160" cy="347472"/>
          </a:xfrm>
          <a:prstGeom prst="roundRect">
            <a:avLst>
              <a:gd name="adj" fmla="val 21053"/>
            </a:avLst>
          </a:prstGeom>
          <a:solidFill>
            <a:srgbClr val="EEF3F3"/>
          </a:solidFill>
          <a:ln w="12700">
            <a:solidFill>
              <a:srgbClr val="EEF3F3"/>
            </a:solidFill>
            <a:prstDash val="solid"/>
          </a:ln>
        </p:spPr>
        <p:txBody>
          <a:bodyPr/>
          <a:lstStyle/>
          <a:p>
            <a:endParaRPr/>
          </a:p>
        </p:txBody>
      </p:sp>
      <p:sp>
        <p:nvSpPr>
          <p:cNvPr id="59" name="Text 57"/>
          <p:cNvSpPr/>
          <p:nvPr/>
        </p:nvSpPr>
        <p:spPr>
          <a:xfrm>
            <a:off x="10067544" y="5372639"/>
            <a:ext cx="1133856" cy="164592"/>
          </a:xfrm>
          <a:prstGeom prst="rect">
            <a:avLst/>
          </a:prstGeom>
          <a:noFill/>
          <a:ln/>
        </p:spPr>
        <p:txBody>
          <a:bodyPr wrap="square" lIns="0" tIns="0" rIns="0" bIns="0" rtlCol="0" anchor="ctr"/>
          <a:lstStyle/>
          <a:p>
            <a:pPr marL="0" indent="0" algn="ctr">
              <a:buNone/>
            </a:pPr>
            <a:r>
              <a:rPr lang="en-US" sz="950" b="1">
                <a:solidFill>
                  <a:srgbClr val="445C6D"/>
                </a:solidFill>
                <a:latin typeface="Aptos" pitchFamily="34" charset="0"/>
                <a:ea typeface="Aptos" pitchFamily="34" charset="-122"/>
                <a:cs typeface="Aptos" pitchFamily="34" charset="-120"/>
              </a:rPr>
              <a:t>ε: 0.01 → 1.0</a:t>
            </a:r>
            <a:endParaRPr lang="en-US" sz="950"/>
          </a:p>
        </p:txBody>
      </p:sp>
      <p:sp>
        <p:nvSpPr>
          <p:cNvPr id="60"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3</a:t>
            </a:fld>
            <a:endParaRPr lang="en-US"/>
          </a:p>
        </p:txBody>
      </p:sp>
      <p:sp>
        <p:nvSpPr>
          <p:cNvPr id="65" name="Shape 5">
            <a:extLst>
              <a:ext uri="{FF2B5EF4-FFF2-40B4-BE49-F238E27FC236}">
                <a16:creationId xmlns:a16="http://schemas.microsoft.com/office/drawing/2014/main" id="{CF805F33-6D84-694A-A143-0D9C61B22DE7}"/>
              </a:ext>
            </a:extLst>
          </p:cNvPr>
          <p:cNvSpPr/>
          <p:nvPr/>
        </p:nvSpPr>
        <p:spPr>
          <a:xfrm flipV="1">
            <a:off x="2206409" y="2449998"/>
            <a:ext cx="3122580" cy="727048"/>
          </a:xfrm>
          <a:prstGeom prst="line">
            <a:avLst/>
          </a:prstGeom>
          <a:noFill/>
          <a:ln w="16510">
            <a:solidFill>
              <a:srgbClr val="A7B7BE"/>
            </a:solidFill>
            <a:prstDash val="solid"/>
            <a:headEnd type="triangle"/>
            <a:tailEnd type="triangle"/>
          </a:ln>
        </p:spPr>
        <p:txBody>
          <a:bodyPr/>
          <a:lstStyle/>
          <a:p>
            <a:endParaRPr/>
          </a:p>
        </p:txBody>
      </p:sp>
      <p:sp>
        <p:nvSpPr>
          <p:cNvPr id="66" name="Shape 5">
            <a:extLst>
              <a:ext uri="{FF2B5EF4-FFF2-40B4-BE49-F238E27FC236}">
                <a16:creationId xmlns:a16="http://schemas.microsoft.com/office/drawing/2014/main" id="{A129F9D7-1457-C4B0-F751-FD151FDAC2FF}"/>
              </a:ext>
            </a:extLst>
          </p:cNvPr>
          <p:cNvSpPr/>
          <p:nvPr/>
        </p:nvSpPr>
        <p:spPr>
          <a:xfrm flipV="1">
            <a:off x="2188029" y="3069401"/>
            <a:ext cx="3154017" cy="198581"/>
          </a:xfrm>
          <a:prstGeom prst="line">
            <a:avLst/>
          </a:prstGeom>
          <a:noFill/>
          <a:ln w="16510">
            <a:solidFill>
              <a:srgbClr val="A7B7BE"/>
            </a:solidFill>
            <a:prstDash val="solid"/>
            <a:headEnd type="triangle"/>
            <a:tailEnd type="triangle"/>
          </a:ln>
        </p:spPr>
        <p:txBody>
          <a:bodyPr/>
          <a:lstStyle/>
          <a:p>
            <a:endParaRPr/>
          </a:p>
        </p:txBody>
      </p:sp>
      <p:sp>
        <p:nvSpPr>
          <p:cNvPr id="67" name="Shape 5">
            <a:extLst>
              <a:ext uri="{FF2B5EF4-FFF2-40B4-BE49-F238E27FC236}">
                <a16:creationId xmlns:a16="http://schemas.microsoft.com/office/drawing/2014/main" id="{A1DF783A-6CFC-F4A9-1E76-FEB6A415980C}"/>
              </a:ext>
            </a:extLst>
          </p:cNvPr>
          <p:cNvSpPr/>
          <p:nvPr/>
        </p:nvSpPr>
        <p:spPr>
          <a:xfrm>
            <a:off x="2188030" y="3366788"/>
            <a:ext cx="3174562" cy="418228"/>
          </a:xfrm>
          <a:prstGeom prst="line">
            <a:avLst/>
          </a:prstGeom>
          <a:noFill/>
          <a:ln w="16510">
            <a:solidFill>
              <a:srgbClr val="A7B7BE"/>
            </a:solidFill>
            <a:prstDash val="solid"/>
            <a:headEnd type="triangle"/>
            <a:tailEnd type="triangle"/>
          </a:ln>
        </p:spPr>
        <p:txBody>
          <a:bodyPr/>
          <a:lstStyle/>
          <a:p>
            <a:endParaRPr/>
          </a:p>
        </p:txBody>
      </p:sp>
      <p:sp>
        <p:nvSpPr>
          <p:cNvPr id="68" name="Shape 5">
            <a:extLst>
              <a:ext uri="{FF2B5EF4-FFF2-40B4-BE49-F238E27FC236}">
                <a16:creationId xmlns:a16="http://schemas.microsoft.com/office/drawing/2014/main" id="{9A5F2C65-2CD9-4440-F982-8FB9A9278E30}"/>
              </a:ext>
            </a:extLst>
          </p:cNvPr>
          <p:cNvSpPr/>
          <p:nvPr/>
        </p:nvSpPr>
        <p:spPr>
          <a:xfrm flipV="1">
            <a:off x="2206408" y="3209639"/>
            <a:ext cx="3165240" cy="1157031"/>
          </a:xfrm>
          <a:prstGeom prst="line">
            <a:avLst/>
          </a:prstGeom>
          <a:noFill/>
          <a:ln w="16510">
            <a:solidFill>
              <a:srgbClr val="A7B7BE"/>
            </a:solidFill>
            <a:prstDash val="solid"/>
            <a:headEnd type="triangle"/>
            <a:tailEnd type="triangle"/>
          </a:ln>
        </p:spPr>
        <p:txBody>
          <a:bodyPr/>
          <a:lstStyle/>
          <a:p>
            <a:endParaRPr/>
          </a:p>
        </p:txBody>
      </p:sp>
      <p:sp>
        <p:nvSpPr>
          <p:cNvPr id="70" name="Shape 5">
            <a:extLst>
              <a:ext uri="{FF2B5EF4-FFF2-40B4-BE49-F238E27FC236}">
                <a16:creationId xmlns:a16="http://schemas.microsoft.com/office/drawing/2014/main" id="{18DF5AA1-A2C1-889D-E8B4-48543F90C12F}"/>
              </a:ext>
            </a:extLst>
          </p:cNvPr>
          <p:cNvSpPr/>
          <p:nvPr/>
        </p:nvSpPr>
        <p:spPr>
          <a:xfrm flipV="1">
            <a:off x="2233842" y="4439821"/>
            <a:ext cx="3071174" cy="25655"/>
          </a:xfrm>
          <a:prstGeom prst="line">
            <a:avLst/>
          </a:prstGeom>
          <a:noFill/>
          <a:ln w="16510">
            <a:solidFill>
              <a:srgbClr val="A7B7BE"/>
            </a:solidFill>
            <a:prstDash val="solid"/>
            <a:headEnd type="triangle"/>
            <a:tailEnd type="triangle"/>
          </a:ln>
        </p:spPr>
        <p:txBody>
          <a:bodyPr/>
          <a:lstStyle/>
          <a:p>
            <a:endParaRPr/>
          </a:p>
        </p:txBody>
      </p:sp>
      <p:sp>
        <p:nvSpPr>
          <p:cNvPr id="74" name="Shape 5">
            <a:extLst>
              <a:ext uri="{FF2B5EF4-FFF2-40B4-BE49-F238E27FC236}">
                <a16:creationId xmlns:a16="http://schemas.microsoft.com/office/drawing/2014/main" id="{CB2A58B8-8823-1044-4CFC-D0F1B70F27F5}"/>
              </a:ext>
            </a:extLst>
          </p:cNvPr>
          <p:cNvSpPr/>
          <p:nvPr/>
        </p:nvSpPr>
        <p:spPr>
          <a:xfrm flipV="1">
            <a:off x="2174971" y="2325332"/>
            <a:ext cx="3154017" cy="17698"/>
          </a:xfrm>
          <a:prstGeom prst="line">
            <a:avLst/>
          </a:prstGeom>
          <a:noFill/>
          <a:ln w="16510">
            <a:solidFill>
              <a:srgbClr val="A7B7BE"/>
            </a:solidFill>
            <a:prstDash val="solid"/>
            <a:headEnd type="triangle"/>
            <a:tailEnd type="triangle"/>
          </a:ln>
        </p:spPr>
        <p:txBody>
          <a:bodyPr/>
          <a:lstStyle/>
          <a:p>
            <a:endParaRPr/>
          </a:p>
        </p:txBody>
      </p:sp>
      <p:sp>
        <p:nvSpPr>
          <p:cNvPr id="76" name="Metin kutusu 75">
            <a:extLst>
              <a:ext uri="{FF2B5EF4-FFF2-40B4-BE49-F238E27FC236}">
                <a16:creationId xmlns:a16="http://schemas.microsoft.com/office/drawing/2014/main" id="{B7B8753C-035C-3EAF-CC45-D0C389CFAF6C}"/>
              </a:ext>
            </a:extLst>
          </p:cNvPr>
          <p:cNvSpPr txBox="1"/>
          <p:nvPr/>
        </p:nvSpPr>
        <p:spPr>
          <a:xfrm>
            <a:off x="1463793" y="2893772"/>
            <a:ext cx="266578" cy="369332"/>
          </a:xfrm>
          <a:prstGeom prst="rect">
            <a:avLst/>
          </a:prstGeom>
          <a:noFill/>
        </p:spPr>
        <p:txBody>
          <a:bodyPr wrap="square">
            <a:spAutoFit/>
          </a:bodyPr>
          <a:lstStyle/>
          <a:p>
            <a:r>
              <a:rPr lang="en-US" sz="1800" b="1" err="1">
                <a:solidFill>
                  <a:srgbClr val="B65C5B"/>
                </a:solidFill>
                <a:latin typeface="Aptos" pitchFamily="34" charset="0"/>
                <a:ea typeface="Aptos" pitchFamily="34" charset="-122"/>
                <a:cs typeface="Aptos" pitchFamily="34" charset="-120"/>
              </a:rPr>
              <a:t>ε</a:t>
            </a:r>
            <a:endParaRPr lang="tr-TR">
              <a:solidFill>
                <a:srgbClr val="B65C5B"/>
              </a:solidFill>
            </a:endParaRPr>
          </a:p>
        </p:txBody>
      </p:sp>
      <p:sp>
        <p:nvSpPr>
          <p:cNvPr id="81" name="Shape 5">
            <a:extLst>
              <a:ext uri="{FF2B5EF4-FFF2-40B4-BE49-F238E27FC236}">
                <a16:creationId xmlns:a16="http://schemas.microsoft.com/office/drawing/2014/main" id="{2A7B8712-9045-2BC9-AB4E-05A1EEE46AA2}"/>
              </a:ext>
            </a:extLst>
          </p:cNvPr>
          <p:cNvSpPr/>
          <p:nvPr/>
        </p:nvSpPr>
        <p:spPr>
          <a:xfrm>
            <a:off x="17456" y="2865440"/>
            <a:ext cx="1399582" cy="647617"/>
          </a:xfrm>
          <a:prstGeom prst="roundRect">
            <a:avLst>
              <a:gd name="adj" fmla="val 11538"/>
            </a:avLst>
          </a:prstGeom>
          <a:solidFill>
            <a:srgbClr val="F7EAEA"/>
          </a:solidFill>
          <a:ln w="12700">
            <a:solidFill>
              <a:srgbClr val="B65C5B"/>
            </a:solidFill>
            <a:prstDash val="dash"/>
          </a:ln>
        </p:spPr>
        <p:txBody>
          <a:bodyPr/>
          <a:lstStyle/>
          <a:p>
            <a:pPr algn="just"/>
            <a:r>
              <a:rPr lang="tr-TR" sz="1050" b="1"/>
              <a:t>                            </a:t>
            </a:r>
            <a:endParaRPr sz="1050" b="1"/>
          </a:p>
        </p:txBody>
      </p:sp>
      <p:sp>
        <p:nvSpPr>
          <p:cNvPr id="78" name="Şimşek İşareti 77">
            <a:extLst>
              <a:ext uri="{FF2B5EF4-FFF2-40B4-BE49-F238E27FC236}">
                <a16:creationId xmlns:a16="http://schemas.microsoft.com/office/drawing/2014/main" id="{CAAEEB11-ED4E-4DA5-A20F-DA568CFD5B80}"/>
              </a:ext>
            </a:extLst>
          </p:cNvPr>
          <p:cNvSpPr/>
          <p:nvPr/>
        </p:nvSpPr>
        <p:spPr>
          <a:xfrm rot="367784">
            <a:off x="60914" y="2930206"/>
            <a:ext cx="352950" cy="517087"/>
          </a:xfrm>
          <a:prstGeom prst="lightningBolt">
            <a:avLst/>
          </a:prstGeom>
          <a:solidFill>
            <a:srgbClr val="B65C5B"/>
          </a:solidFill>
          <a:ln>
            <a:solidFill>
              <a:srgbClr val="B65C5B"/>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tr-TR">
              <a:solidFill>
                <a:srgbClr val="C00000"/>
              </a:solidFill>
            </a:endParaRPr>
          </a:p>
        </p:txBody>
      </p:sp>
      <p:sp>
        <p:nvSpPr>
          <p:cNvPr id="82" name="Metin kutusu 81">
            <a:extLst>
              <a:ext uri="{FF2B5EF4-FFF2-40B4-BE49-F238E27FC236}">
                <a16:creationId xmlns:a16="http://schemas.microsoft.com/office/drawing/2014/main" id="{8118B993-0FAA-E3AF-13B1-2D550A24A966}"/>
              </a:ext>
            </a:extLst>
          </p:cNvPr>
          <p:cNvSpPr txBox="1"/>
          <p:nvPr/>
        </p:nvSpPr>
        <p:spPr>
          <a:xfrm>
            <a:off x="320458" y="2975619"/>
            <a:ext cx="1100275" cy="415498"/>
          </a:xfrm>
          <a:prstGeom prst="rect">
            <a:avLst/>
          </a:prstGeom>
          <a:noFill/>
        </p:spPr>
        <p:txBody>
          <a:bodyPr wrap="square" rtlCol="0">
            <a:spAutoFit/>
          </a:bodyPr>
          <a:lstStyle/>
          <a:p>
            <a:r>
              <a:rPr lang="tr-TR" sz="1050" b="1" dirty="0" err="1">
                <a:solidFill>
                  <a:srgbClr val="B65C5B"/>
                </a:solidFill>
              </a:rPr>
              <a:t>Feature</a:t>
            </a:r>
            <a:r>
              <a:rPr lang="tr-TR" sz="1050" b="1" dirty="0">
                <a:solidFill>
                  <a:srgbClr val="B65C5B"/>
                </a:solidFill>
              </a:rPr>
              <a:t> </a:t>
            </a:r>
            <a:r>
              <a:rPr lang="tr-TR" sz="1050" b="1" dirty="0" err="1">
                <a:solidFill>
                  <a:srgbClr val="B65C5B"/>
                </a:solidFill>
              </a:rPr>
              <a:t>Perturbation</a:t>
            </a:r>
            <a:endParaRPr lang="tr-TR" sz="1050" dirty="0">
              <a:solidFill>
                <a:srgbClr val="B65C5B"/>
              </a:solidFill>
            </a:endParaRPr>
          </a:p>
        </p:txBody>
      </p:sp>
      <p:sp>
        <p:nvSpPr>
          <p:cNvPr id="11" name="Metin kutusu 10">
            <a:extLst>
              <a:ext uri="{FF2B5EF4-FFF2-40B4-BE49-F238E27FC236}">
                <a16:creationId xmlns:a16="http://schemas.microsoft.com/office/drawing/2014/main" id="{66A8587D-F3B9-08D2-DEC4-0A28D9229B2E}"/>
              </a:ext>
            </a:extLst>
          </p:cNvPr>
          <p:cNvSpPr txBox="1"/>
          <p:nvPr/>
        </p:nvSpPr>
        <p:spPr>
          <a:xfrm>
            <a:off x="6295644" y="2203365"/>
            <a:ext cx="2642616" cy="338554"/>
          </a:xfrm>
          <a:prstGeom prst="rect">
            <a:avLst/>
          </a:prstGeom>
          <a:noFill/>
        </p:spPr>
        <p:txBody>
          <a:bodyPr wrap="square">
            <a:spAutoFit/>
          </a:bodyPr>
          <a:lstStyle/>
          <a:p>
            <a:r>
              <a:rPr lang="tr-TR" sz="1600" b="1" dirty="0" err="1">
                <a:solidFill>
                  <a:srgbClr val="445C6D"/>
                </a:solidFill>
                <a:latin typeface="Aptos Display"/>
              </a:rPr>
              <a:t>Why</a:t>
            </a:r>
            <a:r>
              <a:rPr lang="tr-TR" sz="1600" b="1" dirty="0">
                <a:solidFill>
                  <a:srgbClr val="445C6D"/>
                </a:solidFill>
                <a:latin typeface="Aptos Display"/>
              </a:rPr>
              <a:t> a White-Box </a:t>
            </a:r>
            <a:r>
              <a:rPr lang="tr-TR" sz="1600" b="1" dirty="0" err="1">
                <a:solidFill>
                  <a:srgbClr val="445C6D"/>
                </a:solidFill>
                <a:latin typeface="Aptos Display"/>
              </a:rPr>
              <a:t>Setting</a:t>
            </a:r>
            <a:r>
              <a:rPr lang="tr-TR" sz="1600" b="1" dirty="0">
                <a:solidFill>
                  <a:srgbClr val="445C6D"/>
                </a:solidFill>
                <a:latin typeface="Aptos Display"/>
              </a:rPr>
              <a:t> ?</a:t>
            </a:r>
          </a:p>
        </p:txBody>
      </p:sp>
      <p:sp>
        <p:nvSpPr>
          <p:cNvPr id="12" name="Metin kutusu 11">
            <a:extLst>
              <a:ext uri="{FF2B5EF4-FFF2-40B4-BE49-F238E27FC236}">
                <a16:creationId xmlns:a16="http://schemas.microsoft.com/office/drawing/2014/main" id="{520A2190-F632-EE7E-B21E-2D3D58F96A89}"/>
              </a:ext>
            </a:extLst>
          </p:cNvPr>
          <p:cNvSpPr txBox="1"/>
          <p:nvPr/>
        </p:nvSpPr>
        <p:spPr>
          <a:xfrm>
            <a:off x="6295644" y="2482451"/>
            <a:ext cx="4978908" cy="498598"/>
          </a:xfrm>
          <a:prstGeom prst="rect">
            <a:avLst/>
          </a:prstGeom>
          <a:noFill/>
        </p:spPr>
        <p:txBody>
          <a:bodyPr wrap="square" rtlCol="0">
            <a:spAutoFit/>
          </a:bodyPr>
          <a:lstStyle/>
          <a:p>
            <a:r>
              <a:rPr lang="tr-TR" sz="1320" dirty="0" err="1"/>
              <a:t>It</a:t>
            </a:r>
            <a:r>
              <a:rPr lang="tr-TR" sz="1320" dirty="0"/>
              <a:t> </a:t>
            </a:r>
            <a:r>
              <a:rPr lang="tr-TR" sz="1320" dirty="0" err="1"/>
              <a:t>enables</a:t>
            </a:r>
            <a:r>
              <a:rPr lang="tr-TR" sz="1320" dirty="0"/>
              <a:t> a </a:t>
            </a:r>
            <a:r>
              <a:rPr lang="tr-TR" sz="1320" dirty="0" err="1"/>
              <a:t>controlled</a:t>
            </a:r>
            <a:r>
              <a:rPr lang="tr-TR" sz="1320" dirty="0"/>
              <a:t> </a:t>
            </a:r>
            <a:r>
              <a:rPr lang="tr-TR" sz="1320" dirty="0" err="1"/>
              <a:t>and</a:t>
            </a:r>
            <a:r>
              <a:rPr lang="tr-TR" sz="1320" dirty="0"/>
              <a:t> </a:t>
            </a:r>
            <a:r>
              <a:rPr lang="tr-TR" sz="1320" dirty="0" err="1"/>
              <a:t>comparable</a:t>
            </a:r>
            <a:r>
              <a:rPr lang="tr-TR" sz="1320" dirty="0"/>
              <a:t> </a:t>
            </a:r>
            <a:r>
              <a:rPr lang="tr-TR" sz="1320" dirty="0" err="1"/>
              <a:t>robustness</a:t>
            </a:r>
            <a:r>
              <a:rPr lang="tr-TR" sz="1320" dirty="0"/>
              <a:t> </a:t>
            </a:r>
            <a:r>
              <a:rPr lang="tr-TR" sz="1320" dirty="0" err="1"/>
              <a:t>analysis</a:t>
            </a:r>
            <a:r>
              <a:rPr lang="tr-TR" sz="1320" dirty="0"/>
              <a:t> </a:t>
            </a:r>
            <a:r>
              <a:rPr lang="tr-TR" sz="1320" dirty="0" err="1"/>
              <a:t>under</a:t>
            </a:r>
            <a:r>
              <a:rPr lang="tr-TR" sz="1320" dirty="0"/>
              <a:t> </a:t>
            </a:r>
            <a:r>
              <a:rPr lang="tr-TR" sz="1320" dirty="0" err="1"/>
              <a:t>the</a:t>
            </a:r>
            <a:r>
              <a:rPr lang="tr-TR" sz="1320" dirty="0"/>
              <a:t> </a:t>
            </a:r>
            <a:r>
              <a:rPr lang="tr-TR" sz="1320" dirty="0" err="1"/>
              <a:t>same</a:t>
            </a:r>
            <a:r>
              <a:rPr lang="tr-TR" sz="1320" dirty="0"/>
              <a:t> </a:t>
            </a:r>
            <a:r>
              <a:rPr lang="tr-TR" sz="1320" dirty="0" err="1"/>
              <a:t>level</a:t>
            </a:r>
            <a:r>
              <a:rPr lang="tr-TR" sz="1320" dirty="0"/>
              <a:t> of </a:t>
            </a:r>
            <a:r>
              <a:rPr lang="tr-TR" sz="1320" dirty="0" err="1"/>
              <a:t>adversarial</a:t>
            </a:r>
            <a:r>
              <a:rPr lang="tr-TR" sz="1320" dirty="0"/>
              <a:t> </a:t>
            </a:r>
            <a:r>
              <a:rPr lang="tr-TR" sz="1320" dirty="0" err="1"/>
              <a:t>knowledge</a:t>
            </a:r>
            <a:r>
              <a:rPr lang="tr-TR" sz="1320" dirty="0"/>
              <a:t>.</a:t>
            </a:r>
          </a:p>
        </p:txBody>
      </p:sp>
      <p:sp>
        <p:nvSpPr>
          <p:cNvPr id="8" name="Text 0">
            <a:extLst>
              <a:ext uri="{FF2B5EF4-FFF2-40B4-BE49-F238E27FC236}">
                <a16:creationId xmlns:a16="http://schemas.microsoft.com/office/drawing/2014/main" id="{F8B1933F-C1F4-001F-C5AE-AFD013AEF5E4}"/>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dirty="0">
                <a:solidFill>
                  <a:srgbClr val="8BB3B4"/>
                </a:solidFill>
                <a:latin typeface="Aptos"/>
              </a:rPr>
              <a:t>2. DATA REPRESENTATION</a:t>
            </a:r>
            <a:endParaRPr lang="en-US" sz="1050" dirty="0"/>
          </a:p>
        </p:txBody>
      </p:sp>
      <p:pic>
        <p:nvPicPr>
          <p:cNvPr id="9" name="Grafik 8">
            <a:extLst>
              <a:ext uri="{FF2B5EF4-FFF2-40B4-BE49-F238E27FC236}">
                <a16:creationId xmlns:a16="http://schemas.microsoft.com/office/drawing/2014/main" id="{C725EA6F-F734-7BC8-0E58-5E6B4641C9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02" y="6446520"/>
            <a:ext cx="273517" cy="228601"/>
          </a:xfrm>
          <a:prstGeom prst="rect">
            <a:avLst/>
          </a:prstGeom>
        </p:spPr>
      </p:pic>
      <p:sp>
        <p:nvSpPr>
          <p:cNvPr id="13" name="Shape 6">
            <a:extLst>
              <a:ext uri="{FF2B5EF4-FFF2-40B4-BE49-F238E27FC236}">
                <a16:creationId xmlns:a16="http://schemas.microsoft.com/office/drawing/2014/main" id="{A61F6B52-BF57-CF96-2A3A-73DDA61291B4}"/>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530352" y="621792"/>
            <a:ext cx="10972800" cy="530352"/>
          </a:xfrm>
          <a:prstGeom prst="rect">
            <a:avLst/>
          </a:prstGeom>
          <a:noFill/>
          <a:ln/>
        </p:spPr>
        <p:txBody>
          <a:bodyPr wrap="square" lIns="0" tIns="0" rIns="0" bIns="0" rtlCol="0" anchor="ctr"/>
          <a:lstStyle/>
          <a:p>
            <a:r>
              <a:rPr lang="tr-TR" sz="2750" b="1" dirty="0" err="1">
                <a:solidFill>
                  <a:srgbClr val="445C6D"/>
                </a:solidFill>
                <a:latin typeface="Aptos Display"/>
              </a:rPr>
              <a:t>Experimental</a:t>
            </a:r>
            <a:r>
              <a:rPr lang="tr-TR" sz="2750" b="1" dirty="0">
                <a:solidFill>
                  <a:srgbClr val="445C6D"/>
                </a:solidFill>
                <a:latin typeface="Aptos Display"/>
              </a:rPr>
              <a:t> Protocol</a:t>
            </a:r>
            <a:endParaRPr lang="tr-TR" sz="2750" dirty="0"/>
          </a:p>
        </p:txBody>
      </p:sp>
      <p:sp>
        <p:nvSpPr>
          <p:cNvPr id="5" name="Shape 2"/>
          <p:cNvSpPr/>
          <p:nvPr/>
        </p:nvSpPr>
        <p:spPr>
          <a:xfrm>
            <a:off x="374441" y="1417320"/>
            <a:ext cx="3611880" cy="1143000"/>
          </a:xfrm>
          <a:prstGeom prst="roundRect">
            <a:avLst>
              <a:gd name="adj" fmla="val 5600"/>
            </a:avLst>
          </a:prstGeom>
          <a:solidFill>
            <a:srgbClr val="FFFFFF"/>
          </a:solidFill>
          <a:ln w="12700">
            <a:solidFill>
              <a:srgbClr val="D9E3E4"/>
            </a:solidFill>
            <a:prstDash val="solid"/>
          </a:ln>
        </p:spPr>
        <p:txBody>
          <a:bodyPr/>
          <a:lstStyle/>
          <a:p>
            <a:endParaRPr/>
          </a:p>
        </p:txBody>
      </p:sp>
      <p:sp>
        <p:nvSpPr>
          <p:cNvPr id="6" name="Text 3"/>
          <p:cNvSpPr/>
          <p:nvPr/>
        </p:nvSpPr>
        <p:spPr>
          <a:xfrm>
            <a:off x="539033" y="1563624"/>
            <a:ext cx="3282696" cy="256032"/>
          </a:xfrm>
          <a:prstGeom prst="rect">
            <a:avLst/>
          </a:prstGeom>
          <a:noFill/>
          <a:ln/>
        </p:spPr>
        <p:txBody>
          <a:bodyPr wrap="square" lIns="0" tIns="0" rIns="0" bIns="0" rtlCol="0" anchor="ctr"/>
          <a:lstStyle/>
          <a:p>
            <a:pPr marL="0" indent="0">
              <a:buNone/>
            </a:pPr>
            <a:r>
              <a:rPr lang="en-US" sz="1420" b="1">
                <a:solidFill>
                  <a:srgbClr val="445C6D"/>
                </a:solidFill>
                <a:latin typeface="Aptos Display" pitchFamily="34" charset="0"/>
                <a:ea typeface="Aptos Display" pitchFamily="34" charset="-122"/>
                <a:cs typeface="Aptos Display" pitchFamily="34" charset="-120"/>
              </a:rPr>
              <a:t>Modeller</a:t>
            </a:r>
            <a:endParaRPr lang="en-US" sz="1420"/>
          </a:p>
        </p:txBody>
      </p:sp>
      <p:sp>
        <p:nvSpPr>
          <p:cNvPr id="7" name="Text 4"/>
          <p:cNvSpPr/>
          <p:nvPr/>
        </p:nvSpPr>
        <p:spPr>
          <a:xfrm>
            <a:off x="539033" y="1892808"/>
            <a:ext cx="3282696" cy="539496"/>
          </a:xfrm>
          <a:prstGeom prst="rect">
            <a:avLst/>
          </a:prstGeom>
          <a:noFill/>
          <a:ln/>
        </p:spPr>
        <p:txBody>
          <a:bodyPr wrap="square" lIns="254" tIns="254" rIns="254" bIns="254" rtlCol="0" anchor="t"/>
          <a:lstStyle/>
          <a:p>
            <a:pPr marL="0" indent="0">
              <a:buNone/>
            </a:pPr>
            <a:r>
              <a:rPr lang="en-US" sz="1160">
                <a:solidFill>
                  <a:srgbClr val="1F2A33"/>
                </a:solidFill>
                <a:latin typeface="Aptos" pitchFamily="34" charset="0"/>
                <a:ea typeface="Aptos" pitchFamily="34" charset="-122"/>
                <a:cs typeface="Aptos" pitchFamily="34" charset="-120"/>
              </a:rPr>
              <a:t>HeteroSAGE  •  HeteroGCN</a:t>
            </a:r>
            <a:endParaRPr lang="en-US" sz="1160"/>
          </a:p>
          <a:p>
            <a:pPr marL="0" indent="0">
              <a:buNone/>
            </a:pPr>
            <a:r>
              <a:rPr lang="en-US" sz="1160">
                <a:solidFill>
                  <a:srgbClr val="1F2A33"/>
                </a:solidFill>
                <a:latin typeface="Aptos" pitchFamily="34" charset="0"/>
                <a:ea typeface="Aptos" pitchFamily="34" charset="-122"/>
                <a:cs typeface="Aptos" pitchFamily="34" charset="-120"/>
              </a:rPr>
              <a:t>HeteroGAT  •  HeteroGAE</a:t>
            </a:r>
            <a:endParaRPr lang="en-US" sz="1160"/>
          </a:p>
        </p:txBody>
      </p:sp>
      <p:sp>
        <p:nvSpPr>
          <p:cNvPr id="8" name="Shape 5"/>
          <p:cNvSpPr/>
          <p:nvPr/>
        </p:nvSpPr>
        <p:spPr>
          <a:xfrm>
            <a:off x="374441" y="2743200"/>
            <a:ext cx="3611880" cy="1078992"/>
          </a:xfrm>
          <a:prstGeom prst="roundRect">
            <a:avLst>
              <a:gd name="adj" fmla="val 5932"/>
            </a:avLst>
          </a:prstGeom>
          <a:solidFill>
            <a:srgbClr val="FFFFFF"/>
          </a:solidFill>
          <a:ln w="12700">
            <a:solidFill>
              <a:srgbClr val="D9E3E4"/>
            </a:solidFill>
            <a:prstDash val="solid"/>
          </a:ln>
        </p:spPr>
        <p:txBody>
          <a:bodyPr/>
          <a:lstStyle/>
          <a:p>
            <a:endParaRPr/>
          </a:p>
        </p:txBody>
      </p:sp>
      <p:sp>
        <p:nvSpPr>
          <p:cNvPr id="9" name="Text 6"/>
          <p:cNvSpPr/>
          <p:nvPr/>
        </p:nvSpPr>
        <p:spPr>
          <a:xfrm>
            <a:off x="539033" y="2889504"/>
            <a:ext cx="3282696" cy="256032"/>
          </a:xfrm>
          <a:prstGeom prst="rect">
            <a:avLst/>
          </a:prstGeom>
          <a:noFill/>
          <a:ln/>
        </p:spPr>
        <p:txBody>
          <a:bodyPr wrap="square" lIns="0" tIns="0" rIns="0" bIns="0" rtlCol="0" anchor="ctr"/>
          <a:lstStyle/>
          <a:p>
            <a:r>
              <a:rPr lang="tr-TR" sz="1420" b="1" dirty="0">
                <a:solidFill>
                  <a:srgbClr val="445C6D"/>
                </a:solidFill>
                <a:latin typeface="Aptos Display"/>
              </a:rPr>
              <a:t>Data </a:t>
            </a:r>
            <a:r>
              <a:rPr lang="tr-TR" sz="1420" b="1" dirty="0" err="1">
                <a:solidFill>
                  <a:srgbClr val="445C6D"/>
                </a:solidFill>
                <a:latin typeface="Aptos Display"/>
              </a:rPr>
              <a:t>split</a:t>
            </a:r>
            <a:endParaRPr lang="tr-TR" sz="1420" dirty="0"/>
          </a:p>
        </p:txBody>
      </p:sp>
      <p:sp>
        <p:nvSpPr>
          <p:cNvPr id="10" name="Text 7"/>
          <p:cNvSpPr/>
          <p:nvPr/>
        </p:nvSpPr>
        <p:spPr>
          <a:xfrm>
            <a:off x="539033" y="3218688"/>
            <a:ext cx="3282696" cy="475488"/>
          </a:xfrm>
          <a:prstGeom prst="rect">
            <a:avLst/>
          </a:prstGeom>
          <a:noFill/>
          <a:ln/>
        </p:spPr>
        <p:txBody>
          <a:bodyPr wrap="square" lIns="254" tIns="254" rIns="254" bIns="254" rtlCol="0" anchor="t"/>
          <a:lstStyle/>
          <a:p>
            <a:r>
              <a:rPr lang="tr-TR" sz="1160" dirty="0">
                <a:solidFill>
                  <a:srgbClr val="1F2A33"/>
                </a:solidFill>
              </a:rPr>
              <a:t>70% </a:t>
            </a:r>
            <a:r>
              <a:rPr lang="tr-TR" sz="1160" dirty="0" err="1">
                <a:solidFill>
                  <a:srgbClr val="1F2A33"/>
                </a:solidFill>
              </a:rPr>
              <a:t>training</a:t>
            </a:r>
            <a:r>
              <a:rPr lang="tr-TR" sz="1160" dirty="0">
                <a:solidFill>
                  <a:srgbClr val="1F2A33"/>
                </a:solidFill>
              </a:rPr>
              <a:t>  •  15% </a:t>
            </a:r>
            <a:r>
              <a:rPr lang="tr-TR" sz="1160" dirty="0" err="1">
                <a:solidFill>
                  <a:srgbClr val="1F2A33"/>
                </a:solidFill>
              </a:rPr>
              <a:t>validation</a:t>
            </a:r>
            <a:r>
              <a:rPr lang="tr-TR" sz="1160" dirty="0">
                <a:solidFill>
                  <a:srgbClr val="1F2A33"/>
                </a:solidFill>
              </a:rPr>
              <a:t>  •  15% test</a:t>
            </a:r>
            <a:endParaRPr lang="tr-TR" sz="1160" dirty="0"/>
          </a:p>
          <a:p>
            <a:r>
              <a:rPr lang="tr-TR" sz="1160" dirty="0">
                <a:solidFill>
                  <a:srgbClr val="1F2A33"/>
                </a:solidFill>
              </a:rPr>
              <a:t>Class </a:t>
            </a:r>
            <a:r>
              <a:rPr lang="tr-TR" sz="1160" dirty="0" err="1">
                <a:solidFill>
                  <a:srgbClr val="1F2A33"/>
                </a:solidFill>
              </a:rPr>
              <a:t>distribution</a:t>
            </a:r>
            <a:r>
              <a:rPr lang="tr-TR" sz="1160" dirty="0">
                <a:solidFill>
                  <a:srgbClr val="1F2A33"/>
                </a:solidFill>
              </a:rPr>
              <a:t> </a:t>
            </a:r>
            <a:r>
              <a:rPr lang="tr-TR" sz="1160" dirty="0" err="1">
                <a:solidFill>
                  <a:srgbClr val="1F2A33"/>
                </a:solidFill>
              </a:rPr>
              <a:t>was</a:t>
            </a:r>
            <a:r>
              <a:rPr lang="tr-TR" sz="1160" dirty="0">
                <a:solidFill>
                  <a:srgbClr val="1F2A33"/>
                </a:solidFill>
              </a:rPr>
              <a:t> </a:t>
            </a:r>
            <a:r>
              <a:rPr lang="tr-TR" sz="1160" dirty="0" err="1">
                <a:solidFill>
                  <a:srgbClr val="1F2A33"/>
                </a:solidFill>
              </a:rPr>
              <a:t>preserved</a:t>
            </a:r>
            <a:r>
              <a:rPr lang="tr-TR" sz="1160" dirty="0">
                <a:solidFill>
                  <a:srgbClr val="1F2A33"/>
                </a:solidFill>
              </a:rPr>
              <a:t>.</a:t>
            </a:r>
          </a:p>
        </p:txBody>
      </p:sp>
      <p:sp>
        <p:nvSpPr>
          <p:cNvPr id="11" name="Shape 8"/>
          <p:cNvSpPr/>
          <p:nvPr/>
        </p:nvSpPr>
        <p:spPr>
          <a:xfrm>
            <a:off x="374441" y="4005072"/>
            <a:ext cx="3611880" cy="1078992"/>
          </a:xfrm>
          <a:prstGeom prst="roundRect">
            <a:avLst>
              <a:gd name="adj" fmla="val 5932"/>
            </a:avLst>
          </a:prstGeom>
          <a:solidFill>
            <a:srgbClr val="FFFFFF"/>
          </a:solidFill>
          <a:ln w="12700">
            <a:solidFill>
              <a:srgbClr val="D9E3E4"/>
            </a:solidFill>
            <a:prstDash val="solid"/>
          </a:ln>
        </p:spPr>
        <p:txBody>
          <a:bodyPr/>
          <a:lstStyle/>
          <a:p>
            <a:endParaRPr/>
          </a:p>
        </p:txBody>
      </p:sp>
      <p:sp>
        <p:nvSpPr>
          <p:cNvPr id="12" name="Text 9"/>
          <p:cNvSpPr/>
          <p:nvPr/>
        </p:nvSpPr>
        <p:spPr>
          <a:xfrm>
            <a:off x="539033" y="4151376"/>
            <a:ext cx="3282696" cy="256032"/>
          </a:xfrm>
          <a:prstGeom prst="rect">
            <a:avLst/>
          </a:prstGeom>
          <a:noFill/>
          <a:ln/>
        </p:spPr>
        <p:txBody>
          <a:bodyPr wrap="square" lIns="0" tIns="0" rIns="0" bIns="0" rtlCol="0" anchor="ctr"/>
          <a:lstStyle/>
          <a:p>
            <a:r>
              <a:rPr lang="tr-TR" sz="1420" b="1" dirty="0" err="1">
                <a:solidFill>
                  <a:srgbClr val="445C6D"/>
                </a:solidFill>
                <a:latin typeface="Aptos Display"/>
              </a:rPr>
              <a:t>Repeated</a:t>
            </a:r>
            <a:r>
              <a:rPr lang="tr-TR" sz="1420" b="1" dirty="0">
                <a:solidFill>
                  <a:srgbClr val="445C6D"/>
                </a:solidFill>
                <a:latin typeface="Aptos Display"/>
              </a:rPr>
              <a:t> </a:t>
            </a:r>
            <a:r>
              <a:rPr lang="tr-TR" sz="1420" b="1" dirty="0" err="1">
                <a:solidFill>
                  <a:srgbClr val="445C6D"/>
                </a:solidFill>
                <a:latin typeface="Aptos Display"/>
              </a:rPr>
              <a:t>evaluation</a:t>
            </a:r>
            <a:endParaRPr lang="tr-TR" sz="1420" dirty="0"/>
          </a:p>
        </p:txBody>
      </p:sp>
      <p:sp>
        <p:nvSpPr>
          <p:cNvPr id="13" name="Text 10"/>
          <p:cNvSpPr/>
          <p:nvPr/>
        </p:nvSpPr>
        <p:spPr>
          <a:xfrm>
            <a:off x="539033" y="4480560"/>
            <a:ext cx="3282696" cy="475488"/>
          </a:xfrm>
          <a:prstGeom prst="rect">
            <a:avLst/>
          </a:prstGeom>
          <a:noFill/>
          <a:ln/>
        </p:spPr>
        <p:txBody>
          <a:bodyPr wrap="square" lIns="254" tIns="254" rIns="254" bIns="254" rtlCol="0" anchor="t"/>
          <a:lstStyle/>
          <a:p>
            <a:r>
              <a:rPr lang="tr-TR" sz="1200" dirty="0">
                <a:solidFill>
                  <a:srgbClr val="1F2A33"/>
                </a:solidFill>
              </a:rPr>
              <a:t>20 </a:t>
            </a:r>
            <a:r>
              <a:rPr lang="tr-TR" sz="1200" dirty="0" err="1">
                <a:solidFill>
                  <a:srgbClr val="1F2A33"/>
                </a:solidFill>
              </a:rPr>
              <a:t>independent</a:t>
            </a:r>
            <a:r>
              <a:rPr lang="tr-TR" sz="1200" dirty="0">
                <a:solidFill>
                  <a:srgbClr val="1F2A33"/>
                </a:solidFill>
              </a:rPr>
              <a:t> </a:t>
            </a:r>
            <a:r>
              <a:rPr lang="tr-TR" sz="1200" dirty="0" err="1">
                <a:solidFill>
                  <a:srgbClr val="1F2A33"/>
                </a:solidFill>
              </a:rPr>
              <a:t>runs</a:t>
            </a:r>
            <a:r>
              <a:rPr lang="tr-TR" sz="1200" dirty="0">
                <a:solidFill>
                  <a:srgbClr val="1F2A33"/>
                </a:solidFill>
              </a:rPr>
              <a:t> </a:t>
            </a:r>
            <a:r>
              <a:rPr lang="tr-TR" sz="1200" dirty="0" err="1">
                <a:solidFill>
                  <a:srgbClr val="1F2A33"/>
                </a:solidFill>
              </a:rPr>
              <a:t>for</a:t>
            </a:r>
            <a:r>
              <a:rPr lang="tr-TR" sz="1200" dirty="0">
                <a:solidFill>
                  <a:srgbClr val="1F2A33"/>
                </a:solidFill>
              </a:rPr>
              <a:t> </a:t>
            </a:r>
            <a:r>
              <a:rPr lang="tr-TR" sz="1200" dirty="0" err="1">
                <a:solidFill>
                  <a:srgbClr val="1F2A33"/>
                </a:solidFill>
              </a:rPr>
              <a:t>each</a:t>
            </a:r>
            <a:r>
              <a:rPr lang="tr-TR" sz="1200" dirty="0">
                <a:solidFill>
                  <a:srgbClr val="1F2A33"/>
                </a:solidFill>
              </a:rPr>
              <a:t> model × </a:t>
            </a:r>
            <a:r>
              <a:rPr lang="tr-TR" sz="1200" dirty="0" err="1">
                <a:solidFill>
                  <a:srgbClr val="1F2A33"/>
                </a:solidFill>
              </a:rPr>
              <a:t>attack</a:t>
            </a:r>
            <a:r>
              <a:rPr lang="tr-TR" sz="1200" dirty="0">
                <a:solidFill>
                  <a:srgbClr val="1F2A33"/>
                </a:solidFill>
              </a:rPr>
              <a:t> × epsilon </a:t>
            </a:r>
            <a:r>
              <a:rPr lang="tr-TR" sz="1200" dirty="0" err="1">
                <a:solidFill>
                  <a:srgbClr val="1F2A33"/>
                </a:solidFill>
              </a:rPr>
              <a:t>combination</a:t>
            </a:r>
            <a:r>
              <a:rPr lang="tr-TR" sz="1200" dirty="0">
                <a:solidFill>
                  <a:srgbClr val="1F2A33"/>
                </a:solidFill>
              </a:rPr>
              <a:t>.</a:t>
            </a:r>
            <a:endParaRPr lang="tr-TR" sz="1100" dirty="0"/>
          </a:p>
        </p:txBody>
      </p:sp>
      <p:sp>
        <p:nvSpPr>
          <p:cNvPr id="14" name="Text 11"/>
          <p:cNvSpPr/>
          <p:nvPr/>
        </p:nvSpPr>
        <p:spPr>
          <a:xfrm>
            <a:off x="4358875" y="4191116"/>
            <a:ext cx="1606528" cy="246888"/>
          </a:xfrm>
          <a:prstGeom prst="rect">
            <a:avLst/>
          </a:prstGeom>
          <a:noFill/>
          <a:ln/>
        </p:spPr>
        <p:txBody>
          <a:bodyPr wrap="square" lIns="0" tIns="0" rIns="0" bIns="0" rtlCol="0" anchor="ctr"/>
          <a:lstStyle/>
          <a:p>
            <a:r>
              <a:rPr lang="tr-TR" sz="1500" b="1" dirty="0" err="1">
                <a:solidFill>
                  <a:srgbClr val="445C6D"/>
                </a:solidFill>
                <a:latin typeface="Aptos Display"/>
              </a:rPr>
              <a:t>Metrics</a:t>
            </a:r>
            <a:endParaRPr lang="tr-TR" sz="1500" dirty="0"/>
          </a:p>
        </p:txBody>
      </p:sp>
      <p:sp>
        <p:nvSpPr>
          <p:cNvPr id="15" name="Shape 12"/>
          <p:cNvSpPr/>
          <p:nvPr/>
        </p:nvSpPr>
        <p:spPr>
          <a:xfrm>
            <a:off x="5399826" y="4127108"/>
            <a:ext cx="1673466"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16" name="Text 13"/>
          <p:cNvSpPr/>
          <p:nvPr/>
        </p:nvSpPr>
        <p:spPr>
          <a:xfrm>
            <a:off x="5506928" y="4204832"/>
            <a:ext cx="1459263" cy="164592"/>
          </a:xfrm>
          <a:prstGeom prst="rect">
            <a:avLst/>
          </a:prstGeom>
          <a:noFill/>
          <a:ln/>
        </p:spPr>
        <p:txBody>
          <a:bodyPr wrap="square" lIns="0" tIns="0" rIns="0" bIns="0" rtlCol="0" anchor="ctr"/>
          <a:lstStyle/>
          <a:p>
            <a:pPr algn="ctr"/>
            <a:r>
              <a:rPr lang="tr-TR" sz="950" b="1" dirty="0" err="1">
                <a:solidFill>
                  <a:srgbClr val="445C6D"/>
                </a:solidFill>
              </a:rPr>
              <a:t>Accuracy</a:t>
            </a:r>
            <a:endParaRPr lang="tr-TR" sz="950" dirty="0"/>
          </a:p>
        </p:txBody>
      </p:sp>
      <p:sp>
        <p:nvSpPr>
          <p:cNvPr id="17" name="Shape 14"/>
          <p:cNvSpPr/>
          <p:nvPr/>
        </p:nvSpPr>
        <p:spPr>
          <a:xfrm>
            <a:off x="6885044" y="4127108"/>
            <a:ext cx="1459264"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18" name="Text 15"/>
          <p:cNvSpPr/>
          <p:nvPr/>
        </p:nvSpPr>
        <p:spPr>
          <a:xfrm>
            <a:off x="6777944" y="4204832"/>
            <a:ext cx="1459263" cy="164592"/>
          </a:xfrm>
          <a:prstGeom prst="rect">
            <a:avLst/>
          </a:prstGeom>
          <a:noFill/>
          <a:ln/>
        </p:spPr>
        <p:txBody>
          <a:bodyPr wrap="square" lIns="0" tIns="0" rIns="0" bIns="0" rtlCol="0" anchor="ctr"/>
          <a:lstStyle/>
          <a:p>
            <a:pPr algn="ctr"/>
            <a:r>
              <a:rPr lang="tr-TR" sz="950" b="1" dirty="0">
                <a:solidFill>
                  <a:srgbClr val="445C6D"/>
                </a:solidFill>
              </a:rPr>
              <a:t>Precision</a:t>
            </a:r>
            <a:endParaRPr lang="tr-TR" sz="950" dirty="0"/>
          </a:p>
        </p:txBody>
      </p:sp>
      <p:sp>
        <p:nvSpPr>
          <p:cNvPr id="19" name="Shape 16"/>
          <p:cNvSpPr/>
          <p:nvPr/>
        </p:nvSpPr>
        <p:spPr>
          <a:xfrm>
            <a:off x="5399826" y="4556876"/>
            <a:ext cx="1673466"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20" name="Text 17"/>
          <p:cNvSpPr/>
          <p:nvPr/>
        </p:nvSpPr>
        <p:spPr>
          <a:xfrm>
            <a:off x="5506928" y="4634600"/>
            <a:ext cx="1459263" cy="164592"/>
          </a:xfrm>
          <a:prstGeom prst="rect">
            <a:avLst/>
          </a:prstGeom>
          <a:noFill/>
          <a:ln/>
        </p:spPr>
        <p:txBody>
          <a:bodyPr wrap="square" lIns="0" tIns="0" rIns="0" bIns="0" rtlCol="0" anchor="ctr"/>
          <a:lstStyle/>
          <a:p>
            <a:pPr algn="ctr"/>
            <a:r>
              <a:rPr lang="tr-TR" sz="950" b="1" dirty="0" err="1">
                <a:solidFill>
                  <a:srgbClr val="445C6D"/>
                </a:solidFill>
              </a:rPr>
              <a:t>Recall</a:t>
            </a:r>
            <a:endParaRPr lang="tr-TR" sz="950" dirty="0"/>
          </a:p>
        </p:txBody>
      </p:sp>
      <p:sp>
        <p:nvSpPr>
          <p:cNvPr id="21" name="Shape 18"/>
          <p:cNvSpPr/>
          <p:nvPr/>
        </p:nvSpPr>
        <p:spPr>
          <a:xfrm>
            <a:off x="6670842" y="4556876"/>
            <a:ext cx="1673466"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22" name="Text 19"/>
          <p:cNvSpPr/>
          <p:nvPr/>
        </p:nvSpPr>
        <p:spPr>
          <a:xfrm>
            <a:off x="6777944" y="4634600"/>
            <a:ext cx="1459263" cy="164592"/>
          </a:xfrm>
          <a:prstGeom prst="rect">
            <a:avLst/>
          </a:prstGeom>
          <a:noFill/>
          <a:ln/>
        </p:spPr>
        <p:txBody>
          <a:bodyPr wrap="square" lIns="0" tIns="0" rIns="0" bIns="0" rtlCol="0" anchor="ctr"/>
          <a:lstStyle/>
          <a:p>
            <a:pPr algn="ctr"/>
            <a:r>
              <a:rPr lang="tr-TR" sz="950" b="1" dirty="0">
                <a:solidFill>
                  <a:srgbClr val="445C6D"/>
                </a:solidFill>
              </a:rPr>
              <a:t>F1-score</a:t>
            </a:r>
            <a:endParaRPr lang="tr-TR" sz="950" dirty="0"/>
          </a:p>
        </p:txBody>
      </p:sp>
      <p:sp>
        <p:nvSpPr>
          <p:cNvPr id="23" name="Shape 20"/>
          <p:cNvSpPr/>
          <p:nvPr/>
        </p:nvSpPr>
        <p:spPr>
          <a:xfrm>
            <a:off x="8451408" y="4301035"/>
            <a:ext cx="1860380" cy="347471"/>
          </a:xfrm>
          <a:prstGeom prst="roundRect">
            <a:avLst>
              <a:gd name="adj" fmla="val 21053"/>
            </a:avLst>
          </a:prstGeom>
          <a:solidFill>
            <a:srgbClr val="F6EAEA"/>
          </a:solidFill>
          <a:ln w="12700">
            <a:solidFill>
              <a:srgbClr val="F6EAEA"/>
            </a:solidFill>
            <a:prstDash val="solid"/>
          </a:ln>
        </p:spPr>
        <p:txBody>
          <a:bodyPr/>
          <a:lstStyle/>
          <a:p>
            <a:endParaRPr dirty="0"/>
          </a:p>
        </p:txBody>
      </p:sp>
      <mc:AlternateContent xmlns:mc="http://schemas.openxmlformats.org/markup-compatibility/2006" xmlns:a14="http://schemas.microsoft.com/office/drawing/2010/main">
        <mc:Choice Requires="a14">
          <p:sp>
            <p:nvSpPr>
              <p:cNvPr id="24" name="Text 21"/>
              <p:cNvSpPr/>
              <p:nvPr/>
            </p:nvSpPr>
            <p:spPr>
              <a:xfrm>
                <a:off x="8202138" y="4227339"/>
                <a:ext cx="2340924" cy="517656"/>
              </a:xfrm>
              <a:prstGeom prst="rect">
                <a:avLst/>
              </a:prstGeom>
              <a:noFill/>
              <a:ln/>
            </p:spPr>
            <p:txBody>
              <a:bodyPr wrap="square" lIns="0" tIns="0" rIns="0" bIns="0" rtlCol="0" anchor="ctr"/>
              <a:lstStyle/>
              <a:p>
                <a:pPr algn="ctr"/>
                <a:r>
                  <a:rPr lang="en-US" sz="1000" b="1" dirty="0">
                    <a:solidFill>
                      <a:srgbClr val="B65C5C"/>
                    </a:solidFill>
                    <a:latin typeface="Aptos" pitchFamily="34" charset="0"/>
                    <a:ea typeface="Aptos" pitchFamily="34" charset="-122"/>
                    <a:cs typeface="Aptos" pitchFamily="34" charset="-120"/>
                  </a:rPr>
                  <a:t>ASR = </a:t>
                </a:r>
                <a14:m>
                  <m:oMath xmlns:m="http://schemas.openxmlformats.org/officeDocument/2006/math">
                    <m:f>
                      <m:fPr>
                        <m:ctrlPr>
                          <a:rPr lang="en-US" sz="1000" b="1" i="1" dirty="0" smtClean="0">
                            <a:solidFill>
                              <a:srgbClr val="B65C5C"/>
                            </a:solidFill>
                            <a:latin typeface="Cambria Math" panose="02040503050406030204" pitchFamily="18" charset="0"/>
                          </a:rPr>
                        </m:ctrlPr>
                      </m:fPr>
                      <m:num>
                        <m:r>
                          <a:rPr lang="en-US" sz="1000" b="1" i="1" dirty="0">
                            <a:solidFill>
                              <a:srgbClr val="B65C5C"/>
                            </a:solidFill>
                            <a:latin typeface="Cambria Math" panose="02040503050406030204" pitchFamily="18" charset="0"/>
                            <a:ea typeface="Aptos" pitchFamily="34" charset="-122"/>
                            <a:cs typeface="Aptos" pitchFamily="34" charset="-120"/>
                          </a:rPr>
                          <m:t>𝑵𝒖𝒎𝒃𝒆𝒓</m:t>
                        </m:r>
                        <m:r>
                          <a:rPr lang="en-US" sz="1000" b="1" i="1" dirty="0">
                            <a:solidFill>
                              <a:srgbClr val="B65C5C"/>
                            </a:solidFill>
                            <a:latin typeface="Cambria Math" panose="02040503050406030204" pitchFamily="18" charset="0"/>
                            <a:ea typeface="Aptos" pitchFamily="34" charset="-122"/>
                            <a:cs typeface="Aptos" pitchFamily="34" charset="-120"/>
                          </a:rPr>
                          <m:t> </m:t>
                        </m:r>
                        <m:r>
                          <a:rPr lang="en-US" sz="1000" b="1" i="1" dirty="0">
                            <a:solidFill>
                              <a:srgbClr val="B65C5C"/>
                            </a:solidFill>
                            <a:latin typeface="Cambria Math" panose="02040503050406030204" pitchFamily="18" charset="0"/>
                            <a:ea typeface="Aptos" pitchFamily="34" charset="-122"/>
                            <a:cs typeface="Aptos" pitchFamily="34" charset="-120"/>
                          </a:rPr>
                          <m:t>𝒐𝒇</m:t>
                        </m:r>
                        <m:r>
                          <a:rPr lang="en-US" sz="1000" b="1" i="1" dirty="0">
                            <a:solidFill>
                              <a:srgbClr val="B65C5C"/>
                            </a:solidFill>
                            <a:latin typeface="Cambria Math" panose="02040503050406030204" pitchFamily="18" charset="0"/>
                            <a:ea typeface="Aptos" pitchFamily="34" charset="-122"/>
                            <a:cs typeface="Aptos" pitchFamily="34" charset="-120"/>
                          </a:rPr>
                          <m:t> </m:t>
                        </m:r>
                        <m:r>
                          <a:rPr lang="en-US" sz="1000" b="1" i="1" dirty="0">
                            <a:solidFill>
                              <a:srgbClr val="B65C5C"/>
                            </a:solidFill>
                            <a:latin typeface="Cambria Math" panose="02040503050406030204" pitchFamily="18" charset="0"/>
                            <a:ea typeface="Aptos" pitchFamily="34" charset="-122"/>
                            <a:cs typeface="Aptos" pitchFamily="34" charset="-120"/>
                          </a:rPr>
                          <m:t>𝑺𝒖𝒄𝒄𝒆𝒔𝒔𝒇𝒖𝒍</m:t>
                        </m:r>
                        <m:r>
                          <a:rPr lang="en-US" sz="1000" b="1" i="1" dirty="0">
                            <a:solidFill>
                              <a:srgbClr val="B65C5C"/>
                            </a:solidFill>
                            <a:latin typeface="Cambria Math" panose="02040503050406030204" pitchFamily="18" charset="0"/>
                            <a:ea typeface="Aptos" pitchFamily="34" charset="-122"/>
                            <a:cs typeface="Aptos" pitchFamily="34" charset="-120"/>
                          </a:rPr>
                          <m:t> </m:t>
                        </m:r>
                        <m:r>
                          <a:rPr lang="en-US" sz="1000" b="1" i="1" dirty="0">
                            <a:solidFill>
                              <a:srgbClr val="B65C5C"/>
                            </a:solidFill>
                            <a:latin typeface="Cambria Math" panose="02040503050406030204" pitchFamily="18" charset="0"/>
                            <a:ea typeface="Aptos" pitchFamily="34" charset="-122"/>
                            <a:cs typeface="Aptos" pitchFamily="34" charset="-120"/>
                          </a:rPr>
                          <m:t>𝑨𝒕𝒕𝒂𝒄𝒌𝒔</m:t>
                        </m:r>
                      </m:num>
                      <m:den>
                        <m:r>
                          <a:rPr lang="tr-TR" sz="1000" b="1" i="1" dirty="0" smtClean="0">
                            <a:solidFill>
                              <a:srgbClr val="B65C5C"/>
                            </a:solidFill>
                            <a:latin typeface="Cambria Math" panose="02040503050406030204" pitchFamily="18" charset="0"/>
                          </a:rPr>
                          <m:t>𝑬𝒍𝒊𝒈𝒊𝒃𝒍𝒆</m:t>
                        </m:r>
                        <m:r>
                          <a:rPr lang="tr-TR" sz="1000" b="1" i="1" dirty="0" smtClean="0">
                            <a:solidFill>
                              <a:srgbClr val="B65C5C"/>
                            </a:solidFill>
                            <a:latin typeface="Cambria Math" panose="02040503050406030204" pitchFamily="18" charset="0"/>
                          </a:rPr>
                          <m:t> </m:t>
                        </m:r>
                        <m:r>
                          <a:rPr lang="tr-TR" sz="1000" b="1" i="1" dirty="0" smtClean="0">
                            <a:solidFill>
                              <a:srgbClr val="B65C5C"/>
                            </a:solidFill>
                            <a:latin typeface="Cambria Math" panose="02040503050406030204" pitchFamily="18" charset="0"/>
                          </a:rPr>
                          <m:t>𝑻𝒂𝒓𝒈𝒆𝒕</m:t>
                        </m:r>
                        <m:r>
                          <a:rPr lang="tr-TR" sz="1000" b="1" i="1" dirty="0" smtClean="0">
                            <a:solidFill>
                              <a:srgbClr val="B65C5C"/>
                            </a:solidFill>
                            <a:latin typeface="Cambria Math" panose="02040503050406030204" pitchFamily="18" charset="0"/>
                          </a:rPr>
                          <m:t> </m:t>
                        </m:r>
                        <m:r>
                          <a:rPr lang="tr-TR" sz="1000" b="1" i="1" dirty="0" smtClean="0">
                            <a:solidFill>
                              <a:srgbClr val="B65C5C"/>
                            </a:solidFill>
                            <a:latin typeface="Cambria Math" panose="02040503050406030204" pitchFamily="18" charset="0"/>
                          </a:rPr>
                          <m:t>𝑵𝒐𝒅𝒆𝒔</m:t>
                        </m:r>
                      </m:den>
                    </m:f>
                    <m:r>
                      <a:rPr lang="en-US" sz="1000" b="1" i="1" dirty="0" smtClean="0">
                        <a:solidFill>
                          <a:srgbClr val="B65C5C"/>
                        </a:solidFill>
                        <a:latin typeface="Cambria Math" panose="02040503050406030204" pitchFamily="18" charset="0"/>
                        <a:ea typeface="Aptos" pitchFamily="34" charset="-122"/>
                        <a:cs typeface="Aptos" pitchFamily="34" charset="-120"/>
                      </a:rPr>
                      <m:t> </m:t>
                    </m:r>
                  </m:oMath>
                </a14:m>
                <a:endParaRPr lang="en-US" sz="1000" b="1" dirty="0"/>
              </a:p>
            </p:txBody>
          </p:sp>
        </mc:Choice>
        <mc:Fallback xmlns="">
          <p:sp>
            <p:nvSpPr>
              <p:cNvPr id="24" name="Text 21"/>
              <p:cNvSpPr>
                <a:spLocks noRot="1" noChangeAspect="1" noMove="1" noResize="1" noEditPoints="1" noAdjustHandles="1" noChangeArrowheads="1" noChangeShapeType="1" noTextEdit="1"/>
              </p:cNvSpPr>
              <p:nvPr/>
            </p:nvSpPr>
            <p:spPr>
              <a:xfrm>
                <a:off x="8202138" y="4227339"/>
                <a:ext cx="2340924" cy="517656"/>
              </a:xfrm>
              <a:prstGeom prst="rect">
                <a:avLst/>
              </a:prstGeom>
              <a:blipFill>
                <a:blip r:embed="rId3"/>
                <a:stretch>
                  <a:fillRect/>
                </a:stretch>
              </a:blipFill>
              <a:ln/>
            </p:spPr>
            <p:txBody>
              <a:bodyPr/>
              <a:lstStyle/>
              <a:p>
                <a:r>
                  <a:rPr lang="tr-TR">
                    <a:noFill/>
                  </a:rPr>
                  <a:t> </a:t>
                </a:r>
              </a:p>
            </p:txBody>
          </p:sp>
        </mc:Fallback>
      </mc:AlternateContent>
      <p:sp>
        <p:nvSpPr>
          <p:cNvPr id="26"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4</a:t>
            </a:fld>
            <a:endParaRPr lang="en-US"/>
          </a:p>
        </p:txBody>
      </p:sp>
      <p:sp>
        <p:nvSpPr>
          <p:cNvPr id="4" name="Text 0">
            <a:extLst>
              <a:ext uri="{FF2B5EF4-FFF2-40B4-BE49-F238E27FC236}">
                <a16:creationId xmlns:a16="http://schemas.microsoft.com/office/drawing/2014/main" id="{8A776FAE-5823-CBB4-10E4-FF8A35FB3E9F}"/>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dirty="0">
                <a:solidFill>
                  <a:srgbClr val="8BB3B4"/>
                </a:solidFill>
                <a:latin typeface="Aptos"/>
              </a:rPr>
              <a:t>3. EVALUATION DESIGN</a:t>
            </a:r>
            <a:endParaRPr lang="en-US" sz="1050" dirty="0"/>
          </a:p>
        </p:txBody>
      </p:sp>
      <p:sp>
        <p:nvSpPr>
          <p:cNvPr id="27" name="Shape 4">
            <a:extLst>
              <a:ext uri="{FF2B5EF4-FFF2-40B4-BE49-F238E27FC236}">
                <a16:creationId xmlns:a16="http://schemas.microsoft.com/office/drawing/2014/main" id="{4637B5F7-B428-6C6C-3318-87345346307C}"/>
              </a:ext>
            </a:extLst>
          </p:cNvPr>
          <p:cNvSpPr/>
          <p:nvPr/>
        </p:nvSpPr>
        <p:spPr>
          <a:xfrm>
            <a:off x="4150913" y="1417320"/>
            <a:ext cx="7959639" cy="2354606"/>
          </a:xfrm>
          <a:prstGeom prst="roundRect">
            <a:avLst>
              <a:gd name="adj" fmla="val 7778"/>
            </a:avLst>
          </a:prstGeom>
          <a:solidFill>
            <a:srgbClr val="FFFFFF"/>
          </a:solidFill>
          <a:ln w="12700">
            <a:solidFill>
              <a:srgbClr val="D9E3E4"/>
            </a:solidFill>
            <a:prstDash val="solid"/>
          </a:ln>
        </p:spPr>
        <p:txBody>
          <a:bodyPr/>
          <a:lstStyle/>
          <a:p>
            <a:endParaRPr/>
          </a:p>
        </p:txBody>
      </p:sp>
      <p:pic>
        <p:nvPicPr>
          <p:cNvPr id="30" name="Grafik 29">
            <a:extLst>
              <a:ext uri="{FF2B5EF4-FFF2-40B4-BE49-F238E27FC236}">
                <a16:creationId xmlns:a16="http://schemas.microsoft.com/office/drawing/2014/main" id="{9ABEACBE-E143-F4BD-A949-6D5688ED0C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50913" y="1506390"/>
            <a:ext cx="7959639" cy="2228699"/>
          </a:xfrm>
          <a:prstGeom prst="rect">
            <a:avLst/>
          </a:prstGeom>
        </p:spPr>
      </p:pic>
      <p:sp>
        <p:nvSpPr>
          <p:cNvPr id="28" name="Shape 12">
            <a:extLst>
              <a:ext uri="{FF2B5EF4-FFF2-40B4-BE49-F238E27FC236}">
                <a16:creationId xmlns:a16="http://schemas.microsoft.com/office/drawing/2014/main" id="{99576A4A-B720-EBAB-5FFF-7C7A2060FEAC}"/>
              </a:ext>
            </a:extLst>
          </p:cNvPr>
          <p:cNvSpPr/>
          <p:nvPr/>
        </p:nvSpPr>
        <p:spPr>
          <a:xfrm>
            <a:off x="1097280" y="5393201"/>
            <a:ext cx="9966960" cy="0"/>
          </a:xfrm>
          <a:prstGeom prst="line">
            <a:avLst/>
          </a:prstGeom>
          <a:noFill/>
          <a:ln w="19050">
            <a:solidFill>
              <a:srgbClr val="D9E3E4"/>
            </a:solidFill>
            <a:prstDash val="solid"/>
          </a:ln>
        </p:spPr>
        <p:txBody>
          <a:bodyPr/>
          <a:lstStyle/>
          <a:p>
            <a:endParaRPr/>
          </a:p>
        </p:txBody>
      </p:sp>
      <p:sp>
        <p:nvSpPr>
          <p:cNvPr id="29" name="Shape 13">
            <a:extLst>
              <a:ext uri="{FF2B5EF4-FFF2-40B4-BE49-F238E27FC236}">
                <a16:creationId xmlns:a16="http://schemas.microsoft.com/office/drawing/2014/main" id="{0A74053A-3AAB-22CF-0BFE-EB9038E16A6B}"/>
              </a:ext>
            </a:extLst>
          </p:cNvPr>
          <p:cNvSpPr/>
          <p:nvPr/>
        </p:nvSpPr>
        <p:spPr>
          <a:xfrm>
            <a:off x="1005840" y="5713241"/>
            <a:ext cx="1920240"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31" name="Shape 15">
            <a:extLst>
              <a:ext uri="{FF2B5EF4-FFF2-40B4-BE49-F238E27FC236}">
                <a16:creationId xmlns:a16="http://schemas.microsoft.com/office/drawing/2014/main" id="{C047A7E1-DB84-AA34-3023-216AFF9E7EEC}"/>
              </a:ext>
            </a:extLst>
          </p:cNvPr>
          <p:cNvSpPr/>
          <p:nvPr/>
        </p:nvSpPr>
        <p:spPr>
          <a:xfrm>
            <a:off x="3154680" y="5713241"/>
            <a:ext cx="2148840"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33" name="Shape 17">
            <a:extLst>
              <a:ext uri="{FF2B5EF4-FFF2-40B4-BE49-F238E27FC236}">
                <a16:creationId xmlns:a16="http://schemas.microsoft.com/office/drawing/2014/main" id="{F96178F2-29B3-C1C9-190B-9612949579DD}"/>
              </a:ext>
            </a:extLst>
          </p:cNvPr>
          <p:cNvSpPr/>
          <p:nvPr/>
        </p:nvSpPr>
        <p:spPr>
          <a:xfrm>
            <a:off x="5532120" y="5713241"/>
            <a:ext cx="1993392"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34" name="Shape 19">
            <a:extLst>
              <a:ext uri="{FF2B5EF4-FFF2-40B4-BE49-F238E27FC236}">
                <a16:creationId xmlns:a16="http://schemas.microsoft.com/office/drawing/2014/main" id="{7D3ABCAA-00BC-B4CD-BD10-DF3875FC00F8}"/>
              </a:ext>
            </a:extLst>
          </p:cNvPr>
          <p:cNvSpPr/>
          <p:nvPr/>
        </p:nvSpPr>
        <p:spPr>
          <a:xfrm>
            <a:off x="7754112" y="5713241"/>
            <a:ext cx="1691640"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35" name="Shape 21">
            <a:extLst>
              <a:ext uri="{FF2B5EF4-FFF2-40B4-BE49-F238E27FC236}">
                <a16:creationId xmlns:a16="http://schemas.microsoft.com/office/drawing/2014/main" id="{22615716-0803-1F24-B3B2-1907D55B62C4}"/>
              </a:ext>
            </a:extLst>
          </p:cNvPr>
          <p:cNvSpPr/>
          <p:nvPr/>
        </p:nvSpPr>
        <p:spPr>
          <a:xfrm>
            <a:off x="9674352" y="5713241"/>
            <a:ext cx="1783080" cy="347472"/>
          </a:xfrm>
          <a:prstGeom prst="roundRect">
            <a:avLst>
              <a:gd name="adj" fmla="val 21053"/>
            </a:avLst>
          </a:prstGeom>
          <a:solidFill>
            <a:srgbClr val="CEE9EA"/>
          </a:solidFill>
          <a:ln w="12700">
            <a:solidFill>
              <a:srgbClr val="CEE9EA"/>
            </a:solidFill>
            <a:prstDash val="solid"/>
          </a:ln>
        </p:spPr>
        <p:txBody>
          <a:bodyPr/>
          <a:lstStyle/>
          <a:p>
            <a:endParaRPr/>
          </a:p>
        </p:txBody>
      </p:sp>
      <p:sp>
        <p:nvSpPr>
          <p:cNvPr id="36" name="Text 14">
            <a:extLst>
              <a:ext uri="{FF2B5EF4-FFF2-40B4-BE49-F238E27FC236}">
                <a16:creationId xmlns:a16="http://schemas.microsoft.com/office/drawing/2014/main" id="{E16DA713-A939-48F8-70B6-4C1F95040FA2}"/>
              </a:ext>
            </a:extLst>
          </p:cNvPr>
          <p:cNvSpPr/>
          <p:nvPr/>
        </p:nvSpPr>
        <p:spPr>
          <a:xfrm>
            <a:off x="1078992" y="5790965"/>
            <a:ext cx="1773936" cy="164592"/>
          </a:xfrm>
          <a:prstGeom prst="rect">
            <a:avLst/>
          </a:prstGeom>
          <a:noFill/>
          <a:ln/>
        </p:spPr>
        <p:txBody>
          <a:bodyPr wrap="square" lIns="0" tIns="0" rIns="0" bIns="0" rtlCol="0" anchor="ctr"/>
          <a:lstStyle/>
          <a:p>
            <a:pPr marL="0" indent="0" algn="ctr">
              <a:buNone/>
            </a:pPr>
            <a:r>
              <a:rPr sz="950" b="1" dirty="0">
                <a:solidFill>
                  <a:srgbClr val="445C6D"/>
                </a:solidFill>
                <a:latin typeface="Aptos"/>
              </a:rPr>
              <a:t>Same experimental conditions</a:t>
            </a:r>
            <a:endParaRPr lang="en-US" sz="950" dirty="0"/>
          </a:p>
        </p:txBody>
      </p:sp>
      <p:sp>
        <p:nvSpPr>
          <p:cNvPr id="37" name="Text 16">
            <a:extLst>
              <a:ext uri="{FF2B5EF4-FFF2-40B4-BE49-F238E27FC236}">
                <a16:creationId xmlns:a16="http://schemas.microsoft.com/office/drawing/2014/main" id="{43CCDBF4-DB1B-9817-8DF2-D03735C05C07}"/>
              </a:ext>
            </a:extLst>
          </p:cNvPr>
          <p:cNvSpPr/>
          <p:nvPr/>
        </p:nvSpPr>
        <p:spPr>
          <a:xfrm>
            <a:off x="3227832" y="5790965"/>
            <a:ext cx="2002536" cy="164592"/>
          </a:xfrm>
          <a:prstGeom prst="rect">
            <a:avLst/>
          </a:prstGeom>
          <a:noFill/>
          <a:ln/>
        </p:spPr>
        <p:txBody>
          <a:bodyPr wrap="square" lIns="0" tIns="0" rIns="0" bIns="0" rtlCol="0" anchor="ctr"/>
          <a:lstStyle/>
          <a:p>
            <a:pPr marL="0" indent="0" algn="ctr">
              <a:buNone/>
            </a:pPr>
            <a:r>
              <a:rPr sz="950" b="1" dirty="0">
                <a:solidFill>
                  <a:srgbClr val="445C6D"/>
                </a:solidFill>
                <a:latin typeface="Aptos"/>
              </a:rPr>
              <a:t>4 Heterogeneous GNN Models</a:t>
            </a:r>
            <a:endParaRPr lang="en-US" sz="950" dirty="0"/>
          </a:p>
        </p:txBody>
      </p:sp>
      <p:sp>
        <p:nvSpPr>
          <p:cNvPr id="38" name="Text 18">
            <a:extLst>
              <a:ext uri="{FF2B5EF4-FFF2-40B4-BE49-F238E27FC236}">
                <a16:creationId xmlns:a16="http://schemas.microsoft.com/office/drawing/2014/main" id="{66356449-C5FA-BD88-D5A2-25CA4BC92D83}"/>
              </a:ext>
            </a:extLst>
          </p:cNvPr>
          <p:cNvSpPr/>
          <p:nvPr/>
        </p:nvSpPr>
        <p:spPr>
          <a:xfrm>
            <a:off x="5605272" y="5790965"/>
            <a:ext cx="1847088" cy="164592"/>
          </a:xfrm>
          <a:prstGeom prst="rect">
            <a:avLst/>
          </a:prstGeom>
          <a:noFill/>
          <a:ln/>
        </p:spPr>
        <p:txBody>
          <a:bodyPr wrap="square" lIns="0" tIns="0" rIns="0" bIns="0" rtlCol="0" anchor="ctr"/>
          <a:lstStyle/>
          <a:p>
            <a:pPr marL="0" indent="0" algn="ctr">
              <a:buNone/>
            </a:pPr>
            <a:r>
              <a:rPr sz="950" b="1" dirty="0">
                <a:solidFill>
                  <a:srgbClr val="445C6D"/>
                </a:solidFill>
                <a:latin typeface="Aptos"/>
              </a:rPr>
              <a:t>3 White-Box Attacks</a:t>
            </a:r>
            <a:endParaRPr lang="en-US" sz="950" dirty="0"/>
          </a:p>
        </p:txBody>
      </p:sp>
      <p:sp>
        <p:nvSpPr>
          <p:cNvPr id="39" name="Text 20">
            <a:extLst>
              <a:ext uri="{FF2B5EF4-FFF2-40B4-BE49-F238E27FC236}">
                <a16:creationId xmlns:a16="http://schemas.microsoft.com/office/drawing/2014/main" id="{A1C555B1-A581-81F0-70CB-AA908D8C073B}"/>
              </a:ext>
            </a:extLst>
          </p:cNvPr>
          <p:cNvSpPr/>
          <p:nvPr/>
        </p:nvSpPr>
        <p:spPr>
          <a:xfrm>
            <a:off x="7827264" y="5790965"/>
            <a:ext cx="1545336" cy="164592"/>
          </a:xfrm>
          <a:prstGeom prst="rect">
            <a:avLst/>
          </a:prstGeom>
          <a:noFill/>
          <a:ln/>
        </p:spPr>
        <p:txBody>
          <a:bodyPr wrap="square" lIns="0" tIns="0" rIns="0" bIns="0" rtlCol="0" anchor="ctr"/>
          <a:lstStyle/>
          <a:p>
            <a:pPr marL="0" indent="0" algn="ctr">
              <a:buNone/>
            </a:pPr>
            <a:r>
              <a:rPr sz="950" b="1" dirty="0">
                <a:solidFill>
                  <a:srgbClr val="445C6D"/>
                </a:solidFill>
                <a:latin typeface="Aptos"/>
              </a:rPr>
              <a:t>Multiple </a:t>
            </a:r>
            <a:r>
              <a:rPr sz="950" b="1" dirty="0" err="1">
                <a:solidFill>
                  <a:srgbClr val="445C6D"/>
                </a:solidFill>
                <a:latin typeface="Aptos"/>
              </a:rPr>
              <a:t>ε</a:t>
            </a:r>
            <a:r>
              <a:rPr sz="950" b="1" dirty="0">
                <a:solidFill>
                  <a:srgbClr val="445C6D"/>
                </a:solidFill>
                <a:latin typeface="Aptos"/>
              </a:rPr>
              <a:t> levels</a:t>
            </a:r>
            <a:endParaRPr lang="en-US" sz="950" dirty="0"/>
          </a:p>
        </p:txBody>
      </p:sp>
      <p:sp>
        <p:nvSpPr>
          <p:cNvPr id="40" name="Text 22">
            <a:extLst>
              <a:ext uri="{FF2B5EF4-FFF2-40B4-BE49-F238E27FC236}">
                <a16:creationId xmlns:a16="http://schemas.microsoft.com/office/drawing/2014/main" id="{70EBA961-D5A5-44AD-BEA6-E3C442DEC790}"/>
              </a:ext>
            </a:extLst>
          </p:cNvPr>
          <p:cNvSpPr/>
          <p:nvPr/>
        </p:nvSpPr>
        <p:spPr>
          <a:xfrm>
            <a:off x="9747504" y="5790965"/>
            <a:ext cx="1636776" cy="164592"/>
          </a:xfrm>
          <a:prstGeom prst="rect">
            <a:avLst/>
          </a:prstGeom>
          <a:noFill/>
          <a:ln/>
        </p:spPr>
        <p:txBody>
          <a:bodyPr wrap="square" lIns="0" tIns="0" rIns="0" bIns="0" rtlCol="0" anchor="ctr"/>
          <a:lstStyle/>
          <a:p>
            <a:pPr marL="0" indent="0" algn="ctr">
              <a:buNone/>
            </a:pPr>
            <a:r>
              <a:rPr sz="950" b="1" dirty="0">
                <a:solidFill>
                  <a:srgbClr val="445C6D"/>
                </a:solidFill>
                <a:latin typeface="Aptos"/>
              </a:rPr>
              <a:t>20 runs per setting</a:t>
            </a:r>
            <a:endParaRPr lang="en-US" sz="950" dirty="0"/>
          </a:p>
        </p:txBody>
      </p:sp>
      <p:pic>
        <p:nvPicPr>
          <p:cNvPr id="41" name="Grafik 40">
            <a:extLst>
              <a:ext uri="{FF2B5EF4-FFF2-40B4-BE49-F238E27FC236}">
                <a16:creationId xmlns:a16="http://schemas.microsoft.com/office/drawing/2014/main" id="{C37D6879-63EF-B419-03DA-AA8D7D5D85C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002" y="6446520"/>
            <a:ext cx="273517" cy="228601"/>
          </a:xfrm>
          <a:prstGeom prst="rect">
            <a:avLst/>
          </a:prstGeom>
        </p:spPr>
      </p:pic>
      <p:sp>
        <p:nvSpPr>
          <p:cNvPr id="42" name="Shape 6">
            <a:extLst>
              <a:ext uri="{FF2B5EF4-FFF2-40B4-BE49-F238E27FC236}">
                <a16:creationId xmlns:a16="http://schemas.microsoft.com/office/drawing/2014/main" id="{F9408A95-0F4C-2879-8B44-FA555FF09FF5}"/>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nvSpPr>
        <p:spPr>
          <a:xfrm>
            <a:off x="530352" y="621792"/>
            <a:ext cx="10972800" cy="530352"/>
          </a:xfrm>
          <a:prstGeom prst="rect">
            <a:avLst/>
          </a:prstGeom>
          <a:noFill/>
          <a:ln/>
        </p:spPr>
        <p:txBody>
          <a:bodyPr wrap="square" lIns="0" tIns="0" rIns="0" bIns="0" rtlCol="0" anchor="ctr"/>
          <a:lstStyle/>
          <a:p>
            <a:r>
              <a:rPr lang="tr-TR" sz="2800" b="1" dirty="0" err="1">
                <a:solidFill>
                  <a:srgbClr val="445C6D"/>
                </a:solidFill>
                <a:latin typeface="Aptos Display"/>
              </a:rPr>
              <a:t>Clean</a:t>
            </a:r>
            <a:r>
              <a:rPr lang="tr-TR" sz="2800" b="1" dirty="0">
                <a:solidFill>
                  <a:srgbClr val="445C6D"/>
                </a:solidFill>
                <a:latin typeface="Aptos Display"/>
              </a:rPr>
              <a:t>-Data </a:t>
            </a:r>
            <a:r>
              <a:rPr lang="tr-TR" sz="2800" b="1" dirty="0" err="1">
                <a:solidFill>
                  <a:srgbClr val="445C6D"/>
                </a:solidFill>
                <a:latin typeface="Aptos Display"/>
              </a:rPr>
              <a:t>Performance</a:t>
            </a:r>
            <a:r>
              <a:rPr lang="tr-TR" sz="2800" b="1" dirty="0">
                <a:solidFill>
                  <a:srgbClr val="445C6D"/>
                </a:solidFill>
                <a:latin typeface="Aptos Display"/>
              </a:rPr>
              <a:t>: </a:t>
            </a:r>
            <a:r>
              <a:rPr lang="tr-TR" sz="2800" b="1" dirty="0" err="1">
                <a:solidFill>
                  <a:srgbClr val="445C6D"/>
                </a:solidFill>
                <a:latin typeface="Aptos Display"/>
              </a:rPr>
              <a:t>Strong</a:t>
            </a:r>
            <a:r>
              <a:rPr lang="tr-TR" sz="2800" b="1" dirty="0">
                <a:solidFill>
                  <a:srgbClr val="445C6D"/>
                </a:solidFill>
                <a:latin typeface="Aptos Display"/>
              </a:rPr>
              <a:t> </a:t>
            </a:r>
            <a:r>
              <a:rPr lang="tr-TR" sz="2800" b="1" dirty="0" err="1">
                <a:solidFill>
                  <a:srgbClr val="445C6D"/>
                </a:solidFill>
                <a:latin typeface="Aptos Display"/>
              </a:rPr>
              <a:t>Results</a:t>
            </a:r>
            <a:r>
              <a:rPr lang="tr-TR" sz="2800" b="1" dirty="0">
                <a:solidFill>
                  <a:srgbClr val="445C6D"/>
                </a:solidFill>
                <a:latin typeface="Aptos Display"/>
              </a:rPr>
              <a:t>, </a:t>
            </a:r>
            <a:r>
              <a:rPr lang="tr-TR" sz="2800" b="1" dirty="0" err="1">
                <a:solidFill>
                  <a:srgbClr val="445C6D"/>
                </a:solidFill>
                <a:latin typeface="Aptos Display"/>
              </a:rPr>
              <a:t>Different</a:t>
            </a:r>
            <a:r>
              <a:rPr lang="tr-TR" sz="2800" b="1" dirty="0">
                <a:solidFill>
                  <a:srgbClr val="445C6D"/>
                </a:solidFill>
                <a:latin typeface="Aptos Display"/>
              </a:rPr>
              <a:t> </a:t>
            </a:r>
            <a:r>
              <a:rPr lang="tr-TR" sz="2800" b="1" dirty="0" err="1">
                <a:solidFill>
                  <a:srgbClr val="445C6D"/>
                </a:solidFill>
                <a:latin typeface="Aptos Display"/>
              </a:rPr>
              <a:t>Starting</a:t>
            </a:r>
            <a:r>
              <a:rPr lang="tr-TR" sz="2800" b="1" dirty="0">
                <a:solidFill>
                  <a:srgbClr val="445C6D"/>
                </a:solidFill>
                <a:latin typeface="Aptos Display"/>
              </a:rPr>
              <a:t> </a:t>
            </a:r>
            <a:r>
              <a:rPr lang="tr-TR" sz="2800" b="1" dirty="0" err="1">
                <a:solidFill>
                  <a:srgbClr val="445C6D"/>
                </a:solidFill>
                <a:latin typeface="Aptos Display"/>
              </a:rPr>
              <a:t>Points</a:t>
            </a:r>
            <a:endParaRPr lang="tr-TR" sz="2800" dirty="0"/>
          </a:p>
        </p:txBody>
      </p:sp>
      <p:sp>
        <p:nvSpPr>
          <p:cNvPr id="4" name="Text 2"/>
          <p:cNvSpPr/>
          <p:nvPr/>
        </p:nvSpPr>
        <p:spPr>
          <a:xfrm>
            <a:off x="3392425" y="1360170"/>
            <a:ext cx="960120" cy="228600"/>
          </a:xfrm>
          <a:prstGeom prst="rect">
            <a:avLst/>
          </a:prstGeom>
          <a:noFill/>
          <a:ln/>
        </p:spPr>
        <p:txBody>
          <a:bodyPr wrap="square" lIns="0" tIns="0" rIns="0" bIns="0" rtlCol="0" anchor="ctr"/>
          <a:lstStyle/>
          <a:p>
            <a:pPr algn="ctr"/>
            <a:r>
              <a:rPr lang="tr-TR" sz="1050" b="1" dirty="0" err="1">
                <a:solidFill>
                  <a:srgbClr val="879EB0"/>
                </a:solidFill>
              </a:rPr>
              <a:t>Accuracy</a:t>
            </a:r>
            <a:endParaRPr lang="tr-TR" sz="1050" dirty="0"/>
          </a:p>
        </p:txBody>
      </p:sp>
      <p:sp>
        <p:nvSpPr>
          <p:cNvPr id="5" name="Text 3"/>
          <p:cNvSpPr/>
          <p:nvPr/>
        </p:nvSpPr>
        <p:spPr>
          <a:xfrm>
            <a:off x="4736593" y="1377403"/>
            <a:ext cx="960120" cy="228600"/>
          </a:xfrm>
          <a:prstGeom prst="rect">
            <a:avLst/>
          </a:prstGeom>
          <a:noFill/>
          <a:ln/>
        </p:spPr>
        <p:txBody>
          <a:bodyPr wrap="square" lIns="0" tIns="0" rIns="0" bIns="0" rtlCol="0" anchor="ctr"/>
          <a:lstStyle/>
          <a:p>
            <a:pPr algn="ctr"/>
            <a:r>
              <a:rPr lang="tr-TR" sz="1050" b="1" dirty="0">
                <a:solidFill>
                  <a:srgbClr val="8BB3B4"/>
                </a:solidFill>
              </a:rPr>
              <a:t>F1-score</a:t>
            </a:r>
            <a:endParaRPr lang="tr-TR" sz="1050" dirty="0"/>
          </a:p>
        </p:txBody>
      </p:sp>
      <p:sp>
        <p:nvSpPr>
          <p:cNvPr id="6" name="Text 4"/>
          <p:cNvSpPr/>
          <p:nvPr/>
        </p:nvSpPr>
        <p:spPr>
          <a:xfrm>
            <a:off x="685800" y="1947672"/>
            <a:ext cx="1645920" cy="256032"/>
          </a:xfrm>
          <a:prstGeom prst="rect">
            <a:avLst/>
          </a:prstGeom>
          <a:noFill/>
          <a:ln/>
        </p:spPr>
        <p:txBody>
          <a:bodyPr wrap="square" lIns="0" tIns="0" rIns="0" bIns="0" rtlCol="0" anchor="ctr"/>
          <a:lstStyle/>
          <a:p>
            <a:pPr marL="0" indent="0">
              <a:buNone/>
            </a:pPr>
            <a:r>
              <a:rPr lang="en-US" sz="1400" b="1">
                <a:solidFill>
                  <a:srgbClr val="1F2A33"/>
                </a:solidFill>
                <a:latin typeface="Aptos" pitchFamily="34" charset="0"/>
                <a:ea typeface="Aptos" pitchFamily="34" charset="-122"/>
                <a:cs typeface="Aptos" pitchFamily="34" charset="-120"/>
              </a:rPr>
              <a:t>HeteroSAGE</a:t>
            </a:r>
            <a:endParaRPr lang="en-US" sz="1400" b="1"/>
          </a:p>
        </p:txBody>
      </p:sp>
      <p:sp>
        <p:nvSpPr>
          <p:cNvPr id="7" name="Shape 5"/>
          <p:cNvSpPr/>
          <p:nvPr/>
        </p:nvSpPr>
        <p:spPr>
          <a:xfrm>
            <a:off x="2834640" y="1828800"/>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8" name="Shape 6"/>
          <p:cNvSpPr/>
          <p:nvPr/>
        </p:nvSpPr>
        <p:spPr>
          <a:xfrm>
            <a:off x="2834640" y="1828800"/>
            <a:ext cx="3886200" cy="246888"/>
          </a:xfrm>
          <a:prstGeom prst="roundRect">
            <a:avLst>
              <a:gd name="adj" fmla="val 18519"/>
            </a:avLst>
          </a:prstGeom>
          <a:solidFill>
            <a:srgbClr val="879EB0"/>
          </a:solidFill>
          <a:ln w="12700">
            <a:solidFill>
              <a:srgbClr val="879EB0"/>
            </a:solidFill>
            <a:prstDash val="solid"/>
          </a:ln>
        </p:spPr>
        <p:txBody>
          <a:bodyPr/>
          <a:lstStyle/>
          <a:p>
            <a:endParaRPr/>
          </a:p>
        </p:txBody>
      </p:sp>
      <p:sp>
        <p:nvSpPr>
          <p:cNvPr id="9" name="Shape 7"/>
          <p:cNvSpPr/>
          <p:nvPr/>
        </p:nvSpPr>
        <p:spPr>
          <a:xfrm>
            <a:off x="2834640" y="2176272"/>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10" name="Shape 8"/>
          <p:cNvSpPr/>
          <p:nvPr/>
        </p:nvSpPr>
        <p:spPr>
          <a:xfrm>
            <a:off x="2834640" y="2176272"/>
            <a:ext cx="3897630" cy="246888"/>
          </a:xfrm>
          <a:prstGeom prst="roundRect">
            <a:avLst>
              <a:gd name="adj" fmla="val 18519"/>
            </a:avLst>
          </a:prstGeom>
          <a:solidFill>
            <a:srgbClr val="8BB3B4"/>
          </a:solidFill>
          <a:ln w="12700">
            <a:solidFill>
              <a:srgbClr val="8BB3B4"/>
            </a:solidFill>
            <a:prstDash val="solid"/>
          </a:ln>
        </p:spPr>
        <p:txBody>
          <a:bodyPr/>
          <a:lstStyle/>
          <a:p>
            <a:endParaRPr/>
          </a:p>
        </p:txBody>
      </p:sp>
      <p:sp>
        <p:nvSpPr>
          <p:cNvPr id="11" name="Text 9"/>
          <p:cNvSpPr/>
          <p:nvPr/>
        </p:nvSpPr>
        <p:spPr>
          <a:xfrm>
            <a:off x="7571232" y="1819656"/>
            <a:ext cx="685800" cy="237744"/>
          </a:xfrm>
          <a:prstGeom prst="rect">
            <a:avLst/>
          </a:prstGeom>
          <a:noFill/>
          <a:ln/>
        </p:spPr>
        <p:txBody>
          <a:bodyPr wrap="square" lIns="0" tIns="0" rIns="0" bIns="0" rtlCol="0" anchor="ctr"/>
          <a:lstStyle/>
          <a:p>
            <a:pPr marL="0" indent="0">
              <a:buNone/>
            </a:pPr>
            <a:r>
              <a:rPr lang="en-US" sz="1080" b="1">
                <a:solidFill>
                  <a:srgbClr val="879EB0"/>
                </a:solidFill>
              </a:rPr>
              <a:t>97.00%</a:t>
            </a:r>
            <a:endParaRPr lang="en-US" sz="1080"/>
          </a:p>
        </p:txBody>
      </p:sp>
      <p:sp>
        <p:nvSpPr>
          <p:cNvPr id="12" name="Text 10"/>
          <p:cNvSpPr/>
          <p:nvPr/>
        </p:nvSpPr>
        <p:spPr>
          <a:xfrm>
            <a:off x="7571232" y="2167128"/>
            <a:ext cx="685800" cy="237744"/>
          </a:xfrm>
          <a:prstGeom prst="rect">
            <a:avLst/>
          </a:prstGeom>
          <a:noFill/>
          <a:ln/>
        </p:spPr>
        <p:txBody>
          <a:bodyPr wrap="square" lIns="0" tIns="0" rIns="0" bIns="0" rtlCol="0" anchor="ctr"/>
          <a:lstStyle/>
          <a:p>
            <a:pPr marL="0" indent="0">
              <a:buNone/>
            </a:pPr>
            <a:r>
              <a:rPr lang="en-US" sz="1080" b="1">
                <a:solidFill>
                  <a:srgbClr val="8BB3B4"/>
                </a:solidFill>
              </a:rPr>
              <a:t>97.05%</a:t>
            </a:r>
            <a:endParaRPr lang="en-US" sz="1080"/>
          </a:p>
        </p:txBody>
      </p:sp>
      <p:sp>
        <p:nvSpPr>
          <p:cNvPr id="13" name="Text 11"/>
          <p:cNvSpPr/>
          <p:nvPr/>
        </p:nvSpPr>
        <p:spPr>
          <a:xfrm>
            <a:off x="685800" y="2907792"/>
            <a:ext cx="1645920" cy="256032"/>
          </a:xfrm>
          <a:prstGeom prst="rect">
            <a:avLst/>
          </a:prstGeom>
          <a:noFill/>
          <a:ln/>
        </p:spPr>
        <p:txBody>
          <a:bodyPr wrap="square" lIns="0" tIns="0" rIns="0" bIns="0" rtlCol="0" anchor="ctr"/>
          <a:lstStyle/>
          <a:p>
            <a:pPr marL="0" indent="0">
              <a:buNone/>
            </a:pPr>
            <a:r>
              <a:rPr lang="en-US" sz="1400" b="1">
                <a:solidFill>
                  <a:srgbClr val="1F2932"/>
                </a:solidFill>
                <a:latin typeface="Aptos" pitchFamily="34" charset="0"/>
                <a:ea typeface="Aptos" pitchFamily="34" charset="-122"/>
                <a:cs typeface="Aptos" pitchFamily="34" charset="-120"/>
              </a:rPr>
              <a:t>HeteroGAE</a:t>
            </a:r>
            <a:endParaRPr lang="en-US" sz="1400" b="1">
              <a:solidFill>
                <a:srgbClr val="1F2932"/>
              </a:solidFill>
            </a:endParaRPr>
          </a:p>
        </p:txBody>
      </p:sp>
      <p:sp>
        <p:nvSpPr>
          <p:cNvPr id="14" name="Shape 12"/>
          <p:cNvSpPr/>
          <p:nvPr/>
        </p:nvSpPr>
        <p:spPr>
          <a:xfrm>
            <a:off x="2834640" y="2788920"/>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15" name="Shape 13"/>
          <p:cNvSpPr/>
          <p:nvPr/>
        </p:nvSpPr>
        <p:spPr>
          <a:xfrm>
            <a:off x="2834640" y="2788920"/>
            <a:ext cx="3929634" cy="246888"/>
          </a:xfrm>
          <a:prstGeom prst="roundRect">
            <a:avLst>
              <a:gd name="adj" fmla="val 18519"/>
            </a:avLst>
          </a:prstGeom>
          <a:solidFill>
            <a:srgbClr val="879EB0"/>
          </a:solidFill>
          <a:ln w="12700">
            <a:solidFill>
              <a:srgbClr val="879EB0"/>
            </a:solidFill>
            <a:prstDash val="solid"/>
          </a:ln>
        </p:spPr>
        <p:txBody>
          <a:bodyPr/>
          <a:lstStyle/>
          <a:p>
            <a:endParaRPr/>
          </a:p>
        </p:txBody>
      </p:sp>
      <p:sp>
        <p:nvSpPr>
          <p:cNvPr id="16" name="Shape 14"/>
          <p:cNvSpPr/>
          <p:nvPr/>
        </p:nvSpPr>
        <p:spPr>
          <a:xfrm>
            <a:off x="2834640" y="3136392"/>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17" name="Shape 15"/>
          <p:cNvSpPr/>
          <p:nvPr/>
        </p:nvSpPr>
        <p:spPr>
          <a:xfrm>
            <a:off x="2834640" y="3136392"/>
            <a:ext cx="3941064" cy="246888"/>
          </a:xfrm>
          <a:prstGeom prst="roundRect">
            <a:avLst>
              <a:gd name="adj" fmla="val 18519"/>
            </a:avLst>
          </a:prstGeom>
          <a:solidFill>
            <a:srgbClr val="8BB3B4"/>
          </a:solidFill>
          <a:ln w="12700">
            <a:solidFill>
              <a:srgbClr val="8BB3B4"/>
            </a:solidFill>
            <a:prstDash val="solid"/>
          </a:ln>
        </p:spPr>
        <p:txBody>
          <a:bodyPr/>
          <a:lstStyle/>
          <a:p>
            <a:endParaRPr/>
          </a:p>
        </p:txBody>
      </p:sp>
      <p:sp>
        <p:nvSpPr>
          <p:cNvPr id="18" name="Text 16"/>
          <p:cNvSpPr/>
          <p:nvPr/>
        </p:nvSpPr>
        <p:spPr>
          <a:xfrm>
            <a:off x="7571232" y="2779776"/>
            <a:ext cx="685800" cy="237744"/>
          </a:xfrm>
          <a:prstGeom prst="rect">
            <a:avLst/>
          </a:prstGeom>
          <a:noFill/>
          <a:ln/>
        </p:spPr>
        <p:txBody>
          <a:bodyPr wrap="square" lIns="0" tIns="0" rIns="0" bIns="0" rtlCol="0" anchor="ctr"/>
          <a:lstStyle/>
          <a:p>
            <a:pPr marL="0" indent="0">
              <a:buNone/>
            </a:pPr>
            <a:r>
              <a:rPr lang="en-US" sz="1080" b="1">
                <a:solidFill>
                  <a:srgbClr val="879EB0"/>
                </a:solidFill>
              </a:rPr>
              <a:t>97.19%</a:t>
            </a:r>
            <a:endParaRPr lang="en-US" sz="1080"/>
          </a:p>
        </p:txBody>
      </p:sp>
      <p:sp>
        <p:nvSpPr>
          <p:cNvPr id="19" name="Text 17"/>
          <p:cNvSpPr/>
          <p:nvPr/>
        </p:nvSpPr>
        <p:spPr>
          <a:xfrm>
            <a:off x="7571232" y="3127248"/>
            <a:ext cx="685800" cy="237744"/>
          </a:xfrm>
          <a:prstGeom prst="rect">
            <a:avLst/>
          </a:prstGeom>
          <a:noFill/>
          <a:ln/>
        </p:spPr>
        <p:txBody>
          <a:bodyPr wrap="square" lIns="0" tIns="0" rIns="0" bIns="0" rtlCol="0" anchor="ctr"/>
          <a:lstStyle/>
          <a:p>
            <a:pPr marL="0" indent="0">
              <a:buNone/>
            </a:pPr>
            <a:r>
              <a:rPr lang="en-US" sz="1080" b="1">
                <a:solidFill>
                  <a:srgbClr val="8BB3B4"/>
                </a:solidFill>
              </a:rPr>
              <a:t>97.24%</a:t>
            </a:r>
            <a:endParaRPr lang="en-US" sz="1080"/>
          </a:p>
        </p:txBody>
      </p:sp>
      <p:sp>
        <p:nvSpPr>
          <p:cNvPr id="20" name="Text 18"/>
          <p:cNvSpPr/>
          <p:nvPr/>
        </p:nvSpPr>
        <p:spPr>
          <a:xfrm>
            <a:off x="685800" y="3867912"/>
            <a:ext cx="1645920" cy="256032"/>
          </a:xfrm>
          <a:prstGeom prst="rect">
            <a:avLst/>
          </a:prstGeom>
          <a:noFill/>
          <a:ln/>
        </p:spPr>
        <p:txBody>
          <a:bodyPr wrap="square" lIns="0" tIns="0" rIns="0" bIns="0" rtlCol="0" anchor="ctr"/>
          <a:lstStyle/>
          <a:p>
            <a:pPr marL="0" indent="0">
              <a:buNone/>
            </a:pPr>
            <a:r>
              <a:rPr lang="en-US" sz="1400" b="1">
                <a:solidFill>
                  <a:srgbClr val="1F2932"/>
                </a:solidFill>
                <a:latin typeface="Aptos" pitchFamily="34" charset="0"/>
                <a:ea typeface="Aptos" pitchFamily="34" charset="-122"/>
                <a:cs typeface="Aptos" pitchFamily="34" charset="-120"/>
              </a:rPr>
              <a:t>HeteroGAT</a:t>
            </a:r>
            <a:endParaRPr lang="en-US" sz="1400" b="1">
              <a:solidFill>
                <a:srgbClr val="1F2932"/>
              </a:solidFill>
            </a:endParaRPr>
          </a:p>
        </p:txBody>
      </p:sp>
      <p:sp>
        <p:nvSpPr>
          <p:cNvPr id="21" name="Shape 19"/>
          <p:cNvSpPr/>
          <p:nvPr/>
        </p:nvSpPr>
        <p:spPr>
          <a:xfrm>
            <a:off x="2834640" y="3749040"/>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22" name="Shape 20"/>
          <p:cNvSpPr/>
          <p:nvPr/>
        </p:nvSpPr>
        <p:spPr>
          <a:xfrm>
            <a:off x="2834640" y="3749040"/>
            <a:ext cx="4149090" cy="246888"/>
          </a:xfrm>
          <a:prstGeom prst="roundRect">
            <a:avLst>
              <a:gd name="adj" fmla="val 18519"/>
            </a:avLst>
          </a:prstGeom>
          <a:solidFill>
            <a:srgbClr val="879EB0"/>
          </a:solidFill>
          <a:ln w="12700">
            <a:solidFill>
              <a:srgbClr val="879EB0"/>
            </a:solidFill>
            <a:prstDash val="solid"/>
          </a:ln>
        </p:spPr>
        <p:txBody>
          <a:bodyPr/>
          <a:lstStyle/>
          <a:p>
            <a:endParaRPr/>
          </a:p>
        </p:txBody>
      </p:sp>
      <p:sp>
        <p:nvSpPr>
          <p:cNvPr id="23" name="Shape 21"/>
          <p:cNvSpPr/>
          <p:nvPr/>
        </p:nvSpPr>
        <p:spPr>
          <a:xfrm>
            <a:off x="2834640" y="4096512"/>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24" name="Shape 22"/>
          <p:cNvSpPr/>
          <p:nvPr/>
        </p:nvSpPr>
        <p:spPr>
          <a:xfrm>
            <a:off x="2834640" y="4096512"/>
            <a:ext cx="4153662" cy="246888"/>
          </a:xfrm>
          <a:prstGeom prst="roundRect">
            <a:avLst>
              <a:gd name="adj" fmla="val 18519"/>
            </a:avLst>
          </a:prstGeom>
          <a:solidFill>
            <a:srgbClr val="8BB3B4"/>
          </a:solidFill>
          <a:ln w="12700">
            <a:solidFill>
              <a:srgbClr val="8BB3B4"/>
            </a:solidFill>
            <a:prstDash val="solid"/>
          </a:ln>
        </p:spPr>
        <p:txBody>
          <a:bodyPr/>
          <a:lstStyle/>
          <a:p>
            <a:endParaRPr/>
          </a:p>
        </p:txBody>
      </p:sp>
      <p:sp>
        <p:nvSpPr>
          <p:cNvPr id="25" name="Text 23"/>
          <p:cNvSpPr/>
          <p:nvPr/>
        </p:nvSpPr>
        <p:spPr>
          <a:xfrm>
            <a:off x="7571232" y="3739896"/>
            <a:ext cx="685800" cy="237744"/>
          </a:xfrm>
          <a:prstGeom prst="rect">
            <a:avLst/>
          </a:prstGeom>
          <a:noFill/>
          <a:ln/>
        </p:spPr>
        <p:txBody>
          <a:bodyPr wrap="square" lIns="0" tIns="0" rIns="0" bIns="0" rtlCol="0" anchor="ctr"/>
          <a:lstStyle/>
          <a:p>
            <a:pPr marL="0" indent="0">
              <a:buNone/>
            </a:pPr>
            <a:r>
              <a:rPr lang="en-US" sz="1080" b="1">
                <a:solidFill>
                  <a:srgbClr val="879EB0"/>
                </a:solidFill>
              </a:rPr>
              <a:t>98.15%</a:t>
            </a:r>
            <a:endParaRPr lang="en-US" sz="1080"/>
          </a:p>
        </p:txBody>
      </p:sp>
      <p:sp>
        <p:nvSpPr>
          <p:cNvPr id="26" name="Text 24"/>
          <p:cNvSpPr/>
          <p:nvPr/>
        </p:nvSpPr>
        <p:spPr>
          <a:xfrm>
            <a:off x="7571232" y="4087368"/>
            <a:ext cx="685800" cy="237744"/>
          </a:xfrm>
          <a:prstGeom prst="rect">
            <a:avLst/>
          </a:prstGeom>
          <a:noFill/>
          <a:ln/>
        </p:spPr>
        <p:txBody>
          <a:bodyPr wrap="square" lIns="0" tIns="0" rIns="0" bIns="0" rtlCol="0" anchor="ctr"/>
          <a:lstStyle/>
          <a:p>
            <a:pPr marL="0" indent="0">
              <a:buNone/>
            </a:pPr>
            <a:r>
              <a:rPr lang="en-US" sz="1080" b="1">
                <a:solidFill>
                  <a:srgbClr val="8BB3B4"/>
                </a:solidFill>
              </a:rPr>
              <a:t>98.17%</a:t>
            </a:r>
            <a:endParaRPr lang="en-US" sz="1080"/>
          </a:p>
        </p:txBody>
      </p:sp>
      <p:sp>
        <p:nvSpPr>
          <p:cNvPr id="27" name="Text 25"/>
          <p:cNvSpPr/>
          <p:nvPr/>
        </p:nvSpPr>
        <p:spPr>
          <a:xfrm>
            <a:off x="685800" y="4828032"/>
            <a:ext cx="1645920" cy="256032"/>
          </a:xfrm>
          <a:prstGeom prst="rect">
            <a:avLst/>
          </a:prstGeom>
          <a:noFill/>
          <a:ln/>
        </p:spPr>
        <p:txBody>
          <a:bodyPr wrap="square" lIns="0" tIns="0" rIns="0" bIns="0" rtlCol="0" anchor="ctr"/>
          <a:lstStyle/>
          <a:p>
            <a:pPr marL="0" indent="0">
              <a:buNone/>
            </a:pPr>
            <a:r>
              <a:rPr lang="en-US" sz="1400" b="1">
                <a:solidFill>
                  <a:srgbClr val="1F2A33"/>
                </a:solidFill>
                <a:latin typeface="Aptos" pitchFamily="34" charset="0"/>
                <a:ea typeface="Aptos" pitchFamily="34" charset="-122"/>
                <a:cs typeface="Aptos" pitchFamily="34" charset="-120"/>
              </a:rPr>
              <a:t>HeteroGCN</a:t>
            </a:r>
            <a:endParaRPr lang="en-US" sz="1400" b="1"/>
          </a:p>
        </p:txBody>
      </p:sp>
      <p:sp>
        <p:nvSpPr>
          <p:cNvPr id="28" name="Shape 26"/>
          <p:cNvSpPr/>
          <p:nvPr/>
        </p:nvSpPr>
        <p:spPr>
          <a:xfrm>
            <a:off x="2834640" y="4709160"/>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29" name="Shape 27"/>
          <p:cNvSpPr/>
          <p:nvPr/>
        </p:nvSpPr>
        <p:spPr>
          <a:xfrm>
            <a:off x="2834639" y="4709160"/>
            <a:ext cx="3144129" cy="246888"/>
          </a:xfrm>
          <a:prstGeom prst="roundRect">
            <a:avLst>
              <a:gd name="adj" fmla="val 18519"/>
            </a:avLst>
          </a:prstGeom>
          <a:solidFill>
            <a:srgbClr val="879EB0"/>
          </a:solidFill>
          <a:ln w="12700">
            <a:solidFill>
              <a:srgbClr val="879EB0"/>
            </a:solidFill>
            <a:prstDash val="solid"/>
          </a:ln>
        </p:spPr>
        <p:txBody>
          <a:bodyPr/>
          <a:lstStyle/>
          <a:p>
            <a:endParaRPr/>
          </a:p>
        </p:txBody>
      </p:sp>
      <p:sp>
        <p:nvSpPr>
          <p:cNvPr id="30" name="Shape 28"/>
          <p:cNvSpPr/>
          <p:nvPr/>
        </p:nvSpPr>
        <p:spPr>
          <a:xfrm>
            <a:off x="2834640" y="5056632"/>
            <a:ext cx="4572000" cy="246888"/>
          </a:xfrm>
          <a:prstGeom prst="roundRect">
            <a:avLst>
              <a:gd name="adj" fmla="val 18519"/>
            </a:avLst>
          </a:prstGeom>
          <a:solidFill>
            <a:srgbClr val="E8EEEE"/>
          </a:solidFill>
          <a:ln w="12700">
            <a:solidFill>
              <a:srgbClr val="E8EEEE"/>
            </a:solidFill>
            <a:prstDash val="solid"/>
          </a:ln>
        </p:spPr>
        <p:txBody>
          <a:bodyPr/>
          <a:lstStyle/>
          <a:p>
            <a:endParaRPr/>
          </a:p>
        </p:txBody>
      </p:sp>
      <p:sp>
        <p:nvSpPr>
          <p:cNvPr id="31" name="Shape 29"/>
          <p:cNvSpPr/>
          <p:nvPr/>
        </p:nvSpPr>
        <p:spPr>
          <a:xfrm>
            <a:off x="2834640" y="5056632"/>
            <a:ext cx="3261360" cy="246888"/>
          </a:xfrm>
          <a:prstGeom prst="roundRect">
            <a:avLst>
              <a:gd name="adj" fmla="val 18519"/>
            </a:avLst>
          </a:prstGeom>
          <a:solidFill>
            <a:srgbClr val="8BB3B4"/>
          </a:solidFill>
          <a:ln w="12700">
            <a:solidFill>
              <a:srgbClr val="8BB3B4"/>
            </a:solidFill>
            <a:prstDash val="solid"/>
          </a:ln>
        </p:spPr>
        <p:txBody>
          <a:bodyPr/>
          <a:lstStyle/>
          <a:p>
            <a:endParaRPr/>
          </a:p>
        </p:txBody>
      </p:sp>
      <p:sp>
        <p:nvSpPr>
          <p:cNvPr id="32" name="Text 30"/>
          <p:cNvSpPr/>
          <p:nvPr/>
        </p:nvSpPr>
        <p:spPr>
          <a:xfrm>
            <a:off x="7571232" y="4700016"/>
            <a:ext cx="685800" cy="237744"/>
          </a:xfrm>
          <a:prstGeom prst="rect">
            <a:avLst/>
          </a:prstGeom>
          <a:noFill/>
          <a:ln/>
        </p:spPr>
        <p:txBody>
          <a:bodyPr wrap="square" lIns="0" tIns="0" rIns="0" bIns="0" rtlCol="0" anchor="ctr"/>
          <a:lstStyle/>
          <a:p>
            <a:pPr marL="0" indent="0">
              <a:buNone/>
            </a:pPr>
            <a:r>
              <a:rPr lang="en-US" sz="1080" b="1">
                <a:solidFill>
                  <a:srgbClr val="879EB0"/>
                </a:solidFill>
              </a:rPr>
              <a:t>86.67%</a:t>
            </a:r>
            <a:endParaRPr lang="en-US" sz="1080"/>
          </a:p>
        </p:txBody>
      </p:sp>
      <p:sp>
        <p:nvSpPr>
          <p:cNvPr id="33" name="Text 31"/>
          <p:cNvSpPr/>
          <p:nvPr/>
        </p:nvSpPr>
        <p:spPr>
          <a:xfrm>
            <a:off x="7571232" y="5047488"/>
            <a:ext cx="685800" cy="237744"/>
          </a:xfrm>
          <a:prstGeom prst="rect">
            <a:avLst/>
          </a:prstGeom>
          <a:noFill/>
          <a:ln/>
        </p:spPr>
        <p:txBody>
          <a:bodyPr wrap="square" lIns="0" tIns="0" rIns="0" bIns="0" rtlCol="0" anchor="ctr"/>
          <a:lstStyle/>
          <a:p>
            <a:pPr marL="0" indent="0">
              <a:buNone/>
            </a:pPr>
            <a:r>
              <a:rPr lang="en-US" sz="1080" b="1">
                <a:solidFill>
                  <a:srgbClr val="8BB3B4"/>
                </a:solidFill>
              </a:rPr>
              <a:t>87.54%</a:t>
            </a:r>
            <a:endParaRPr lang="en-US" sz="1080"/>
          </a:p>
        </p:txBody>
      </p:sp>
      <p:sp>
        <p:nvSpPr>
          <p:cNvPr id="34" name="Text 32"/>
          <p:cNvSpPr/>
          <p:nvPr/>
        </p:nvSpPr>
        <p:spPr>
          <a:xfrm>
            <a:off x="2743200" y="5650992"/>
            <a:ext cx="457200" cy="182880"/>
          </a:xfrm>
          <a:prstGeom prst="rect">
            <a:avLst/>
          </a:prstGeom>
          <a:noFill/>
          <a:ln/>
        </p:spPr>
        <p:txBody>
          <a:bodyPr wrap="square" lIns="0" tIns="0" rIns="0" bIns="0" rtlCol="0" anchor="ctr"/>
          <a:lstStyle/>
          <a:p>
            <a:pPr marL="0" indent="0">
              <a:buNone/>
            </a:pPr>
            <a:r>
              <a:rPr lang="en-US" sz="850">
                <a:solidFill>
                  <a:srgbClr val="5E6C76"/>
                </a:solidFill>
              </a:rPr>
              <a:t>0%</a:t>
            </a:r>
            <a:endParaRPr lang="en-US" sz="850"/>
          </a:p>
        </p:txBody>
      </p:sp>
      <p:sp>
        <p:nvSpPr>
          <p:cNvPr id="35" name="Text 33"/>
          <p:cNvSpPr/>
          <p:nvPr/>
        </p:nvSpPr>
        <p:spPr>
          <a:xfrm>
            <a:off x="7150608" y="5650992"/>
            <a:ext cx="502920" cy="182880"/>
          </a:xfrm>
          <a:prstGeom prst="rect">
            <a:avLst/>
          </a:prstGeom>
          <a:noFill/>
          <a:ln/>
        </p:spPr>
        <p:txBody>
          <a:bodyPr wrap="square" lIns="0" tIns="0" rIns="0" bIns="0" rtlCol="0" anchor="ctr"/>
          <a:lstStyle/>
          <a:p>
            <a:pPr marL="0" indent="0">
              <a:buNone/>
            </a:pPr>
            <a:r>
              <a:rPr lang="en-US" sz="850">
                <a:solidFill>
                  <a:srgbClr val="5E6C76"/>
                </a:solidFill>
              </a:rPr>
              <a:t>100%</a:t>
            </a:r>
            <a:endParaRPr lang="en-US" sz="850"/>
          </a:p>
        </p:txBody>
      </p:sp>
      <p:sp>
        <p:nvSpPr>
          <p:cNvPr id="36" name="Shape 34"/>
          <p:cNvSpPr/>
          <p:nvPr/>
        </p:nvSpPr>
        <p:spPr>
          <a:xfrm>
            <a:off x="2834640" y="5532120"/>
            <a:ext cx="4572000" cy="0"/>
          </a:xfrm>
          <a:prstGeom prst="line">
            <a:avLst/>
          </a:prstGeom>
          <a:noFill/>
          <a:ln w="12700">
            <a:solidFill>
              <a:srgbClr val="C9D5D8"/>
            </a:solidFill>
            <a:prstDash val="solid"/>
          </a:ln>
        </p:spPr>
        <p:txBody>
          <a:bodyPr/>
          <a:lstStyle/>
          <a:p>
            <a:endParaRPr/>
          </a:p>
        </p:txBody>
      </p:sp>
      <p:sp>
        <p:nvSpPr>
          <p:cNvPr id="37" name="Shape 35"/>
          <p:cNvSpPr/>
          <p:nvPr/>
        </p:nvSpPr>
        <p:spPr>
          <a:xfrm>
            <a:off x="8641080" y="1554480"/>
            <a:ext cx="2834640" cy="3520440"/>
          </a:xfrm>
          <a:prstGeom prst="roundRect">
            <a:avLst>
              <a:gd name="adj" fmla="val 1935"/>
            </a:avLst>
          </a:prstGeom>
          <a:solidFill>
            <a:srgbClr val="FFFFFF"/>
          </a:solidFill>
          <a:ln w="15240">
            <a:solidFill>
              <a:srgbClr val="D7E1E3"/>
            </a:solidFill>
            <a:prstDash val="solid"/>
          </a:ln>
        </p:spPr>
        <p:txBody>
          <a:bodyPr/>
          <a:lstStyle/>
          <a:p>
            <a:endParaRPr/>
          </a:p>
        </p:txBody>
      </p:sp>
      <p:sp>
        <p:nvSpPr>
          <p:cNvPr id="38" name="Text 36"/>
          <p:cNvSpPr/>
          <p:nvPr/>
        </p:nvSpPr>
        <p:spPr>
          <a:xfrm>
            <a:off x="8942832" y="1828800"/>
            <a:ext cx="2286000" cy="274320"/>
          </a:xfrm>
          <a:prstGeom prst="rect">
            <a:avLst/>
          </a:prstGeom>
          <a:noFill/>
          <a:ln/>
        </p:spPr>
        <p:txBody>
          <a:bodyPr wrap="square" lIns="0" tIns="0" rIns="0" bIns="0" rtlCol="0" anchor="ctr"/>
          <a:lstStyle/>
          <a:p>
            <a:pPr algn="ctr"/>
            <a:r>
              <a:rPr lang="tr-TR" sz="1600" b="1" dirty="0">
                <a:solidFill>
                  <a:srgbClr val="445C6D"/>
                </a:solidFill>
                <a:latin typeface="Aptos Display"/>
              </a:rPr>
              <a:t>Best </a:t>
            </a:r>
            <a:r>
              <a:rPr lang="tr-TR" sz="1600" b="1" dirty="0" err="1">
                <a:solidFill>
                  <a:srgbClr val="445C6D"/>
                </a:solidFill>
                <a:latin typeface="Aptos Display"/>
              </a:rPr>
              <a:t>clean</a:t>
            </a:r>
            <a:r>
              <a:rPr lang="tr-TR" sz="1600" b="1" dirty="0">
                <a:solidFill>
                  <a:srgbClr val="445C6D"/>
                </a:solidFill>
                <a:latin typeface="Aptos Display"/>
              </a:rPr>
              <a:t>-data </a:t>
            </a:r>
            <a:r>
              <a:rPr lang="tr-TR" sz="1600" b="1" dirty="0" err="1">
                <a:solidFill>
                  <a:srgbClr val="445C6D"/>
                </a:solidFill>
                <a:latin typeface="Aptos Display"/>
              </a:rPr>
              <a:t>result</a:t>
            </a:r>
            <a:endParaRPr lang="tr-TR" sz="1600" dirty="0"/>
          </a:p>
        </p:txBody>
      </p:sp>
      <p:sp>
        <p:nvSpPr>
          <p:cNvPr id="39" name="Text 37"/>
          <p:cNvSpPr/>
          <p:nvPr/>
        </p:nvSpPr>
        <p:spPr>
          <a:xfrm>
            <a:off x="8869680" y="2395728"/>
            <a:ext cx="2423160" cy="658368"/>
          </a:xfrm>
          <a:prstGeom prst="rect">
            <a:avLst/>
          </a:prstGeom>
          <a:noFill/>
          <a:ln/>
        </p:spPr>
        <p:txBody>
          <a:bodyPr wrap="square" lIns="0" tIns="0" rIns="0" bIns="0" rtlCol="0" anchor="ctr"/>
          <a:lstStyle/>
          <a:p>
            <a:pPr marL="0" indent="0" algn="ctr">
              <a:buNone/>
            </a:pPr>
            <a:r>
              <a:rPr lang="en-US" sz="3600" b="1">
                <a:solidFill>
                  <a:srgbClr val="445C6D"/>
                </a:solidFill>
                <a:latin typeface="Aptos Display" pitchFamily="34" charset="0"/>
                <a:ea typeface="Aptos Display" pitchFamily="34" charset="-122"/>
                <a:cs typeface="Aptos Display" pitchFamily="34" charset="-120"/>
              </a:rPr>
              <a:t>98.15%</a:t>
            </a:r>
            <a:endParaRPr lang="en-US" sz="3600"/>
          </a:p>
        </p:txBody>
      </p:sp>
      <p:sp>
        <p:nvSpPr>
          <p:cNvPr id="40" name="Text 38"/>
          <p:cNvSpPr/>
          <p:nvPr/>
        </p:nvSpPr>
        <p:spPr>
          <a:xfrm>
            <a:off x="8961120" y="3063240"/>
            <a:ext cx="2240280" cy="256032"/>
          </a:xfrm>
          <a:prstGeom prst="rect">
            <a:avLst/>
          </a:prstGeom>
          <a:noFill/>
          <a:ln/>
        </p:spPr>
        <p:txBody>
          <a:bodyPr wrap="square" lIns="0" tIns="0" rIns="0" bIns="0" rtlCol="0" anchor="ctr"/>
          <a:lstStyle/>
          <a:p>
            <a:pPr algn="ctr"/>
            <a:r>
              <a:rPr lang="tr-TR" sz="1250" b="1" dirty="0" err="1">
                <a:solidFill>
                  <a:srgbClr val="5E6C76"/>
                </a:solidFill>
              </a:rPr>
              <a:t>HeteroGAT</a:t>
            </a:r>
            <a:r>
              <a:rPr lang="tr-TR" sz="1250" b="1" dirty="0">
                <a:solidFill>
                  <a:srgbClr val="5E6C76"/>
                </a:solidFill>
              </a:rPr>
              <a:t> </a:t>
            </a:r>
            <a:r>
              <a:rPr lang="tr-TR" sz="1250" b="1" dirty="0" err="1">
                <a:solidFill>
                  <a:srgbClr val="5E6C76"/>
                </a:solidFill>
              </a:rPr>
              <a:t>Accuracy</a:t>
            </a:r>
            <a:endParaRPr lang="tr-TR" sz="1250" dirty="0"/>
          </a:p>
        </p:txBody>
      </p:sp>
      <p:sp>
        <p:nvSpPr>
          <p:cNvPr id="41" name="Text 39"/>
          <p:cNvSpPr/>
          <p:nvPr/>
        </p:nvSpPr>
        <p:spPr>
          <a:xfrm>
            <a:off x="8869680" y="3575304"/>
            <a:ext cx="2423160" cy="585216"/>
          </a:xfrm>
          <a:prstGeom prst="rect">
            <a:avLst/>
          </a:prstGeom>
          <a:noFill/>
          <a:ln/>
        </p:spPr>
        <p:txBody>
          <a:bodyPr wrap="square" lIns="0" tIns="0" rIns="0" bIns="0" rtlCol="0" anchor="ctr"/>
          <a:lstStyle/>
          <a:p>
            <a:pPr marL="0" indent="0" algn="ctr">
              <a:buNone/>
            </a:pPr>
            <a:r>
              <a:rPr lang="en-US" sz="3000" b="1">
                <a:solidFill>
                  <a:srgbClr val="8BB3B4"/>
                </a:solidFill>
                <a:latin typeface="Aptos Display" pitchFamily="34" charset="0"/>
                <a:ea typeface="Aptos Display" pitchFamily="34" charset="-122"/>
                <a:cs typeface="Aptos Display" pitchFamily="34" charset="-120"/>
              </a:rPr>
              <a:t>98.17%</a:t>
            </a:r>
            <a:endParaRPr lang="en-US" sz="3000"/>
          </a:p>
        </p:txBody>
      </p:sp>
      <p:sp>
        <p:nvSpPr>
          <p:cNvPr id="42" name="Text 40"/>
          <p:cNvSpPr/>
          <p:nvPr/>
        </p:nvSpPr>
        <p:spPr>
          <a:xfrm>
            <a:off x="9345168" y="4169664"/>
            <a:ext cx="1417320" cy="237744"/>
          </a:xfrm>
          <a:prstGeom prst="rect">
            <a:avLst/>
          </a:prstGeom>
          <a:noFill/>
          <a:ln/>
        </p:spPr>
        <p:txBody>
          <a:bodyPr wrap="square" lIns="0" tIns="0" rIns="0" bIns="0" rtlCol="0" anchor="ctr"/>
          <a:lstStyle/>
          <a:p>
            <a:pPr algn="ctr"/>
            <a:r>
              <a:rPr lang="tr-TR" sz="1250" b="1" dirty="0">
                <a:solidFill>
                  <a:srgbClr val="5E6C76"/>
                </a:solidFill>
              </a:rPr>
              <a:t>F1-score</a:t>
            </a:r>
            <a:endParaRPr lang="tr-TR" sz="1250" dirty="0"/>
          </a:p>
        </p:txBody>
      </p:sp>
      <p:sp>
        <p:nvSpPr>
          <p:cNvPr id="43" name="Shape 41"/>
          <p:cNvSpPr/>
          <p:nvPr/>
        </p:nvSpPr>
        <p:spPr>
          <a:xfrm>
            <a:off x="8631936" y="5321808"/>
            <a:ext cx="2852928" cy="640080"/>
          </a:xfrm>
          <a:prstGeom prst="roundRect">
            <a:avLst>
              <a:gd name="adj" fmla="val 8571"/>
            </a:avLst>
          </a:prstGeom>
          <a:solidFill>
            <a:srgbClr val="CEE9EA"/>
          </a:solidFill>
          <a:ln w="12700">
            <a:solidFill>
              <a:srgbClr val="CEE9EA"/>
            </a:solidFill>
            <a:prstDash val="solid"/>
          </a:ln>
        </p:spPr>
        <p:txBody>
          <a:bodyPr/>
          <a:lstStyle/>
          <a:p>
            <a:endParaRPr/>
          </a:p>
        </p:txBody>
      </p:sp>
      <p:sp>
        <p:nvSpPr>
          <p:cNvPr id="44" name="Text 42"/>
          <p:cNvSpPr/>
          <p:nvPr/>
        </p:nvSpPr>
        <p:spPr>
          <a:xfrm>
            <a:off x="8796528" y="5468112"/>
            <a:ext cx="2523744" cy="365760"/>
          </a:xfrm>
          <a:prstGeom prst="rect">
            <a:avLst/>
          </a:prstGeom>
          <a:noFill/>
          <a:ln/>
        </p:spPr>
        <p:txBody>
          <a:bodyPr wrap="square" lIns="254" tIns="254" rIns="254" bIns="254" rtlCol="0" anchor="ctr">
            <a:normAutofit fontScale="85000" lnSpcReduction="20000"/>
          </a:bodyPr>
          <a:lstStyle/>
          <a:p>
            <a:pPr algn="ctr"/>
            <a:r>
              <a:rPr lang="tr-TR" sz="1700" b="1" dirty="0" err="1">
                <a:solidFill>
                  <a:srgbClr val="445C6D"/>
                </a:solidFill>
                <a:latin typeface="Aptos Display"/>
              </a:rPr>
              <a:t>Clean</a:t>
            </a:r>
            <a:r>
              <a:rPr lang="tr-TR" sz="1700" b="1" dirty="0">
                <a:solidFill>
                  <a:srgbClr val="445C6D"/>
                </a:solidFill>
                <a:latin typeface="Aptos Display"/>
              </a:rPr>
              <a:t>-data </a:t>
            </a:r>
            <a:r>
              <a:rPr lang="tr-TR" sz="1700" b="1" dirty="0" err="1">
                <a:solidFill>
                  <a:srgbClr val="445C6D"/>
                </a:solidFill>
                <a:latin typeface="Aptos Display"/>
              </a:rPr>
              <a:t>accuracy</a:t>
            </a:r>
            <a:r>
              <a:rPr lang="tr-TR" sz="1700" b="1" dirty="0">
                <a:solidFill>
                  <a:srgbClr val="445C6D"/>
                </a:solidFill>
                <a:latin typeface="Aptos Display"/>
              </a:rPr>
              <a:t> is not </a:t>
            </a:r>
            <a:r>
              <a:rPr lang="tr-TR" sz="1700" b="1" dirty="0" err="1">
                <a:solidFill>
                  <a:srgbClr val="445C6D"/>
                </a:solidFill>
                <a:latin typeface="Aptos Display"/>
              </a:rPr>
              <a:t>the</a:t>
            </a:r>
            <a:r>
              <a:rPr lang="tr-TR" sz="1700" b="1" dirty="0">
                <a:solidFill>
                  <a:srgbClr val="445C6D"/>
                </a:solidFill>
                <a:latin typeface="Aptos Display"/>
              </a:rPr>
              <a:t> </a:t>
            </a:r>
            <a:r>
              <a:rPr lang="tr-TR" sz="1700" b="1" dirty="0" err="1">
                <a:solidFill>
                  <a:srgbClr val="445C6D"/>
                </a:solidFill>
                <a:latin typeface="Aptos Display"/>
              </a:rPr>
              <a:t>same</a:t>
            </a:r>
            <a:r>
              <a:rPr lang="tr-TR" sz="1700" b="1" dirty="0">
                <a:solidFill>
                  <a:srgbClr val="445C6D"/>
                </a:solidFill>
                <a:latin typeface="Aptos Display"/>
              </a:rPr>
              <a:t> as </a:t>
            </a:r>
            <a:r>
              <a:rPr lang="tr-TR" sz="1700" b="1" dirty="0" err="1">
                <a:solidFill>
                  <a:srgbClr val="445C6D"/>
                </a:solidFill>
                <a:latin typeface="Aptos Display"/>
              </a:rPr>
              <a:t>adversarial</a:t>
            </a:r>
            <a:r>
              <a:rPr lang="tr-TR" sz="1700" b="1" dirty="0">
                <a:solidFill>
                  <a:srgbClr val="445C6D"/>
                </a:solidFill>
                <a:latin typeface="Aptos Display"/>
              </a:rPr>
              <a:t> </a:t>
            </a:r>
            <a:r>
              <a:rPr lang="tr-TR" sz="1700" b="1" dirty="0" err="1">
                <a:solidFill>
                  <a:srgbClr val="445C6D"/>
                </a:solidFill>
                <a:latin typeface="Aptos Display"/>
              </a:rPr>
              <a:t>robustness</a:t>
            </a:r>
            <a:r>
              <a:rPr lang="tr-TR" sz="1700" b="1" dirty="0">
                <a:solidFill>
                  <a:srgbClr val="445C6D"/>
                </a:solidFill>
                <a:latin typeface="Aptos Display"/>
              </a:rPr>
              <a:t>.</a:t>
            </a:r>
            <a:endParaRPr lang="tr-TR" sz="1700" dirty="0"/>
          </a:p>
        </p:txBody>
      </p:sp>
      <p:sp>
        <p:nvSpPr>
          <p:cNvPr id="4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5</a:t>
            </a:fld>
            <a:endParaRPr lang="en-US"/>
          </a:p>
        </p:txBody>
      </p:sp>
      <p:sp>
        <p:nvSpPr>
          <p:cNvPr id="46" name="Text 0">
            <a:extLst>
              <a:ext uri="{FF2B5EF4-FFF2-40B4-BE49-F238E27FC236}">
                <a16:creationId xmlns:a16="http://schemas.microsoft.com/office/drawing/2014/main" id="{34733AD8-3269-0111-E866-4D0EA4768DD9}"/>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dirty="0">
                <a:solidFill>
                  <a:srgbClr val="8BB3B4"/>
                </a:solidFill>
                <a:latin typeface="Aptos"/>
              </a:rPr>
              <a:t>4. BASELINE PERFORMANCE RESULTS</a:t>
            </a:r>
            <a:endParaRPr lang="en-US" sz="1050" dirty="0"/>
          </a:p>
        </p:txBody>
      </p:sp>
      <p:sp>
        <p:nvSpPr>
          <p:cNvPr id="2" name="Shape 6">
            <a:extLst>
              <a:ext uri="{FF2B5EF4-FFF2-40B4-BE49-F238E27FC236}">
                <a16:creationId xmlns:a16="http://schemas.microsoft.com/office/drawing/2014/main" id="{07054654-1079-4ABE-5ED8-94A854FD8A3D}"/>
              </a:ext>
            </a:extLst>
          </p:cNvPr>
          <p:cNvSpPr/>
          <p:nvPr/>
        </p:nvSpPr>
        <p:spPr>
          <a:xfrm>
            <a:off x="4209010" y="1392174"/>
            <a:ext cx="287069" cy="228600"/>
          </a:xfrm>
          <a:prstGeom prst="roundRect">
            <a:avLst>
              <a:gd name="adj" fmla="val 18519"/>
            </a:avLst>
          </a:prstGeom>
          <a:solidFill>
            <a:srgbClr val="879EB0"/>
          </a:solidFill>
          <a:ln w="12700">
            <a:solidFill>
              <a:srgbClr val="879EB0"/>
            </a:solidFill>
            <a:prstDash val="solid"/>
          </a:ln>
        </p:spPr>
        <p:txBody>
          <a:bodyPr/>
          <a:lstStyle/>
          <a:p>
            <a:endParaRPr/>
          </a:p>
        </p:txBody>
      </p:sp>
      <p:sp>
        <p:nvSpPr>
          <p:cNvPr id="47" name="Shape 8">
            <a:extLst>
              <a:ext uri="{FF2B5EF4-FFF2-40B4-BE49-F238E27FC236}">
                <a16:creationId xmlns:a16="http://schemas.microsoft.com/office/drawing/2014/main" id="{332A0FDA-EEC0-7BC0-7BAD-7AA127E99C9C}"/>
              </a:ext>
            </a:extLst>
          </p:cNvPr>
          <p:cNvSpPr/>
          <p:nvPr/>
        </p:nvSpPr>
        <p:spPr>
          <a:xfrm>
            <a:off x="5543815" y="1371599"/>
            <a:ext cx="280914" cy="228601"/>
          </a:xfrm>
          <a:prstGeom prst="roundRect">
            <a:avLst>
              <a:gd name="adj" fmla="val 18519"/>
            </a:avLst>
          </a:prstGeom>
          <a:solidFill>
            <a:srgbClr val="8BB3B4"/>
          </a:solidFill>
          <a:ln w="12700">
            <a:solidFill>
              <a:srgbClr val="8BB3B4"/>
            </a:solidFill>
            <a:prstDash val="solid"/>
          </a:ln>
        </p:spPr>
        <p:txBody>
          <a:bodyPr/>
          <a:lstStyle/>
          <a:p>
            <a:endParaRPr/>
          </a:p>
        </p:txBody>
      </p:sp>
      <p:pic>
        <p:nvPicPr>
          <p:cNvPr id="48" name="Grafik 47">
            <a:extLst>
              <a:ext uri="{FF2B5EF4-FFF2-40B4-BE49-F238E27FC236}">
                <a16:creationId xmlns:a16="http://schemas.microsoft.com/office/drawing/2014/main" id="{AC1F84B5-1A40-966A-CA72-B882BB5ADA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02" y="6446520"/>
            <a:ext cx="273517" cy="228601"/>
          </a:xfrm>
          <a:prstGeom prst="rect">
            <a:avLst/>
          </a:prstGeom>
        </p:spPr>
      </p:pic>
      <p:sp>
        <p:nvSpPr>
          <p:cNvPr id="49" name="Shape 6">
            <a:extLst>
              <a:ext uri="{FF2B5EF4-FFF2-40B4-BE49-F238E27FC236}">
                <a16:creationId xmlns:a16="http://schemas.microsoft.com/office/drawing/2014/main" id="{AEB04302-6E24-6C68-FB26-21235FE82CBA}"/>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530352" y="621792"/>
            <a:ext cx="10972800" cy="530352"/>
          </a:xfrm>
          <a:prstGeom prst="rect">
            <a:avLst/>
          </a:prstGeom>
          <a:noFill/>
          <a:ln/>
        </p:spPr>
        <p:txBody>
          <a:bodyPr wrap="square" lIns="0" tIns="0" rIns="0" bIns="0" rtlCol="0" anchor="ctr"/>
          <a:lstStyle/>
          <a:p>
            <a:r>
              <a:rPr lang="tr-TR" sz="2400" b="1" dirty="0">
                <a:solidFill>
                  <a:srgbClr val="445C6D"/>
                </a:solidFill>
                <a:latin typeface="Aptos Display"/>
              </a:rPr>
              <a:t>As </a:t>
            </a:r>
            <a:r>
              <a:rPr lang="tr-TR" sz="2400" b="1" dirty="0" err="1">
                <a:solidFill>
                  <a:srgbClr val="445C6D"/>
                </a:solidFill>
                <a:latin typeface="Aptos Display"/>
              </a:rPr>
              <a:t>Perturbation</a:t>
            </a:r>
            <a:r>
              <a:rPr lang="tr-TR" sz="2400" b="1" dirty="0">
                <a:solidFill>
                  <a:srgbClr val="445C6D"/>
                </a:solidFill>
                <a:latin typeface="Aptos Display"/>
              </a:rPr>
              <a:t> </a:t>
            </a:r>
            <a:r>
              <a:rPr lang="tr-TR" sz="2400" b="1" dirty="0" err="1">
                <a:solidFill>
                  <a:srgbClr val="445C6D"/>
                </a:solidFill>
                <a:latin typeface="Aptos Display"/>
              </a:rPr>
              <a:t>Increases</a:t>
            </a:r>
            <a:r>
              <a:rPr lang="tr-TR" sz="2400" b="1" dirty="0">
                <a:solidFill>
                  <a:srgbClr val="445C6D"/>
                </a:solidFill>
                <a:latin typeface="Aptos Display"/>
              </a:rPr>
              <a:t>, Attack </a:t>
            </a:r>
            <a:r>
              <a:rPr lang="tr-TR" sz="2400" b="1" dirty="0" err="1">
                <a:solidFill>
                  <a:srgbClr val="445C6D"/>
                </a:solidFill>
                <a:latin typeface="Aptos Display"/>
              </a:rPr>
              <a:t>Success</a:t>
            </a:r>
            <a:r>
              <a:rPr lang="tr-TR" sz="2400" b="1" dirty="0">
                <a:solidFill>
                  <a:srgbClr val="445C6D"/>
                </a:solidFill>
                <a:latin typeface="Aptos Display"/>
              </a:rPr>
              <a:t> Rate </a:t>
            </a:r>
            <a:r>
              <a:rPr lang="tr-TR" sz="2400" b="1" dirty="0" err="1">
                <a:solidFill>
                  <a:srgbClr val="445C6D"/>
                </a:solidFill>
                <a:latin typeface="Aptos Display"/>
              </a:rPr>
              <a:t>Rises</a:t>
            </a:r>
            <a:endParaRPr lang="tr-TR" sz="2400" dirty="0"/>
          </a:p>
        </p:txBody>
      </p:sp>
      <p:sp>
        <p:nvSpPr>
          <p:cNvPr id="5" name="Shape 2"/>
          <p:cNvSpPr/>
          <p:nvPr/>
        </p:nvSpPr>
        <p:spPr>
          <a:xfrm>
            <a:off x="8705088" y="1497504"/>
            <a:ext cx="2743200" cy="4261104"/>
          </a:xfrm>
          <a:prstGeom prst="roundRect">
            <a:avLst>
              <a:gd name="adj" fmla="val 2000"/>
            </a:avLst>
          </a:prstGeom>
          <a:solidFill>
            <a:srgbClr val="FFFFFF"/>
          </a:solidFill>
          <a:ln w="12700">
            <a:solidFill>
              <a:srgbClr val="D6E0E2"/>
            </a:solidFill>
            <a:prstDash val="solid"/>
          </a:ln>
        </p:spPr>
        <p:txBody>
          <a:bodyPr/>
          <a:lstStyle/>
          <a:p>
            <a:endParaRPr/>
          </a:p>
        </p:txBody>
      </p:sp>
      <p:sp>
        <p:nvSpPr>
          <p:cNvPr id="6" name="Text 3"/>
          <p:cNvSpPr/>
          <p:nvPr/>
        </p:nvSpPr>
        <p:spPr>
          <a:xfrm>
            <a:off x="8979408" y="1790112"/>
            <a:ext cx="2148840" cy="301752"/>
          </a:xfrm>
          <a:prstGeom prst="rect">
            <a:avLst/>
          </a:prstGeom>
          <a:noFill/>
          <a:ln/>
        </p:spPr>
        <p:txBody>
          <a:bodyPr wrap="square" lIns="0" tIns="0" rIns="0" bIns="0" rtlCol="0" anchor="ctr"/>
          <a:lstStyle/>
          <a:p>
            <a:r>
              <a:rPr lang="tr-TR" sz="1700" b="1" dirty="0" err="1">
                <a:solidFill>
                  <a:srgbClr val="445C6D"/>
                </a:solidFill>
                <a:latin typeface="Aptos Display"/>
              </a:rPr>
              <a:t>Key</a:t>
            </a:r>
            <a:r>
              <a:rPr lang="tr-TR" sz="1700" b="1" dirty="0">
                <a:solidFill>
                  <a:srgbClr val="445C6D"/>
                </a:solidFill>
                <a:latin typeface="Aptos Display"/>
              </a:rPr>
              <a:t> </a:t>
            </a:r>
            <a:r>
              <a:rPr lang="tr-TR" sz="1700" b="1" dirty="0" err="1">
                <a:solidFill>
                  <a:srgbClr val="445C6D"/>
                </a:solidFill>
                <a:latin typeface="Aptos Display"/>
              </a:rPr>
              <a:t>observations</a:t>
            </a:r>
            <a:endParaRPr lang="tr-TR" sz="1700" dirty="0"/>
          </a:p>
        </p:txBody>
      </p:sp>
      <p:sp>
        <p:nvSpPr>
          <p:cNvPr id="7" name="Text 4"/>
          <p:cNvSpPr/>
          <p:nvPr/>
        </p:nvSpPr>
        <p:spPr>
          <a:xfrm>
            <a:off x="8951976" y="2320464"/>
            <a:ext cx="2176272" cy="2953512"/>
          </a:xfrm>
          <a:prstGeom prst="rect">
            <a:avLst/>
          </a:prstGeom>
          <a:noFill/>
          <a:ln/>
        </p:spPr>
        <p:txBody>
          <a:bodyPr wrap="square" lIns="254" tIns="254" rIns="254" bIns="254" rtlCol="0" anchor="t"/>
          <a:lstStyle/>
          <a:p>
            <a:pPr marL="203200" indent="-203200">
              <a:buSzPct val="100000"/>
              <a:buChar char="•"/>
            </a:pPr>
            <a:r>
              <a:rPr lang="tr-TR" sz="1400" dirty="0">
                <a:solidFill>
                  <a:srgbClr val="1F2A33"/>
                </a:solidFill>
              </a:rPr>
              <a:t>ASR </a:t>
            </a:r>
            <a:r>
              <a:rPr lang="tr-TR" sz="1400" dirty="0" err="1">
                <a:solidFill>
                  <a:srgbClr val="1F2A33"/>
                </a:solidFill>
              </a:rPr>
              <a:t>generally</a:t>
            </a:r>
            <a:r>
              <a:rPr lang="tr-TR" sz="1400" dirty="0">
                <a:solidFill>
                  <a:srgbClr val="1F2A33"/>
                </a:solidFill>
              </a:rPr>
              <a:t> </a:t>
            </a:r>
            <a:r>
              <a:rPr lang="tr-TR" sz="1400" dirty="0" err="1">
                <a:solidFill>
                  <a:srgbClr val="1F2A33"/>
                </a:solidFill>
              </a:rPr>
              <a:t>increases</a:t>
            </a:r>
            <a:r>
              <a:rPr lang="tr-TR" sz="1400" dirty="0">
                <a:solidFill>
                  <a:srgbClr val="1F2A33"/>
                </a:solidFill>
              </a:rPr>
              <a:t> </a:t>
            </a:r>
            <a:r>
              <a:rPr lang="tr-TR" sz="1400" dirty="0" err="1">
                <a:solidFill>
                  <a:srgbClr val="1F2A33"/>
                </a:solidFill>
              </a:rPr>
              <a:t>with</a:t>
            </a:r>
            <a:r>
              <a:rPr lang="tr-TR" sz="1400" dirty="0">
                <a:solidFill>
                  <a:srgbClr val="1F2A33"/>
                </a:solidFill>
              </a:rPr>
              <a:t> </a:t>
            </a:r>
            <a:r>
              <a:rPr lang="el-GR" sz="1400" dirty="0">
                <a:solidFill>
                  <a:srgbClr val="1F2A33"/>
                </a:solidFill>
              </a:rPr>
              <a:t>ε </a:t>
            </a:r>
            <a:r>
              <a:rPr lang="tr-TR" sz="1400" dirty="0" err="1">
                <a:solidFill>
                  <a:srgbClr val="1F2A33"/>
                </a:solidFill>
              </a:rPr>
              <a:t>across</a:t>
            </a:r>
            <a:r>
              <a:rPr lang="tr-TR" sz="1400" dirty="0">
                <a:solidFill>
                  <a:srgbClr val="1F2A33"/>
                </a:solidFill>
              </a:rPr>
              <a:t> </a:t>
            </a:r>
            <a:r>
              <a:rPr lang="tr-TR" sz="1400" dirty="0" err="1">
                <a:solidFill>
                  <a:srgbClr val="1F2A33"/>
                </a:solidFill>
              </a:rPr>
              <a:t>all</a:t>
            </a:r>
            <a:r>
              <a:rPr lang="tr-TR" sz="1400" dirty="0">
                <a:solidFill>
                  <a:srgbClr val="1F2A33"/>
                </a:solidFill>
              </a:rPr>
              <a:t> </a:t>
            </a:r>
            <a:r>
              <a:rPr lang="tr-TR" sz="1400" dirty="0" err="1">
                <a:solidFill>
                  <a:srgbClr val="1F2A33"/>
                </a:solidFill>
              </a:rPr>
              <a:t>architectures</a:t>
            </a:r>
            <a:r>
              <a:rPr lang="tr-TR" sz="1400" dirty="0">
                <a:solidFill>
                  <a:srgbClr val="1F2A33"/>
                </a:solidFill>
              </a:rPr>
              <a:t>.</a:t>
            </a:r>
            <a:endParaRPr lang="tr-TR" sz="1400" dirty="0"/>
          </a:p>
          <a:p>
            <a:pPr marL="203200" indent="-203200">
              <a:buSzPct val="100000"/>
              <a:buFontTx/>
              <a:buChar char="•"/>
            </a:pPr>
            <a:r>
              <a:rPr lang="tr-TR" sz="1400" dirty="0" err="1">
                <a:solidFill>
                  <a:srgbClr val="1F2A33"/>
                </a:solidFill>
              </a:rPr>
              <a:t>HeteroSAGE</a:t>
            </a:r>
            <a:r>
              <a:rPr lang="tr-TR" sz="1400" dirty="0">
                <a:solidFill>
                  <a:srgbClr val="1F2A33"/>
                </a:solidFill>
              </a:rPr>
              <a:t> is </a:t>
            </a:r>
            <a:r>
              <a:rPr lang="tr-TR" sz="1400" dirty="0" err="1">
                <a:solidFill>
                  <a:srgbClr val="1F2A33"/>
                </a:solidFill>
              </a:rPr>
              <a:t>notably</a:t>
            </a:r>
            <a:r>
              <a:rPr lang="tr-TR" sz="1400" dirty="0">
                <a:solidFill>
                  <a:srgbClr val="1F2A33"/>
                </a:solidFill>
              </a:rPr>
              <a:t> </a:t>
            </a:r>
            <a:r>
              <a:rPr lang="tr-TR" sz="1400" dirty="0" err="1">
                <a:solidFill>
                  <a:srgbClr val="1F2A33"/>
                </a:solidFill>
              </a:rPr>
              <a:t>vulnerable</a:t>
            </a:r>
            <a:r>
              <a:rPr lang="tr-TR" sz="1400" dirty="0">
                <a:solidFill>
                  <a:srgbClr val="1F2A33"/>
                </a:solidFill>
              </a:rPr>
              <a:t> at </a:t>
            </a:r>
            <a:r>
              <a:rPr lang="tr-TR" sz="1400" dirty="0" err="1">
                <a:solidFill>
                  <a:srgbClr val="1F2A33"/>
                </a:solidFill>
              </a:rPr>
              <a:t>medium</a:t>
            </a:r>
            <a:r>
              <a:rPr lang="tr-TR" sz="1400" dirty="0">
                <a:solidFill>
                  <a:srgbClr val="1F2A33"/>
                </a:solidFill>
              </a:rPr>
              <a:t> </a:t>
            </a:r>
            <a:r>
              <a:rPr lang="tr-TR" sz="1400" dirty="0" err="1">
                <a:solidFill>
                  <a:srgbClr val="1F2A33"/>
                </a:solidFill>
              </a:rPr>
              <a:t>and</a:t>
            </a:r>
            <a:r>
              <a:rPr lang="tr-TR" sz="1400" dirty="0">
                <a:solidFill>
                  <a:srgbClr val="1F2A33"/>
                </a:solidFill>
              </a:rPr>
              <a:t> </a:t>
            </a:r>
            <a:r>
              <a:rPr lang="tr-TR" sz="1400" dirty="0" err="1">
                <a:solidFill>
                  <a:srgbClr val="1F2A33"/>
                </a:solidFill>
              </a:rPr>
              <a:t>high</a:t>
            </a:r>
            <a:r>
              <a:rPr lang="tr-TR" sz="1400" dirty="0">
                <a:solidFill>
                  <a:srgbClr val="1F2A33"/>
                </a:solidFill>
              </a:rPr>
              <a:t> </a:t>
            </a:r>
            <a:r>
              <a:rPr lang="el-GR" sz="1400" dirty="0">
                <a:solidFill>
                  <a:srgbClr val="1F2A33"/>
                </a:solidFill>
              </a:rPr>
              <a:t>ε </a:t>
            </a:r>
            <a:r>
              <a:rPr lang="tr-TR" sz="1400" dirty="0" err="1">
                <a:solidFill>
                  <a:srgbClr val="1F2A33"/>
                </a:solidFill>
              </a:rPr>
              <a:t>values</a:t>
            </a:r>
            <a:r>
              <a:rPr lang="tr-TR" sz="1400" dirty="0">
                <a:solidFill>
                  <a:srgbClr val="1F2A33"/>
                </a:solidFill>
              </a:rPr>
              <a:t>.</a:t>
            </a:r>
            <a:endParaRPr lang="en-US" sz="1400" dirty="0"/>
          </a:p>
          <a:p>
            <a:pPr marL="203200" indent="-203200">
              <a:buSzPct val="100000"/>
              <a:buFontTx/>
              <a:buChar char="•"/>
            </a:pPr>
            <a:r>
              <a:rPr lang="tr-TR" sz="1400" dirty="0" err="1">
                <a:solidFill>
                  <a:srgbClr val="1F2A33"/>
                </a:solidFill>
              </a:rPr>
              <a:t>HeteroGAE</a:t>
            </a:r>
            <a:r>
              <a:rPr lang="tr-TR" sz="1400" dirty="0">
                <a:solidFill>
                  <a:srgbClr val="1F2A33"/>
                </a:solidFill>
              </a:rPr>
              <a:t> is </a:t>
            </a:r>
            <a:r>
              <a:rPr lang="tr-TR" sz="1400" dirty="0" err="1">
                <a:solidFill>
                  <a:srgbClr val="1F2A33"/>
                </a:solidFill>
              </a:rPr>
              <a:t>attack-dependent</a:t>
            </a:r>
            <a:r>
              <a:rPr lang="tr-TR" sz="1400" dirty="0">
                <a:solidFill>
                  <a:srgbClr val="1F2A33"/>
                </a:solidFill>
              </a:rPr>
              <a:t>: </a:t>
            </a:r>
            <a:r>
              <a:rPr lang="tr-TR" sz="1400" dirty="0" err="1">
                <a:solidFill>
                  <a:srgbClr val="1F2A33"/>
                </a:solidFill>
              </a:rPr>
              <a:t>lower</a:t>
            </a:r>
            <a:r>
              <a:rPr lang="tr-TR" sz="1400" dirty="0">
                <a:solidFill>
                  <a:srgbClr val="1F2A33"/>
                </a:solidFill>
              </a:rPr>
              <a:t> ASR </a:t>
            </a:r>
            <a:r>
              <a:rPr lang="tr-TR" sz="1400" dirty="0" err="1">
                <a:solidFill>
                  <a:srgbClr val="1F2A33"/>
                </a:solidFill>
              </a:rPr>
              <a:t>under</a:t>
            </a:r>
            <a:r>
              <a:rPr lang="tr-TR" sz="1400" dirty="0">
                <a:solidFill>
                  <a:srgbClr val="1F2A33"/>
                </a:solidFill>
              </a:rPr>
              <a:t> PGD, </a:t>
            </a:r>
            <a:r>
              <a:rPr lang="tr-TR" sz="1400" dirty="0" err="1">
                <a:solidFill>
                  <a:srgbClr val="1F2A33"/>
                </a:solidFill>
              </a:rPr>
              <a:t>higher</a:t>
            </a:r>
            <a:r>
              <a:rPr lang="tr-TR" sz="1400" dirty="0">
                <a:solidFill>
                  <a:srgbClr val="1F2A33"/>
                </a:solidFill>
              </a:rPr>
              <a:t> ASR </a:t>
            </a:r>
            <a:r>
              <a:rPr lang="tr-TR" sz="1400" dirty="0" err="1">
                <a:solidFill>
                  <a:srgbClr val="1F2A33"/>
                </a:solidFill>
              </a:rPr>
              <a:t>under</a:t>
            </a:r>
            <a:r>
              <a:rPr lang="tr-TR" sz="1400" dirty="0">
                <a:solidFill>
                  <a:srgbClr val="1F2A33"/>
                </a:solidFill>
              </a:rPr>
              <a:t> BIM.</a:t>
            </a:r>
          </a:p>
          <a:p>
            <a:pPr marL="203200" indent="-203200">
              <a:buSzPct val="100000"/>
              <a:buFontTx/>
              <a:buChar char="•"/>
            </a:pPr>
            <a:r>
              <a:rPr lang="tr-TR" sz="1400" dirty="0" err="1">
                <a:solidFill>
                  <a:srgbClr val="1F2A33"/>
                </a:solidFill>
              </a:rPr>
              <a:t>HeteroGCN’s</a:t>
            </a:r>
            <a:r>
              <a:rPr lang="tr-TR" sz="1400" dirty="0">
                <a:solidFill>
                  <a:srgbClr val="1F2A33"/>
                </a:solidFill>
              </a:rPr>
              <a:t> </a:t>
            </a:r>
            <a:r>
              <a:rPr lang="tr-TR" sz="1400" dirty="0" err="1">
                <a:solidFill>
                  <a:srgbClr val="1F2A33"/>
                </a:solidFill>
              </a:rPr>
              <a:t>low</a:t>
            </a:r>
            <a:r>
              <a:rPr lang="tr-TR" sz="1400" dirty="0">
                <a:solidFill>
                  <a:srgbClr val="1F2A33"/>
                </a:solidFill>
              </a:rPr>
              <a:t> ASR </a:t>
            </a:r>
            <a:r>
              <a:rPr lang="tr-TR" sz="1400" dirty="0" err="1">
                <a:solidFill>
                  <a:srgbClr val="1F2A33"/>
                </a:solidFill>
              </a:rPr>
              <a:t>should</a:t>
            </a:r>
            <a:r>
              <a:rPr lang="tr-TR" sz="1400" dirty="0">
                <a:solidFill>
                  <a:srgbClr val="1F2A33"/>
                </a:solidFill>
              </a:rPr>
              <a:t> be </a:t>
            </a:r>
            <a:r>
              <a:rPr lang="tr-TR" sz="1400" dirty="0" err="1">
                <a:solidFill>
                  <a:srgbClr val="1F2A33"/>
                </a:solidFill>
              </a:rPr>
              <a:t>interpreted</a:t>
            </a:r>
            <a:r>
              <a:rPr lang="tr-TR" sz="1400" dirty="0">
                <a:solidFill>
                  <a:srgbClr val="1F2A33"/>
                </a:solidFill>
              </a:rPr>
              <a:t> </a:t>
            </a:r>
            <a:r>
              <a:rPr lang="tr-TR" sz="1400" dirty="0" err="1">
                <a:solidFill>
                  <a:srgbClr val="1F2A33"/>
                </a:solidFill>
              </a:rPr>
              <a:t>together</a:t>
            </a:r>
            <a:r>
              <a:rPr lang="tr-TR" sz="1400" dirty="0">
                <a:solidFill>
                  <a:srgbClr val="1F2A33"/>
                </a:solidFill>
              </a:rPr>
              <a:t> </a:t>
            </a:r>
            <a:r>
              <a:rPr lang="tr-TR" sz="1400" dirty="0" err="1">
                <a:solidFill>
                  <a:srgbClr val="1F2A33"/>
                </a:solidFill>
              </a:rPr>
              <a:t>with</a:t>
            </a:r>
            <a:r>
              <a:rPr lang="tr-TR" sz="1400" dirty="0">
                <a:solidFill>
                  <a:srgbClr val="1F2A33"/>
                </a:solidFill>
              </a:rPr>
              <a:t> </a:t>
            </a:r>
            <a:r>
              <a:rPr lang="tr-TR" sz="1400" dirty="0" err="1">
                <a:solidFill>
                  <a:srgbClr val="1F2A33"/>
                </a:solidFill>
              </a:rPr>
              <a:t>its</a:t>
            </a:r>
            <a:r>
              <a:rPr lang="tr-TR" sz="1400" dirty="0">
                <a:solidFill>
                  <a:srgbClr val="1F2A33"/>
                </a:solidFill>
              </a:rPr>
              <a:t> </a:t>
            </a:r>
            <a:r>
              <a:rPr lang="tr-TR" sz="1400" dirty="0" err="1">
                <a:solidFill>
                  <a:srgbClr val="1F2A33"/>
                </a:solidFill>
              </a:rPr>
              <a:t>weak</a:t>
            </a:r>
            <a:r>
              <a:rPr lang="tr-TR" sz="1400" dirty="0">
                <a:solidFill>
                  <a:srgbClr val="1F2A33"/>
                </a:solidFill>
              </a:rPr>
              <a:t> </a:t>
            </a:r>
            <a:r>
              <a:rPr lang="tr-TR" sz="1400" dirty="0" err="1">
                <a:solidFill>
                  <a:srgbClr val="1F2A33"/>
                </a:solidFill>
              </a:rPr>
              <a:t>clean</a:t>
            </a:r>
            <a:r>
              <a:rPr lang="tr-TR" sz="1400" dirty="0">
                <a:solidFill>
                  <a:srgbClr val="1F2A33"/>
                </a:solidFill>
              </a:rPr>
              <a:t>-data </a:t>
            </a:r>
            <a:r>
              <a:rPr lang="tr-TR" sz="1400" dirty="0" err="1">
                <a:solidFill>
                  <a:srgbClr val="1F2A33"/>
                </a:solidFill>
              </a:rPr>
              <a:t>performance</a:t>
            </a:r>
            <a:r>
              <a:rPr lang="tr-TR" sz="1400" dirty="0">
                <a:solidFill>
                  <a:srgbClr val="1F2A33"/>
                </a:solidFill>
              </a:rPr>
              <a:t>.</a:t>
            </a:r>
          </a:p>
          <a:p>
            <a:pPr marL="203200" indent="-203200">
              <a:buSzPct val="100000"/>
              <a:buChar char="•"/>
            </a:pPr>
            <a:endParaRPr lang="en-US" sz="1240" dirty="0"/>
          </a:p>
        </p:txBody>
      </p:sp>
      <p:sp>
        <p:nvSpPr>
          <p:cNvPr id="8" name="Shape 5"/>
          <p:cNvSpPr/>
          <p:nvPr/>
        </p:nvSpPr>
        <p:spPr>
          <a:xfrm>
            <a:off x="3173506" y="5161138"/>
            <a:ext cx="2603350" cy="563006"/>
          </a:xfrm>
          <a:prstGeom prst="roundRect">
            <a:avLst>
              <a:gd name="adj" fmla="val 11538"/>
            </a:avLst>
          </a:prstGeom>
          <a:solidFill>
            <a:srgbClr val="F6EAEA"/>
          </a:solidFill>
          <a:ln w="12700">
            <a:solidFill>
              <a:srgbClr val="F6EAEA"/>
            </a:solidFill>
            <a:prstDash val="solid"/>
          </a:ln>
        </p:spPr>
        <p:txBody>
          <a:bodyPr/>
          <a:lstStyle/>
          <a:p>
            <a:endParaRPr/>
          </a:p>
        </p:txBody>
      </p:sp>
      <p:sp>
        <p:nvSpPr>
          <p:cNvPr id="9" name="Text 6"/>
          <p:cNvSpPr/>
          <p:nvPr/>
        </p:nvSpPr>
        <p:spPr>
          <a:xfrm>
            <a:off x="3273552" y="5221224"/>
            <a:ext cx="2395728" cy="484632"/>
          </a:xfrm>
          <a:prstGeom prst="rect">
            <a:avLst/>
          </a:prstGeom>
          <a:noFill/>
          <a:ln/>
        </p:spPr>
        <p:txBody>
          <a:bodyPr wrap="square" lIns="254" tIns="254" rIns="254" bIns="254" rtlCol="0" anchor="ctr">
            <a:noAutofit/>
          </a:bodyPr>
          <a:lstStyle/>
          <a:p>
            <a:pPr algn="ctr"/>
            <a:r>
              <a:rPr lang="tr-TR" sz="1500" b="1" dirty="0">
                <a:solidFill>
                  <a:srgbClr val="B65C5C"/>
                </a:solidFill>
                <a:latin typeface="Aptos Display"/>
              </a:rPr>
              <a:t>ASR </a:t>
            </a:r>
            <a:r>
              <a:rPr lang="tr-TR" sz="1500" b="1" dirty="0" err="1">
                <a:solidFill>
                  <a:srgbClr val="B65C5C"/>
                </a:solidFill>
                <a:latin typeface="Aptos Display"/>
              </a:rPr>
              <a:t>alone</a:t>
            </a:r>
            <a:r>
              <a:rPr lang="tr-TR" sz="1500" b="1" dirty="0">
                <a:solidFill>
                  <a:srgbClr val="B65C5C"/>
                </a:solidFill>
                <a:latin typeface="Aptos Display"/>
              </a:rPr>
              <a:t> can be </a:t>
            </a:r>
            <a:r>
              <a:rPr lang="tr-TR" sz="1500" b="1" dirty="0" err="1">
                <a:solidFill>
                  <a:srgbClr val="B65C5C"/>
                </a:solidFill>
                <a:latin typeface="Aptos Display"/>
              </a:rPr>
              <a:t>misleading</a:t>
            </a:r>
            <a:r>
              <a:rPr lang="en-US" sz="1500" b="1" dirty="0">
                <a:solidFill>
                  <a:srgbClr val="B65C5C"/>
                </a:solidFill>
                <a:latin typeface="Aptos Display" pitchFamily="34" charset="0"/>
                <a:ea typeface="Aptos Display" pitchFamily="34" charset="-122"/>
                <a:cs typeface="Aptos Display" pitchFamily="34" charset="-120"/>
              </a:rPr>
              <a:t>.</a:t>
            </a:r>
            <a:endParaRPr lang="en-US" sz="1500" dirty="0"/>
          </a:p>
        </p:txBody>
      </p:sp>
      <p:sp>
        <p:nvSpPr>
          <p:cNvPr id="2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6</a:t>
            </a:fld>
            <a:endParaRPr lang="en-US"/>
          </a:p>
        </p:txBody>
      </p:sp>
      <p:sp>
        <p:nvSpPr>
          <p:cNvPr id="4" name="Text 0">
            <a:extLst>
              <a:ext uri="{FF2B5EF4-FFF2-40B4-BE49-F238E27FC236}">
                <a16:creationId xmlns:a16="http://schemas.microsoft.com/office/drawing/2014/main" id="{0879A6F2-9661-2277-03A1-A9132E5D601F}"/>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a:solidFill>
                  <a:srgbClr val="8BB3B4"/>
                </a:solidFill>
                <a:latin typeface="Aptos"/>
              </a:rPr>
              <a:t>5. ADVERSARIAL ROBUSTNESS — ASR</a:t>
            </a:r>
            <a:endParaRPr lang="en-US" sz="1050"/>
          </a:p>
        </p:txBody>
      </p:sp>
      <p:sp>
        <p:nvSpPr>
          <p:cNvPr id="11" name="Shape 4">
            <a:extLst>
              <a:ext uri="{FF2B5EF4-FFF2-40B4-BE49-F238E27FC236}">
                <a16:creationId xmlns:a16="http://schemas.microsoft.com/office/drawing/2014/main" id="{82D536CB-DEEF-3066-D8DE-D282760D3A21}"/>
              </a:ext>
            </a:extLst>
          </p:cNvPr>
          <p:cNvSpPr/>
          <p:nvPr/>
        </p:nvSpPr>
        <p:spPr>
          <a:xfrm>
            <a:off x="197171" y="1492821"/>
            <a:ext cx="8319889" cy="3047215"/>
          </a:xfrm>
          <a:prstGeom prst="roundRect">
            <a:avLst>
              <a:gd name="adj" fmla="val 7778"/>
            </a:avLst>
          </a:prstGeom>
          <a:solidFill>
            <a:srgbClr val="FFFFFF"/>
          </a:solidFill>
          <a:ln w="12700">
            <a:solidFill>
              <a:srgbClr val="D9E3E4"/>
            </a:solidFill>
            <a:prstDash val="solid"/>
          </a:ln>
        </p:spPr>
        <p:txBody>
          <a:bodyPr/>
          <a:lstStyle/>
          <a:p>
            <a:endParaRPr/>
          </a:p>
        </p:txBody>
      </p:sp>
      <p:pic>
        <p:nvPicPr>
          <p:cNvPr id="10" name="Resim 9">
            <a:extLst>
              <a:ext uri="{FF2B5EF4-FFF2-40B4-BE49-F238E27FC236}">
                <a16:creationId xmlns:a16="http://schemas.microsoft.com/office/drawing/2014/main" id="{58B5D3B9-99D7-BB5C-B2B6-5B858AE64DF2}"/>
              </a:ext>
            </a:extLst>
          </p:cNvPr>
          <p:cNvPicPr>
            <a:picLocks noChangeAspect="1"/>
          </p:cNvPicPr>
          <p:nvPr/>
        </p:nvPicPr>
        <p:blipFill>
          <a:blip r:embed="rId3"/>
          <a:stretch>
            <a:fillRect/>
          </a:stretch>
        </p:blipFill>
        <p:spPr>
          <a:xfrm>
            <a:off x="416052" y="1696862"/>
            <a:ext cx="7772400" cy="2639135"/>
          </a:xfrm>
          <a:prstGeom prst="rect">
            <a:avLst/>
          </a:prstGeom>
        </p:spPr>
      </p:pic>
      <p:pic>
        <p:nvPicPr>
          <p:cNvPr id="2" name="Grafik 1">
            <a:extLst>
              <a:ext uri="{FF2B5EF4-FFF2-40B4-BE49-F238E27FC236}">
                <a16:creationId xmlns:a16="http://schemas.microsoft.com/office/drawing/2014/main" id="{581E5156-927C-7A88-A755-594442C08B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002" y="6446520"/>
            <a:ext cx="273517" cy="228601"/>
          </a:xfrm>
          <a:prstGeom prst="rect">
            <a:avLst/>
          </a:prstGeom>
        </p:spPr>
      </p:pic>
      <p:sp>
        <p:nvSpPr>
          <p:cNvPr id="12" name="Shape 6">
            <a:extLst>
              <a:ext uri="{FF2B5EF4-FFF2-40B4-BE49-F238E27FC236}">
                <a16:creationId xmlns:a16="http://schemas.microsoft.com/office/drawing/2014/main" id="{5C54BFAB-7F96-AD8A-B1E3-CEE4436F6C46}"/>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530352" y="621792"/>
            <a:ext cx="10972800" cy="530352"/>
          </a:xfrm>
          <a:prstGeom prst="rect">
            <a:avLst/>
          </a:prstGeom>
          <a:noFill/>
          <a:ln/>
        </p:spPr>
        <p:txBody>
          <a:bodyPr wrap="square" lIns="0" tIns="0" rIns="0" bIns="0" rtlCol="0" anchor="ctr"/>
          <a:lstStyle/>
          <a:p>
            <a:r>
              <a:rPr lang="tr-TR" sz="2400" b="1" dirty="0" err="1">
                <a:solidFill>
                  <a:srgbClr val="445C6D"/>
                </a:solidFill>
                <a:latin typeface="Aptos Display"/>
              </a:rPr>
              <a:t>Robustness</a:t>
            </a:r>
            <a:r>
              <a:rPr lang="tr-TR" sz="2400" b="1" dirty="0">
                <a:solidFill>
                  <a:srgbClr val="445C6D"/>
                </a:solidFill>
                <a:latin typeface="Aptos Display"/>
              </a:rPr>
              <a:t> </a:t>
            </a:r>
            <a:r>
              <a:rPr lang="tr-TR" sz="2400" b="1" dirty="0" err="1">
                <a:solidFill>
                  <a:srgbClr val="445C6D"/>
                </a:solidFill>
                <a:latin typeface="Aptos Display"/>
              </a:rPr>
              <a:t>Depends</a:t>
            </a:r>
            <a:r>
              <a:rPr lang="tr-TR" sz="2400" b="1" dirty="0">
                <a:solidFill>
                  <a:srgbClr val="445C6D"/>
                </a:solidFill>
                <a:latin typeface="Aptos Display"/>
              </a:rPr>
              <a:t> on Architecture </a:t>
            </a:r>
            <a:r>
              <a:rPr lang="tr-TR" sz="2400" b="1" dirty="0" err="1">
                <a:solidFill>
                  <a:srgbClr val="445C6D"/>
                </a:solidFill>
                <a:latin typeface="Aptos Display"/>
              </a:rPr>
              <a:t>and</a:t>
            </a:r>
            <a:r>
              <a:rPr lang="tr-TR" sz="2400" b="1" dirty="0">
                <a:solidFill>
                  <a:srgbClr val="445C6D"/>
                </a:solidFill>
                <a:latin typeface="Aptos Display"/>
              </a:rPr>
              <a:t> Attack </a:t>
            </a:r>
            <a:r>
              <a:rPr lang="tr-TR" sz="2400" b="1" dirty="0" err="1">
                <a:solidFill>
                  <a:srgbClr val="445C6D"/>
                </a:solidFill>
                <a:latin typeface="Aptos Display"/>
              </a:rPr>
              <a:t>Type</a:t>
            </a:r>
            <a:endParaRPr lang="tr-TR" sz="2400" dirty="0"/>
          </a:p>
        </p:txBody>
      </p:sp>
      <p:sp>
        <p:nvSpPr>
          <p:cNvPr id="4" name="Text 2"/>
          <p:cNvSpPr/>
          <p:nvPr/>
        </p:nvSpPr>
        <p:spPr>
          <a:xfrm>
            <a:off x="355732" y="1720391"/>
            <a:ext cx="2397195" cy="274320"/>
          </a:xfrm>
          <a:prstGeom prst="rect">
            <a:avLst/>
          </a:prstGeom>
          <a:noFill/>
          <a:ln/>
        </p:spPr>
        <p:txBody>
          <a:bodyPr wrap="square" lIns="0" tIns="0" rIns="0" bIns="0" rtlCol="0" anchor="ctr"/>
          <a:lstStyle/>
          <a:p>
            <a:r>
              <a:rPr lang="tr-TR" b="1" dirty="0">
                <a:solidFill>
                  <a:srgbClr val="445C6D"/>
                </a:solidFill>
                <a:latin typeface="Aptos Display"/>
              </a:rPr>
              <a:t>F1-score </a:t>
            </a:r>
            <a:r>
              <a:rPr lang="tr-TR" b="1" dirty="0" err="1">
                <a:solidFill>
                  <a:srgbClr val="445C6D"/>
                </a:solidFill>
                <a:latin typeface="Aptos Display"/>
              </a:rPr>
              <a:t>under</a:t>
            </a:r>
            <a:r>
              <a:rPr lang="tr-TR" b="1" dirty="0">
                <a:solidFill>
                  <a:srgbClr val="445C6D"/>
                </a:solidFill>
                <a:latin typeface="Aptos Display"/>
              </a:rPr>
              <a:t> </a:t>
            </a:r>
            <a:r>
              <a:rPr lang="tr-TR" b="1" dirty="0" err="1">
                <a:solidFill>
                  <a:srgbClr val="445C6D"/>
                </a:solidFill>
                <a:latin typeface="Aptos Display"/>
              </a:rPr>
              <a:t>attack</a:t>
            </a:r>
            <a:endParaRPr lang="tr-TR" dirty="0"/>
          </a:p>
        </p:txBody>
      </p:sp>
      <p:sp>
        <p:nvSpPr>
          <p:cNvPr id="6" name="Text 3"/>
          <p:cNvSpPr/>
          <p:nvPr/>
        </p:nvSpPr>
        <p:spPr>
          <a:xfrm>
            <a:off x="6364509" y="1729535"/>
            <a:ext cx="2468880" cy="274320"/>
          </a:xfrm>
          <a:prstGeom prst="rect">
            <a:avLst/>
          </a:prstGeom>
          <a:noFill/>
          <a:ln/>
        </p:spPr>
        <p:txBody>
          <a:bodyPr wrap="square" lIns="0" tIns="0" rIns="0" bIns="0" rtlCol="0" anchor="ctr"/>
          <a:lstStyle/>
          <a:p>
            <a:r>
              <a:rPr lang="tr-TR" b="1" dirty="0" err="1">
                <a:solidFill>
                  <a:srgbClr val="445C6D"/>
                </a:solidFill>
                <a:latin typeface="Aptos Display"/>
              </a:rPr>
              <a:t>Accuracy</a:t>
            </a:r>
            <a:r>
              <a:rPr lang="tr-TR" b="1" dirty="0">
                <a:solidFill>
                  <a:srgbClr val="445C6D"/>
                </a:solidFill>
                <a:latin typeface="Aptos Display"/>
              </a:rPr>
              <a:t> </a:t>
            </a:r>
            <a:r>
              <a:rPr lang="tr-TR" b="1" dirty="0" err="1">
                <a:solidFill>
                  <a:srgbClr val="445C6D"/>
                </a:solidFill>
                <a:latin typeface="Aptos Display"/>
              </a:rPr>
              <a:t>under</a:t>
            </a:r>
            <a:r>
              <a:rPr lang="tr-TR" b="1" dirty="0">
                <a:solidFill>
                  <a:srgbClr val="445C6D"/>
                </a:solidFill>
                <a:latin typeface="Aptos Display"/>
              </a:rPr>
              <a:t> </a:t>
            </a:r>
            <a:r>
              <a:rPr lang="tr-TR" b="1" dirty="0" err="1">
                <a:solidFill>
                  <a:srgbClr val="445C6D"/>
                </a:solidFill>
                <a:latin typeface="Aptos Display"/>
              </a:rPr>
              <a:t>attack</a:t>
            </a:r>
            <a:endParaRPr lang="tr-TR" dirty="0"/>
          </a:p>
        </p:txBody>
      </p:sp>
      <p:sp>
        <p:nvSpPr>
          <p:cNvPr id="8" name="Shape 4"/>
          <p:cNvSpPr/>
          <p:nvPr/>
        </p:nvSpPr>
        <p:spPr>
          <a:xfrm>
            <a:off x="633984" y="5276088"/>
            <a:ext cx="3383280" cy="822960"/>
          </a:xfrm>
          <a:prstGeom prst="roundRect">
            <a:avLst>
              <a:gd name="adj" fmla="val 7778"/>
            </a:avLst>
          </a:prstGeom>
          <a:solidFill>
            <a:srgbClr val="FFFFFF"/>
          </a:solidFill>
          <a:ln w="12700">
            <a:solidFill>
              <a:srgbClr val="D9E3E4"/>
            </a:solidFill>
            <a:prstDash val="solid"/>
          </a:ln>
        </p:spPr>
        <p:txBody>
          <a:bodyPr/>
          <a:lstStyle/>
          <a:p>
            <a:endParaRPr/>
          </a:p>
        </p:txBody>
      </p:sp>
      <p:sp>
        <p:nvSpPr>
          <p:cNvPr id="9" name="Text 5"/>
          <p:cNvSpPr/>
          <p:nvPr/>
        </p:nvSpPr>
        <p:spPr>
          <a:xfrm>
            <a:off x="804672" y="5358384"/>
            <a:ext cx="3054096" cy="256032"/>
          </a:xfrm>
          <a:prstGeom prst="rect">
            <a:avLst/>
          </a:prstGeom>
          <a:noFill/>
          <a:ln/>
        </p:spPr>
        <p:txBody>
          <a:bodyPr wrap="square" lIns="0" tIns="0" rIns="0" bIns="0" rtlCol="0" anchor="ctr"/>
          <a:lstStyle/>
          <a:p>
            <a:pPr marL="0" indent="0">
              <a:buNone/>
            </a:pPr>
            <a:r>
              <a:rPr lang="en-US" sz="1420" b="1">
                <a:solidFill>
                  <a:srgbClr val="445C6D"/>
                </a:solidFill>
                <a:latin typeface="Aptos Display" pitchFamily="34" charset="0"/>
                <a:ea typeface="Aptos Display" pitchFamily="34" charset="-122"/>
                <a:cs typeface="Aptos Display" pitchFamily="34" charset="-120"/>
              </a:rPr>
              <a:t>HeteroSAGE</a:t>
            </a:r>
            <a:endParaRPr lang="en-US" sz="1420"/>
          </a:p>
        </p:txBody>
      </p:sp>
      <p:sp>
        <p:nvSpPr>
          <p:cNvPr id="10" name="Text 6"/>
          <p:cNvSpPr/>
          <p:nvPr/>
        </p:nvSpPr>
        <p:spPr>
          <a:xfrm>
            <a:off x="798576" y="5618814"/>
            <a:ext cx="3054096" cy="411480"/>
          </a:xfrm>
          <a:prstGeom prst="rect">
            <a:avLst/>
          </a:prstGeom>
          <a:noFill/>
          <a:ln/>
        </p:spPr>
        <p:txBody>
          <a:bodyPr wrap="square" lIns="254" tIns="254" rIns="254" bIns="254" rtlCol="0" anchor="t"/>
          <a:lstStyle/>
          <a:p>
            <a:r>
              <a:rPr lang="tr-TR" sz="1200" dirty="0">
                <a:solidFill>
                  <a:srgbClr val="1F2A33"/>
                </a:solidFill>
              </a:rPr>
              <a:t>High </a:t>
            </a:r>
            <a:r>
              <a:rPr lang="tr-TR" sz="1200" dirty="0" err="1">
                <a:solidFill>
                  <a:srgbClr val="1F2A33"/>
                </a:solidFill>
              </a:rPr>
              <a:t>clean</a:t>
            </a:r>
            <a:r>
              <a:rPr lang="tr-TR" sz="1200" dirty="0">
                <a:solidFill>
                  <a:srgbClr val="1F2A33"/>
                </a:solidFill>
              </a:rPr>
              <a:t>-data </a:t>
            </a:r>
            <a:r>
              <a:rPr lang="tr-TR" sz="1200" dirty="0" err="1">
                <a:solidFill>
                  <a:srgbClr val="1F2A33"/>
                </a:solidFill>
              </a:rPr>
              <a:t>performance</a:t>
            </a:r>
            <a:r>
              <a:rPr lang="tr-TR" sz="1200" dirty="0">
                <a:solidFill>
                  <a:srgbClr val="1F2A33"/>
                </a:solidFill>
              </a:rPr>
              <a:t>, but </a:t>
            </a:r>
            <a:r>
              <a:rPr lang="tr-TR" sz="1200" dirty="0" err="1">
                <a:solidFill>
                  <a:srgbClr val="1F2A33"/>
                </a:solidFill>
              </a:rPr>
              <a:t>rapid</a:t>
            </a:r>
            <a:r>
              <a:rPr lang="tr-TR" sz="1200" dirty="0">
                <a:solidFill>
                  <a:srgbClr val="1F2A33"/>
                </a:solidFill>
              </a:rPr>
              <a:t> </a:t>
            </a:r>
            <a:r>
              <a:rPr lang="tr-TR" sz="1200" dirty="0" err="1">
                <a:solidFill>
                  <a:srgbClr val="1F2A33"/>
                </a:solidFill>
              </a:rPr>
              <a:t>degradation</a:t>
            </a:r>
            <a:r>
              <a:rPr lang="tr-TR" sz="1200" dirty="0">
                <a:solidFill>
                  <a:srgbClr val="1F2A33"/>
                </a:solidFill>
              </a:rPr>
              <a:t> as </a:t>
            </a:r>
            <a:r>
              <a:rPr lang="el-GR" sz="1200" dirty="0">
                <a:solidFill>
                  <a:srgbClr val="1F2A33"/>
                </a:solidFill>
              </a:rPr>
              <a:t>ε </a:t>
            </a:r>
            <a:r>
              <a:rPr lang="tr-TR" sz="1200" dirty="0" err="1">
                <a:solidFill>
                  <a:srgbClr val="1F2A33"/>
                </a:solidFill>
              </a:rPr>
              <a:t>increases</a:t>
            </a:r>
            <a:r>
              <a:rPr lang="tr-TR" sz="1200" dirty="0">
                <a:solidFill>
                  <a:srgbClr val="1F2A33"/>
                </a:solidFill>
              </a:rPr>
              <a:t>.</a:t>
            </a:r>
            <a:endParaRPr lang="tr-TR" sz="1100" dirty="0"/>
          </a:p>
        </p:txBody>
      </p:sp>
      <p:sp>
        <p:nvSpPr>
          <p:cNvPr id="11" name="Shape 7"/>
          <p:cNvSpPr/>
          <p:nvPr/>
        </p:nvSpPr>
        <p:spPr>
          <a:xfrm>
            <a:off x="4404360" y="5276088"/>
            <a:ext cx="3383280" cy="822960"/>
          </a:xfrm>
          <a:prstGeom prst="roundRect">
            <a:avLst>
              <a:gd name="adj" fmla="val 7778"/>
            </a:avLst>
          </a:prstGeom>
          <a:solidFill>
            <a:srgbClr val="FFFFFF"/>
          </a:solidFill>
          <a:ln w="12700">
            <a:solidFill>
              <a:srgbClr val="D9E3E4"/>
            </a:solidFill>
            <a:prstDash val="solid"/>
          </a:ln>
        </p:spPr>
        <p:txBody>
          <a:bodyPr/>
          <a:lstStyle/>
          <a:p>
            <a:endParaRPr/>
          </a:p>
        </p:txBody>
      </p:sp>
      <p:sp>
        <p:nvSpPr>
          <p:cNvPr id="12" name="Text 8"/>
          <p:cNvSpPr/>
          <p:nvPr/>
        </p:nvSpPr>
        <p:spPr>
          <a:xfrm>
            <a:off x="4572000" y="5358384"/>
            <a:ext cx="3054096" cy="256032"/>
          </a:xfrm>
          <a:prstGeom prst="rect">
            <a:avLst/>
          </a:prstGeom>
          <a:noFill/>
          <a:ln/>
        </p:spPr>
        <p:txBody>
          <a:bodyPr wrap="square" lIns="0" tIns="0" rIns="0" bIns="0" rtlCol="0" anchor="ctr"/>
          <a:lstStyle/>
          <a:p>
            <a:pPr marL="0" indent="0">
              <a:buNone/>
            </a:pPr>
            <a:r>
              <a:rPr lang="en-US" sz="1420" b="1">
                <a:solidFill>
                  <a:srgbClr val="445C6D"/>
                </a:solidFill>
                <a:latin typeface="Aptos Display" pitchFamily="34" charset="0"/>
                <a:ea typeface="Aptos Display" pitchFamily="34" charset="-122"/>
                <a:cs typeface="Aptos Display" pitchFamily="34" charset="-120"/>
              </a:rPr>
              <a:t>HeteroGAT</a:t>
            </a:r>
            <a:endParaRPr lang="en-US" sz="1420"/>
          </a:p>
        </p:txBody>
      </p:sp>
      <p:sp>
        <p:nvSpPr>
          <p:cNvPr id="13" name="Text 9"/>
          <p:cNvSpPr/>
          <p:nvPr/>
        </p:nvSpPr>
        <p:spPr>
          <a:xfrm>
            <a:off x="4572000" y="5618814"/>
            <a:ext cx="3054096" cy="411480"/>
          </a:xfrm>
          <a:prstGeom prst="rect">
            <a:avLst/>
          </a:prstGeom>
          <a:noFill/>
          <a:ln/>
        </p:spPr>
        <p:txBody>
          <a:bodyPr wrap="square" lIns="254" tIns="254" rIns="254" bIns="254" rtlCol="0" anchor="t"/>
          <a:lstStyle/>
          <a:p>
            <a:r>
              <a:rPr lang="tr-TR" sz="1200" dirty="0">
                <a:solidFill>
                  <a:srgbClr val="1F2A33"/>
                </a:solidFill>
              </a:rPr>
              <a:t>Best </a:t>
            </a:r>
            <a:r>
              <a:rPr lang="tr-TR" sz="1200" dirty="0" err="1">
                <a:solidFill>
                  <a:srgbClr val="1F2A33"/>
                </a:solidFill>
              </a:rPr>
              <a:t>balance</a:t>
            </a:r>
            <a:r>
              <a:rPr lang="tr-TR" sz="1200" dirty="0">
                <a:solidFill>
                  <a:srgbClr val="1F2A33"/>
                </a:solidFill>
              </a:rPr>
              <a:t> </a:t>
            </a:r>
            <a:r>
              <a:rPr lang="tr-TR" sz="1200" dirty="0" err="1">
                <a:solidFill>
                  <a:srgbClr val="1F2A33"/>
                </a:solidFill>
              </a:rPr>
              <a:t>between</a:t>
            </a:r>
            <a:r>
              <a:rPr lang="tr-TR" sz="1200" dirty="0">
                <a:solidFill>
                  <a:srgbClr val="1F2A33"/>
                </a:solidFill>
              </a:rPr>
              <a:t> </a:t>
            </a:r>
            <a:r>
              <a:rPr lang="tr-TR" sz="1200" dirty="0" err="1">
                <a:solidFill>
                  <a:srgbClr val="1F2A33"/>
                </a:solidFill>
              </a:rPr>
              <a:t>clean</a:t>
            </a:r>
            <a:r>
              <a:rPr lang="tr-TR" sz="1200" dirty="0">
                <a:solidFill>
                  <a:srgbClr val="1F2A33"/>
                </a:solidFill>
              </a:rPr>
              <a:t>-data </a:t>
            </a:r>
            <a:r>
              <a:rPr lang="tr-TR" sz="1200" dirty="0" err="1">
                <a:solidFill>
                  <a:srgbClr val="1F2A33"/>
                </a:solidFill>
              </a:rPr>
              <a:t>accuracy</a:t>
            </a:r>
            <a:r>
              <a:rPr lang="tr-TR" sz="1200" dirty="0">
                <a:solidFill>
                  <a:srgbClr val="1F2A33"/>
                </a:solidFill>
              </a:rPr>
              <a:t> </a:t>
            </a:r>
            <a:r>
              <a:rPr lang="tr-TR" sz="1200" dirty="0" err="1">
                <a:solidFill>
                  <a:srgbClr val="1F2A33"/>
                </a:solidFill>
              </a:rPr>
              <a:t>and</a:t>
            </a:r>
            <a:r>
              <a:rPr lang="tr-TR" sz="1200" dirty="0">
                <a:solidFill>
                  <a:srgbClr val="1F2A33"/>
                </a:solidFill>
              </a:rPr>
              <a:t> </a:t>
            </a:r>
            <a:r>
              <a:rPr lang="tr-TR" sz="1200" dirty="0" err="1">
                <a:solidFill>
                  <a:srgbClr val="1F2A33"/>
                </a:solidFill>
              </a:rPr>
              <a:t>relative</a:t>
            </a:r>
            <a:r>
              <a:rPr lang="tr-TR" sz="1200" dirty="0">
                <a:solidFill>
                  <a:srgbClr val="1F2A33"/>
                </a:solidFill>
              </a:rPr>
              <a:t> </a:t>
            </a:r>
            <a:r>
              <a:rPr lang="tr-TR" sz="1200" dirty="0" err="1">
                <a:solidFill>
                  <a:srgbClr val="1F2A33"/>
                </a:solidFill>
              </a:rPr>
              <a:t>adversarial</a:t>
            </a:r>
            <a:r>
              <a:rPr lang="tr-TR" sz="1200" dirty="0">
                <a:solidFill>
                  <a:srgbClr val="1F2A33"/>
                </a:solidFill>
              </a:rPr>
              <a:t> </a:t>
            </a:r>
            <a:r>
              <a:rPr lang="tr-TR" sz="1200" dirty="0" err="1">
                <a:solidFill>
                  <a:srgbClr val="1F2A33"/>
                </a:solidFill>
              </a:rPr>
              <a:t>stability</a:t>
            </a:r>
            <a:r>
              <a:rPr lang="en-US" sz="1160" dirty="0">
                <a:solidFill>
                  <a:srgbClr val="1F2A33"/>
                </a:solidFill>
                <a:latin typeface="Aptos" pitchFamily="34" charset="0"/>
                <a:ea typeface="Aptos" pitchFamily="34" charset="-122"/>
                <a:cs typeface="Aptos" pitchFamily="34" charset="-120"/>
              </a:rPr>
              <a:t>.</a:t>
            </a:r>
            <a:endParaRPr lang="en-US" sz="1160" dirty="0"/>
          </a:p>
        </p:txBody>
      </p:sp>
      <p:sp>
        <p:nvSpPr>
          <p:cNvPr id="14" name="Shape 10"/>
          <p:cNvSpPr/>
          <p:nvPr/>
        </p:nvSpPr>
        <p:spPr>
          <a:xfrm>
            <a:off x="8168640" y="5276088"/>
            <a:ext cx="3383280" cy="822960"/>
          </a:xfrm>
          <a:prstGeom prst="roundRect">
            <a:avLst>
              <a:gd name="adj" fmla="val 7778"/>
            </a:avLst>
          </a:prstGeom>
          <a:solidFill>
            <a:srgbClr val="FFFFFF"/>
          </a:solidFill>
          <a:ln w="12700">
            <a:solidFill>
              <a:srgbClr val="D9E3E4"/>
            </a:solidFill>
            <a:prstDash val="solid"/>
          </a:ln>
        </p:spPr>
        <p:txBody>
          <a:bodyPr/>
          <a:lstStyle/>
          <a:p>
            <a:endParaRPr/>
          </a:p>
        </p:txBody>
      </p:sp>
      <p:sp>
        <p:nvSpPr>
          <p:cNvPr id="16" name="Text 12"/>
          <p:cNvSpPr/>
          <p:nvPr/>
        </p:nvSpPr>
        <p:spPr>
          <a:xfrm>
            <a:off x="8333232" y="5404104"/>
            <a:ext cx="3054096" cy="502920"/>
          </a:xfrm>
          <a:prstGeom prst="rect">
            <a:avLst/>
          </a:prstGeom>
          <a:noFill/>
          <a:ln/>
        </p:spPr>
        <p:txBody>
          <a:bodyPr wrap="square" lIns="254" tIns="254" rIns="254" bIns="254" rtlCol="0" anchor="t"/>
          <a:lstStyle/>
          <a:p>
            <a:r>
              <a:rPr lang="tr-TR" sz="1200" dirty="0" err="1">
                <a:solidFill>
                  <a:srgbClr val="1F2A33"/>
                </a:solidFill>
              </a:rPr>
              <a:t>Robustness</a:t>
            </a:r>
            <a:r>
              <a:rPr lang="tr-TR" sz="1200" dirty="0">
                <a:solidFill>
                  <a:srgbClr val="1F2A33"/>
                </a:solidFill>
              </a:rPr>
              <a:t> </a:t>
            </a:r>
            <a:r>
              <a:rPr lang="tr-TR" sz="1200" dirty="0" err="1">
                <a:solidFill>
                  <a:srgbClr val="1F2A33"/>
                </a:solidFill>
              </a:rPr>
              <a:t>ranking</a:t>
            </a:r>
            <a:r>
              <a:rPr lang="tr-TR" sz="1200" dirty="0">
                <a:solidFill>
                  <a:srgbClr val="1F2A33"/>
                </a:solidFill>
              </a:rPr>
              <a:t> </a:t>
            </a:r>
            <a:r>
              <a:rPr lang="tr-TR" sz="1200" dirty="0" err="1">
                <a:solidFill>
                  <a:srgbClr val="1F2A33"/>
                </a:solidFill>
              </a:rPr>
              <a:t>changes</a:t>
            </a:r>
            <a:r>
              <a:rPr lang="tr-TR" sz="1200" dirty="0">
                <a:solidFill>
                  <a:srgbClr val="1F2A33"/>
                </a:solidFill>
              </a:rPr>
              <a:t> </a:t>
            </a:r>
            <a:r>
              <a:rPr lang="tr-TR" sz="1200" dirty="0" err="1">
                <a:solidFill>
                  <a:srgbClr val="1F2A33"/>
                </a:solidFill>
              </a:rPr>
              <a:t>depending</a:t>
            </a:r>
            <a:r>
              <a:rPr lang="tr-TR" sz="1200" dirty="0">
                <a:solidFill>
                  <a:srgbClr val="1F2A33"/>
                </a:solidFill>
              </a:rPr>
              <a:t> on </a:t>
            </a:r>
            <a:r>
              <a:rPr lang="tr-TR" sz="1200" dirty="0" err="1">
                <a:solidFill>
                  <a:srgbClr val="1F2A33"/>
                </a:solidFill>
              </a:rPr>
              <a:t>attack</a:t>
            </a:r>
            <a:r>
              <a:rPr lang="tr-TR" sz="1200" dirty="0">
                <a:solidFill>
                  <a:srgbClr val="1F2A33"/>
                </a:solidFill>
              </a:rPr>
              <a:t> </a:t>
            </a:r>
            <a:r>
              <a:rPr lang="tr-TR" sz="1200" dirty="0" err="1">
                <a:solidFill>
                  <a:srgbClr val="1F2A33"/>
                </a:solidFill>
              </a:rPr>
              <a:t>type</a:t>
            </a:r>
            <a:r>
              <a:rPr lang="tr-TR" sz="1200" dirty="0">
                <a:solidFill>
                  <a:srgbClr val="1F2A33"/>
                </a:solidFill>
              </a:rPr>
              <a:t> </a:t>
            </a:r>
            <a:r>
              <a:rPr lang="tr-TR" sz="1200" dirty="0" err="1">
                <a:solidFill>
                  <a:srgbClr val="1F2A33"/>
                </a:solidFill>
              </a:rPr>
              <a:t>and</a:t>
            </a:r>
            <a:r>
              <a:rPr lang="tr-TR" sz="1200" dirty="0">
                <a:solidFill>
                  <a:srgbClr val="1F2A33"/>
                </a:solidFill>
              </a:rPr>
              <a:t> </a:t>
            </a:r>
            <a:r>
              <a:rPr lang="tr-TR" sz="1200" dirty="0" err="1">
                <a:solidFill>
                  <a:srgbClr val="1F2A33"/>
                </a:solidFill>
              </a:rPr>
              <a:t>perturbation</a:t>
            </a:r>
            <a:r>
              <a:rPr lang="tr-TR" sz="1200" dirty="0">
                <a:solidFill>
                  <a:srgbClr val="1F2A33"/>
                </a:solidFill>
              </a:rPr>
              <a:t> </a:t>
            </a:r>
            <a:r>
              <a:rPr lang="tr-TR" sz="1200" dirty="0" err="1">
                <a:solidFill>
                  <a:srgbClr val="1F2A33"/>
                </a:solidFill>
              </a:rPr>
              <a:t>level</a:t>
            </a:r>
            <a:r>
              <a:rPr lang="tr-TR" sz="1200" dirty="0">
                <a:solidFill>
                  <a:srgbClr val="1F2A33"/>
                </a:solidFill>
              </a:rPr>
              <a:t>.</a:t>
            </a:r>
            <a:endParaRPr lang="tr-TR" sz="1100" dirty="0"/>
          </a:p>
        </p:txBody>
      </p:sp>
      <p:sp>
        <p:nvSpPr>
          <p:cNvPr id="2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7</a:t>
            </a:fld>
            <a:endParaRPr lang="en-US"/>
          </a:p>
        </p:txBody>
      </p:sp>
      <p:sp>
        <p:nvSpPr>
          <p:cNvPr id="5" name="Text 0">
            <a:extLst>
              <a:ext uri="{FF2B5EF4-FFF2-40B4-BE49-F238E27FC236}">
                <a16:creationId xmlns:a16="http://schemas.microsoft.com/office/drawing/2014/main" id="{1DA0AB3A-1920-71FC-A29F-B834E2F2032E}"/>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dirty="0">
                <a:solidFill>
                  <a:srgbClr val="8BB3B4"/>
                </a:solidFill>
                <a:latin typeface="Aptos"/>
              </a:rPr>
              <a:t>6. DROP IN F1-SCORE AND ACCURACY</a:t>
            </a:r>
            <a:endParaRPr lang="en-US" sz="1050" dirty="0"/>
          </a:p>
        </p:txBody>
      </p:sp>
      <p:sp>
        <p:nvSpPr>
          <p:cNvPr id="15" name="Shape 4">
            <a:extLst>
              <a:ext uri="{FF2B5EF4-FFF2-40B4-BE49-F238E27FC236}">
                <a16:creationId xmlns:a16="http://schemas.microsoft.com/office/drawing/2014/main" id="{FFBC2E4F-88C9-976A-A084-1573EFB0DEA7}"/>
              </a:ext>
            </a:extLst>
          </p:cNvPr>
          <p:cNvSpPr/>
          <p:nvPr/>
        </p:nvSpPr>
        <p:spPr>
          <a:xfrm>
            <a:off x="119117" y="2077007"/>
            <a:ext cx="5923009" cy="2388774"/>
          </a:xfrm>
          <a:prstGeom prst="roundRect">
            <a:avLst>
              <a:gd name="adj" fmla="val 7778"/>
            </a:avLst>
          </a:prstGeom>
          <a:solidFill>
            <a:srgbClr val="FFFFFF"/>
          </a:solidFill>
          <a:ln w="12700">
            <a:solidFill>
              <a:srgbClr val="D9E3E4"/>
            </a:solidFill>
            <a:prstDash val="solid"/>
          </a:ln>
        </p:spPr>
        <p:txBody>
          <a:bodyPr/>
          <a:lstStyle/>
          <a:p>
            <a:endParaRPr/>
          </a:p>
        </p:txBody>
      </p:sp>
      <p:pic>
        <p:nvPicPr>
          <p:cNvPr id="7" name="Resim 6">
            <a:extLst>
              <a:ext uri="{FF2B5EF4-FFF2-40B4-BE49-F238E27FC236}">
                <a16:creationId xmlns:a16="http://schemas.microsoft.com/office/drawing/2014/main" id="{26BB2177-969F-9CD2-6582-1E63DD999B74}"/>
              </a:ext>
            </a:extLst>
          </p:cNvPr>
          <p:cNvPicPr>
            <a:picLocks noChangeAspect="1"/>
          </p:cNvPicPr>
          <p:nvPr/>
        </p:nvPicPr>
        <p:blipFill>
          <a:blip r:embed="rId3"/>
          <a:stretch>
            <a:fillRect/>
          </a:stretch>
        </p:blipFill>
        <p:spPr>
          <a:xfrm>
            <a:off x="186596" y="2171799"/>
            <a:ext cx="5788050" cy="2199190"/>
          </a:xfrm>
          <a:prstGeom prst="rect">
            <a:avLst/>
          </a:prstGeom>
        </p:spPr>
      </p:pic>
      <p:sp>
        <p:nvSpPr>
          <p:cNvPr id="19" name="Shape 4">
            <a:extLst>
              <a:ext uri="{FF2B5EF4-FFF2-40B4-BE49-F238E27FC236}">
                <a16:creationId xmlns:a16="http://schemas.microsoft.com/office/drawing/2014/main" id="{00D6F50B-02F9-1F25-D4B6-344C858957CE}"/>
              </a:ext>
            </a:extLst>
          </p:cNvPr>
          <p:cNvSpPr/>
          <p:nvPr/>
        </p:nvSpPr>
        <p:spPr>
          <a:xfrm>
            <a:off x="6149876" y="2077007"/>
            <a:ext cx="5923009" cy="2388774"/>
          </a:xfrm>
          <a:prstGeom prst="roundRect">
            <a:avLst>
              <a:gd name="adj" fmla="val 7778"/>
            </a:avLst>
          </a:prstGeom>
          <a:solidFill>
            <a:srgbClr val="FFFFFF"/>
          </a:solidFill>
          <a:ln w="12700">
            <a:solidFill>
              <a:srgbClr val="D9E3E4"/>
            </a:solidFill>
            <a:prstDash val="solid"/>
          </a:ln>
        </p:spPr>
        <p:txBody>
          <a:bodyPr/>
          <a:lstStyle/>
          <a:p>
            <a:endParaRPr/>
          </a:p>
        </p:txBody>
      </p:sp>
      <p:pic>
        <p:nvPicPr>
          <p:cNvPr id="17" name="Resim 16">
            <a:extLst>
              <a:ext uri="{FF2B5EF4-FFF2-40B4-BE49-F238E27FC236}">
                <a16:creationId xmlns:a16="http://schemas.microsoft.com/office/drawing/2014/main" id="{9B2EA248-FFAF-612C-B596-D2C086165706}"/>
              </a:ext>
            </a:extLst>
          </p:cNvPr>
          <p:cNvPicPr>
            <a:picLocks noChangeAspect="1"/>
          </p:cNvPicPr>
          <p:nvPr/>
        </p:nvPicPr>
        <p:blipFill>
          <a:blip r:embed="rId4"/>
          <a:stretch>
            <a:fillRect/>
          </a:stretch>
        </p:blipFill>
        <p:spPr>
          <a:xfrm>
            <a:off x="6225356" y="2171799"/>
            <a:ext cx="5772048" cy="2228964"/>
          </a:xfrm>
          <a:prstGeom prst="rect">
            <a:avLst/>
          </a:prstGeom>
        </p:spPr>
      </p:pic>
      <p:pic>
        <p:nvPicPr>
          <p:cNvPr id="2" name="Grafik 1">
            <a:extLst>
              <a:ext uri="{FF2B5EF4-FFF2-40B4-BE49-F238E27FC236}">
                <a16:creationId xmlns:a16="http://schemas.microsoft.com/office/drawing/2014/main" id="{983F0AC6-B5E3-B9AB-17EF-1C2DDAC1CF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002" y="6446520"/>
            <a:ext cx="273517" cy="228601"/>
          </a:xfrm>
          <a:prstGeom prst="rect">
            <a:avLst/>
          </a:prstGeom>
        </p:spPr>
      </p:pic>
      <p:sp>
        <p:nvSpPr>
          <p:cNvPr id="18" name="Shape 6">
            <a:extLst>
              <a:ext uri="{FF2B5EF4-FFF2-40B4-BE49-F238E27FC236}">
                <a16:creationId xmlns:a16="http://schemas.microsoft.com/office/drawing/2014/main" id="{FAF6D367-6C32-9436-73D1-823CADCF2902}"/>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530352" y="621792"/>
            <a:ext cx="10972800" cy="530352"/>
          </a:xfrm>
          <a:prstGeom prst="rect">
            <a:avLst/>
          </a:prstGeom>
          <a:noFill/>
          <a:ln/>
        </p:spPr>
        <p:txBody>
          <a:bodyPr wrap="square" lIns="0" tIns="0" rIns="0" bIns="0" rtlCol="0" anchor="ctr"/>
          <a:lstStyle/>
          <a:p>
            <a:r>
              <a:rPr lang="tr-TR" sz="2750" b="1" dirty="0" err="1">
                <a:solidFill>
                  <a:srgbClr val="445C6D"/>
                </a:solidFill>
                <a:latin typeface="Aptos Display"/>
              </a:rPr>
              <a:t>Conclusions</a:t>
            </a:r>
            <a:r>
              <a:rPr lang="tr-TR" sz="2750" b="1" dirty="0">
                <a:solidFill>
                  <a:srgbClr val="445C6D"/>
                </a:solidFill>
                <a:latin typeface="Aptos Display"/>
              </a:rPr>
              <a:t> </a:t>
            </a:r>
            <a:r>
              <a:rPr lang="tr-TR" sz="2750" b="1" dirty="0" err="1">
                <a:solidFill>
                  <a:srgbClr val="445C6D"/>
                </a:solidFill>
                <a:latin typeface="Aptos Display"/>
              </a:rPr>
              <a:t>and</a:t>
            </a:r>
            <a:r>
              <a:rPr lang="tr-TR" sz="2750" b="1" dirty="0">
                <a:solidFill>
                  <a:srgbClr val="445C6D"/>
                </a:solidFill>
                <a:latin typeface="Aptos Display"/>
              </a:rPr>
              <a:t> </a:t>
            </a:r>
            <a:r>
              <a:rPr lang="tr-TR" sz="2750" b="1" dirty="0" err="1">
                <a:solidFill>
                  <a:srgbClr val="445C6D"/>
                </a:solidFill>
                <a:latin typeface="Aptos Display"/>
              </a:rPr>
              <a:t>Future</a:t>
            </a:r>
            <a:r>
              <a:rPr lang="tr-TR" sz="2750" b="1" dirty="0">
                <a:solidFill>
                  <a:srgbClr val="445C6D"/>
                </a:solidFill>
                <a:latin typeface="Aptos Display"/>
              </a:rPr>
              <a:t> </a:t>
            </a:r>
            <a:r>
              <a:rPr lang="tr-TR" sz="2750" b="1" dirty="0" err="1">
                <a:solidFill>
                  <a:srgbClr val="445C6D"/>
                </a:solidFill>
                <a:latin typeface="Aptos Display"/>
              </a:rPr>
              <a:t>Work</a:t>
            </a:r>
            <a:endParaRPr lang="tr-TR" sz="2750" dirty="0"/>
          </a:p>
        </p:txBody>
      </p:sp>
      <p:sp>
        <p:nvSpPr>
          <p:cNvPr id="4" name="Shape 2"/>
          <p:cNvSpPr/>
          <p:nvPr/>
        </p:nvSpPr>
        <p:spPr>
          <a:xfrm>
            <a:off x="731520" y="1417320"/>
            <a:ext cx="502920" cy="502920"/>
          </a:xfrm>
          <a:prstGeom prst="ellipse">
            <a:avLst/>
          </a:prstGeom>
          <a:solidFill>
            <a:srgbClr val="445C6D"/>
          </a:solidFill>
          <a:ln w="12700">
            <a:solidFill>
              <a:srgbClr val="FFFFFF"/>
            </a:solidFill>
            <a:prstDash val="solid"/>
          </a:ln>
        </p:spPr>
        <p:txBody>
          <a:bodyPr/>
          <a:lstStyle/>
          <a:p>
            <a:endParaRPr/>
          </a:p>
        </p:txBody>
      </p:sp>
      <p:sp>
        <p:nvSpPr>
          <p:cNvPr id="5" name="Text 3"/>
          <p:cNvSpPr/>
          <p:nvPr/>
        </p:nvSpPr>
        <p:spPr>
          <a:xfrm>
            <a:off x="868680" y="1563624"/>
            <a:ext cx="228600" cy="137160"/>
          </a:xfrm>
          <a:prstGeom prst="rect">
            <a:avLst/>
          </a:prstGeom>
          <a:noFill/>
          <a:ln/>
        </p:spPr>
        <p:txBody>
          <a:bodyPr wrap="square" lIns="0" tIns="0" rIns="0" bIns="0" rtlCol="0" anchor="ctr"/>
          <a:lstStyle/>
          <a:p>
            <a:pPr marL="0" indent="0" algn="ctr">
              <a:buNone/>
            </a:pPr>
            <a:r>
              <a:rPr lang="en-US" sz="1100" b="1">
                <a:solidFill>
                  <a:srgbClr val="FFFFFF"/>
                </a:solidFill>
              </a:rPr>
              <a:t>1</a:t>
            </a:r>
            <a:endParaRPr lang="en-US" sz="1100"/>
          </a:p>
        </p:txBody>
      </p:sp>
      <p:sp>
        <p:nvSpPr>
          <p:cNvPr id="6" name="Text 4"/>
          <p:cNvSpPr/>
          <p:nvPr/>
        </p:nvSpPr>
        <p:spPr>
          <a:xfrm>
            <a:off x="1463040" y="1408176"/>
            <a:ext cx="5168872" cy="393192"/>
          </a:xfrm>
          <a:prstGeom prst="rect">
            <a:avLst/>
          </a:prstGeom>
          <a:noFill/>
          <a:ln/>
        </p:spPr>
        <p:txBody>
          <a:bodyPr wrap="square" lIns="0" tIns="0" rIns="0" bIns="0" rtlCol="0" anchor="ctr"/>
          <a:lstStyle/>
          <a:p>
            <a:r>
              <a:rPr lang="tr-TR" sz="1600" b="1" dirty="0">
                <a:solidFill>
                  <a:srgbClr val="445C6D"/>
                </a:solidFill>
                <a:latin typeface="Aptos Display"/>
              </a:rPr>
              <a:t>High </a:t>
            </a:r>
            <a:r>
              <a:rPr lang="tr-TR" sz="1600" b="1" dirty="0" err="1">
                <a:solidFill>
                  <a:srgbClr val="445C6D"/>
                </a:solidFill>
                <a:latin typeface="Aptos Display"/>
              </a:rPr>
              <a:t>clean</a:t>
            </a:r>
            <a:r>
              <a:rPr lang="tr-TR" sz="1600" b="1" dirty="0">
                <a:solidFill>
                  <a:srgbClr val="445C6D"/>
                </a:solidFill>
                <a:latin typeface="Aptos Display"/>
              </a:rPr>
              <a:t>-data </a:t>
            </a:r>
            <a:r>
              <a:rPr lang="tr-TR" sz="1600" b="1" dirty="0" err="1">
                <a:solidFill>
                  <a:srgbClr val="445C6D"/>
                </a:solidFill>
                <a:latin typeface="Aptos Display"/>
              </a:rPr>
              <a:t>accuracy</a:t>
            </a:r>
            <a:r>
              <a:rPr lang="tr-TR" sz="1600" b="1" dirty="0">
                <a:solidFill>
                  <a:srgbClr val="445C6D"/>
                </a:solidFill>
                <a:latin typeface="Aptos Display"/>
              </a:rPr>
              <a:t> ≠ </a:t>
            </a:r>
            <a:r>
              <a:rPr lang="tr-TR" sz="1600" b="1" dirty="0" err="1">
                <a:solidFill>
                  <a:srgbClr val="445C6D"/>
                </a:solidFill>
                <a:latin typeface="Aptos Display"/>
              </a:rPr>
              <a:t>robustness</a:t>
            </a:r>
            <a:r>
              <a:rPr lang="tr-TR" sz="1600" b="1" dirty="0">
                <a:solidFill>
                  <a:srgbClr val="445C6D"/>
                </a:solidFill>
                <a:latin typeface="Aptos Display"/>
              </a:rPr>
              <a:t> </a:t>
            </a:r>
            <a:r>
              <a:rPr lang="tr-TR" sz="1600" b="1" dirty="0" err="1">
                <a:solidFill>
                  <a:srgbClr val="445C6D"/>
                </a:solidFill>
                <a:latin typeface="Aptos Display"/>
              </a:rPr>
              <a:t>against</a:t>
            </a:r>
            <a:r>
              <a:rPr lang="tr-TR" sz="1600" b="1" dirty="0">
                <a:solidFill>
                  <a:srgbClr val="445C6D"/>
                </a:solidFill>
                <a:latin typeface="Aptos Display"/>
              </a:rPr>
              <a:t> </a:t>
            </a:r>
            <a:r>
              <a:rPr lang="tr-TR" sz="1600" b="1" dirty="0" err="1">
                <a:solidFill>
                  <a:srgbClr val="445C6D"/>
                </a:solidFill>
                <a:latin typeface="Aptos Display"/>
              </a:rPr>
              <a:t>adversarial</a:t>
            </a:r>
            <a:r>
              <a:rPr lang="tr-TR" sz="1600" b="1" dirty="0">
                <a:solidFill>
                  <a:srgbClr val="445C6D"/>
                </a:solidFill>
                <a:latin typeface="Aptos Display"/>
              </a:rPr>
              <a:t> </a:t>
            </a:r>
            <a:r>
              <a:rPr lang="tr-TR" sz="1600" b="1" dirty="0" err="1">
                <a:solidFill>
                  <a:srgbClr val="445C6D"/>
                </a:solidFill>
                <a:latin typeface="Aptos Display"/>
              </a:rPr>
              <a:t>attacks</a:t>
            </a:r>
            <a:endParaRPr lang="tr-TR" sz="1600" dirty="0"/>
          </a:p>
        </p:txBody>
      </p:sp>
      <p:sp>
        <p:nvSpPr>
          <p:cNvPr id="7" name="Text 5"/>
          <p:cNvSpPr/>
          <p:nvPr/>
        </p:nvSpPr>
        <p:spPr>
          <a:xfrm>
            <a:off x="1440180" y="1901952"/>
            <a:ext cx="4983480" cy="438912"/>
          </a:xfrm>
          <a:prstGeom prst="rect">
            <a:avLst/>
          </a:prstGeom>
          <a:noFill/>
          <a:ln/>
        </p:spPr>
        <p:txBody>
          <a:bodyPr wrap="square" lIns="0" tIns="0" rIns="0" bIns="0" rtlCol="0" anchor="ctr"/>
          <a:lstStyle/>
          <a:p>
            <a:r>
              <a:rPr lang="tr-TR" sz="1230" dirty="0" err="1">
                <a:solidFill>
                  <a:srgbClr val="1F2A33"/>
                </a:solidFill>
              </a:rPr>
              <a:t>Even</a:t>
            </a:r>
            <a:r>
              <a:rPr lang="tr-TR" sz="1230" dirty="0">
                <a:solidFill>
                  <a:srgbClr val="1F2A33"/>
                </a:solidFill>
              </a:rPr>
              <a:t> </a:t>
            </a:r>
            <a:r>
              <a:rPr lang="tr-TR" sz="1230" dirty="0" err="1">
                <a:solidFill>
                  <a:srgbClr val="1F2A33"/>
                </a:solidFill>
              </a:rPr>
              <a:t>the</a:t>
            </a:r>
            <a:r>
              <a:rPr lang="tr-TR" sz="1230" dirty="0">
                <a:solidFill>
                  <a:srgbClr val="1F2A33"/>
                </a:solidFill>
              </a:rPr>
              <a:t> </a:t>
            </a:r>
            <a:r>
              <a:rPr lang="tr-TR" sz="1230" dirty="0" err="1">
                <a:solidFill>
                  <a:srgbClr val="1F2A33"/>
                </a:solidFill>
              </a:rPr>
              <a:t>best</a:t>
            </a:r>
            <a:r>
              <a:rPr lang="tr-TR" sz="1230" dirty="0">
                <a:solidFill>
                  <a:srgbClr val="1F2A33"/>
                </a:solidFill>
              </a:rPr>
              <a:t> </a:t>
            </a:r>
            <a:r>
              <a:rPr lang="tr-TR" sz="1230" dirty="0" err="1">
                <a:solidFill>
                  <a:srgbClr val="1F2A33"/>
                </a:solidFill>
              </a:rPr>
              <a:t>clean</a:t>
            </a:r>
            <a:r>
              <a:rPr lang="tr-TR" sz="1230" dirty="0">
                <a:solidFill>
                  <a:srgbClr val="1F2A33"/>
                </a:solidFill>
              </a:rPr>
              <a:t>-data </a:t>
            </a:r>
            <a:r>
              <a:rPr lang="tr-TR" sz="1230" dirty="0" err="1">
                <a:solidFill>
                  <a:srgbClr val="1F2A33"/>
                </a:solidFill>
              </a:rPr>
              <a:t>models</a:t>
            </a:r>
            <a:r>
              <a:rPr lang="tr-TR" sz="1230" dirty="0">
                <a:solidFill>
                  <a:srgbClr val="1F2A33"/>
                </a:solidFill>
              </a:rPr>
              <a:t> </a:t>
            </a:r>
            <a:r>
              <a:rPr lang="tr-TR" sz="1230" dirty="0" err="1">
                <a:solidFill>
                  <a:srgbClr val="1F2A33"/>
                </a:solidFill>
              </a:rPr>
              <a:t>may</a:t>
            </a:r>
            <a:r>
              <a:rPr lang="tr-TR" sz="1230" dirty="0">
                <a:solidFill>
                  <a:srgbClr val="1F2A33"/>
                </a:solidFill>
              </a:rPr>
              <a:t> </a:t>
            </a:r>
            <a:r>
              <a:rPr lang="tr-TR" sz="1230" dirty="0" err="1">
                <a:solidFill>
                  <a:srgbClr val="1F2A33"/>
                </a:solidFill>
              </a:rPr>
              <a:t>degrade</a:t>
            </a:r>
            <a:r>
              <a:rPr lang="tr-TR" sz="1230" dirty="0">
                <a:solidFill>
                  <a:srgbClr val="1F2A33"/>
                </a:solidFill>
              </a:rPr>
              <a:t> </a:t>
            </a:r>
            <a:r>
              <a:rPr lang="tr-TR" sz="1230" dirty="0" err="1">
                <a:solidFill>
                  <a:srgbClr val="1F2A33"/>
                </a:solidFill>
              </a:rPr>
              <a:t>rapidly</a:t>
            </a:r>
            <a:r>
              <a:rPr lang="tr-TR" sz="1230" dirty="0">
                <a:solidFill>
                  <a:srgbClr val="1F2A33"/>
                </a:solidFill>
              </a:rPr>
              <a:t> </a:t>
            </a:r>
            <a:r>
              <a:rPr lang="tr-TR" sz="1230" dirty="0" err="1">
                <a:solidFill>
                  <a:srgbClr val="1F2A33"/>
                </a:solidFill>
              </a:rPr>
              <a:t>under</a:t>
            </a:r>
            <a:r>
              <a:rPr lang="tr-TR" sz="1230" dirty="0">
                <a:solidFill>
                  <a:srgbClr val="1F2A33"/>
                </a:solidFill>
              </a:rPr>
              <a:t> </a:t>
            </a:r>
            <a:r>
              <a:rPr lang="tr-TR" sz="1230" dirty="0" err="1">
                <a:solidFill>
                  <a:srgbClr val="1F2A33"/>
                </a:solidFill>
              </a:rPr>
              <a:t>feature</a:t>
            </a:r>
            <a:r>
              <a:rPr lang="tr-TR" sz="1230" dirty="0">
                <a:solidFill>
                  <a:srgbClr val="1F2A33"/>
                </a:solidFill>
              </a:rPr>
              <a:t> </a:t>
            </a:r>
            <a:r>
              <a:rPr lang="tr-TR" sz="1230" dirty="0" err="1">
                <a:solidFill>
                  <a:srgbClr val="1F2A33"/>
                </a:solidFill>
              </a:rPr>
              <a:t>perturbations</a:t>
            </a:r>
            <a:r>
              <a:rPr lang="tr-TR" sz="1230" dirty="0">
                <a:solidFill>
                  <a:srgbClr val="1F2A33"/>
                </a:solidFill>
              </a:rPr>
              <a:t>.</a:t>
            </a:r>
            <a:endParaRPr lang="tr-TR" sz="1230" dirty="0"/>
          </a:p>
        </p:txBody>
      </p:sp>
      <p:sp>
        <p:nvSpPr>
          <p:cNvPr id="8" name="Shape 6"/>
          <p:cNvSpPr/>
          <p:nvPr/>
        </p:nvSpPr>
        <p:spPr>
          <a:xfrm>
            <a:off x="731520" y="2651760"/>
            <a:ext cx="502920" cy="502920"/>
          </a:xfrm>
          <a:prstGeom prst="ellipse">
            <a:avLst/>
          </a:prstGeom>
          <a:solidFill>
            <a:srgbClr val="8BB3B4"/>
          </a:solidFill>
          <a:ln w="12700">
            <a:solidFill>
              <a:srgbClr val="FFFFFF"/>
            </a:solidFill>
            <a:prstDash val="solid"/>
          </a:ln>
        </p:spPr>
        <p:txBody>
          <a:bodyPr/>
          <a:lstStyle/>
          <a:p>
            <a:endParaRPr/>
          </a:p>
        </p:txBody>
      </p:sp>
      <p:sp>
        <p:nvSpPr>
          <p:cNvPr id="9" name="Text 7"/>
          <p:cNvSpPr/>
          <p:nvPr/>
        </p:nvSpPr>
        <p:spPr>
          <a:xfrm>
            <a:off x="868680" y="2798064"/>
            <a:ext cx="228600" cy="137160"/>
          </a:xfrm>
          <a:prstGeom prst="rect">
            <a:avLst/>
          </a:prstGeom>
          <a:noFill/>
          <a:ln/>
        </p:spPr>
        <p:txBody>
          <a:bodyPr wrap="square" lIns="0" tIns="0" rIns="0" bIns="0" rtlCol="0" anchor="ctr"/>
          <a:lstStyle/>
          <a:p>
            <a:pPr marL="0" indent="0" algn="ctr">
              <a:buNone/>
            </a:pPr>
            <a:r>
              <a:rPr lang="en-US" sz="1100" b="1">
                <a:solidFill>
                  <a:srgbClr val="FFFFFF"/>
                </a:solidFill>
              </a:rPr>
              <a:t>2</a:t>
            </a:r>
            <a:endParaRPr lang="en-US" sz="1100"/>
          </a:p>
        </p:txBody>
      </p:sp>
      <p:sp>
        <p:nvSpPr>
          <p:cNvPr id="10" name="Text 8"/>
          <p:cNvSpPr/>
          <p:nvPr/>
        </p:nvSpPr>
        <p:spPr>
          <a:xfrm>
            <a:off x="1463040" y="2642616"/>
            <a:ext cx="4937760" cy="292608"/>
          </a:xfrm>
          <a:prstGeom prst="rect">
            <a:avLst/>
          </a:prstGeom>
          <a:noFill/>
          <a:ln/>
        </p:spPr>
        <p:txBody>
          <a:bodyPr wrap="square" lIns="0" tIns="0" rIns="0" bIns="0" rtlCol="0" anchor="ctr"/>
          <a:lstStyle/>
          <a:p>
            <a:r>
              <a:rPr lang="tr-TR" sz="1600" b="1" dirty="0" err="1">
                <a:solidFill>
                  <a:srgbClr val="445C6D"/>
                </a:solidFill>
                <a:latin typeface="Aptos Display"/>
              </a:rPr>
              <a:t>Robustness</a:t>
            </a:r>
            <a:r>
              <a:rPr lang="tr-TR" sz="1600" b="1" dirty="0">
                <a:solidFill>
                  <a:srgbClr val="445C6D"/>
                </a:solidFill>
                <a:latin typeface="Aptos Display"/>
              </a:rPr>
              <a:t> </a:t>
            </a:r>
            <a:r>
              <a:rPr lang="tr-TR" sz="1600" b="1" dirty="0" err="1">
                <a:solidFill>
                  <a:srgbClr val="445C6D"/>
                </a:solidFill>
                <a:latin typeface="Aptos Display"/>
              </a:rPr>
              <a:t>should</a:t>
            </a:r>
            <a:r>
              <a:rPr lang="tr-TR" sz="1600" b="1" dirty="0">
                <a:solidFill>
                  <a:srgbClr val="445C6D"/>
                </a:solidFill>
                <a:latin typeface="Aptos Display"/>
              </a:rPr>
              <a:t> be </a:t>
            </a:r>
            <a:r>
              <a:rPr lang="tr-TR" sz="1600" b="1" dirty="0" err="1">
                <a:solidFill>
                  <a:srgbClr val="445C6D"/>
                </a:solidFill>
                <a:latin typeface="Aptos Display"/>
              </a:rPr>
              <a:t>evaluated</a:t>
            </a:r>
            <a:r>
              <a:rPr lang="tr-TR" sz="1600" b="1" dirty="0">
                <a:solidFill>
                  <a:srgbClr val="445C6D"/>
                </a:solidFill>
                <a:latin typeface="Aptos Display"/>
              </a:rPr>
              <a:t> </a:t>
            </a:r>
            <a:r>
              <a:rPr lang="tr-TR" sz="1600" b="1" dirty="0" err="1">
                <a:solidFill>
                  <a:srgbClr val="445C6D"/>
                </a:solidFill>
                <a:latin typeface="Aptos Display"/>
              </a:rPr>
              <a:t>with</a:t>
            </a:r>
            <a:r>
              <a:rPr lang="tr-TR" sz="1600" b="1" dirty="0">
                <a:solidFill>
                  <a:srgbClr val="445C6D"/>
                </a:solidFill>
                <a:latin typeface="Aptos Display"/>
              </a:rPr>
              <a:t> multiple </a:t>
            </a:r>
            <a:r>
              <a:rPr lang="tr-TR" sz="1600" b="1" dirty="0" err="1">
                <a:solidFill>
                  <a:srgbClr val="445C6D"/>
                </a:solidFill>
                <a:latin typeface="Aptos Display"/>
              </a:rPr>
              <a:t>metrics</a:t>
            </a:r>
            <a:endParaRPr lang="tr-TR" sz="1600" dirty="0"/>
          </a:p>
        </p:txBody>
      </p:sp>
      <p:sp>
        <p:nvSpPr>
          <p:cNvPr id="11" name="Text 9"/>
          <p:cNvSpPr/>
          <p:nvPr/>
        </p:nvSpPr>
        <p:spPr>
          <a:xfrm>
            <a:off x="1463040" y="3035808"/>
            <a:ext cx="4983480" cy="438912"/>
          </a:xfrm>
          <a:prstGeom prst="rect">
            <a:avLst/>
          </a:prstGeom>
          <a:noFill/>
          <a:ln/>
        </p:spPr>
        <p:txBody>
          <a:bodyPr wrap="square" lIns="0" tIns="0" rIns="0" bIns="0" rtlCol="0" anchor="ctr"/>
          <a:lstStyle/>
          <a:p>
            <a:r>
              <a:rPr lang="tr-TR" sz="1230" dirty="0" err="1">
                <a:solidFill>
                  <a:srgbClr val="1F2A33"/>
                </a:solidFill>
              </a:rPr>
              <a:t>Especially</a:t>
            </a:r>
            <a:r>
              <a:rPr lang="tr-TR" sz="1230" dirty="0">
                <a:solidFill>
                  <a:srgbClr val="1F2A33"/>
                </a:solidFill>
              </a:rPr>
              <a:t> </a:t>
            </a:r>
            <a:r>
              <a:rPr lang="tr-TR" sz="1230" dirty="0" err="1">
                <a:solidFill>
                  <a:srgbClr val="1F2A33"/>
                </a:solidFill>
              </a:rPr>
              <a:t>when</a:t>
            </a:r>
            <a:r>
              <a:rPr lang="tr-TR" sz="1230" dirty="0">
                <a:solidFill>
                  <a:srgbClr val="1F2A33"/>
                </a:solidFill>
              </a:rPr>
              <a:t> </a:t>
            </a:r>
            <a:r>
              <a:rPr lang="tr-TR" sz="1230" dirty="0" err="1">
                <a:solidFill>
                  <a:srgbClr val="1F2A33"/>
                </a:solidFill>
              </a:rPr>
              <a:t>baseline</a:t>
            </a:r>
            <a:r>
              <a:rPr lang="tr-TR" sz="1230" dirty="0">
                <a:solidFill>
                  <a:srgbClr val="1F2A33"/>
                </a:solidFill>
              </a:rPr>
              <a:t> </a:t>
            </a:r>
            <a:r>
              <a:rPr lang="tr-TR" sz="1230" dirty="0" err="1">
                <a:solidFill>
                  <a:srgbClr val="1F2A33"/>
                </a:solidFill>
              </a:rPr>
              <a:t>performances</a:t>
            </a:r>
            <a:r>
              <a:rPr lang="tr-TR" sz="1230" dirty="0">
                <a:solidFill>
                  <a:srgbClr val="1F2A33"/>
                </a:solidFill>
              </a:rPr>
              <a:t> </a:t>
            </a:r>
            <a:r>
              <a:rPr lang="tr-TR" sz="1230" dirty="0" err="1">
                <a:solidFill>
                  <a:srgbClr val="1F2A33"/>
                </a:solidFill>
              </a:rPr>
              <a:t>differ</a:t>
            </a:r>
            <a:r>
              <a:rPr lang="tr-TR" sz="1230" dirty="0">
                <a:solidFill>
                  <a:srgbClr val="1F2A33"/>
                </a:solidFill>
              </a:rPr>
              <a:t>, ASR </a:t>
            </a:r>
            <a:r>
              <a:rPr lang="tr-TR" sz="1230" dirty="0" err="1">
                <a:solidFill>
                  <a:srgbClr val="1F2A33"/>
                </a:solidFill>
              </a:rPr>
              <a:t>should</a:t>
            </a:r>
            <a:r>
              <a:rPr lang="tr-TR" sz="1230" dirty="0">
                <a:solidFill>
                  <a:srgbClr val="1F2A33"/>
                </a:solidFill>
              </a:rPr>
              <a:t> be </a:t>
            </a:r>
            <a:r>
              <a:rPr lang="tr-TR" sz="1230" dirty="0" err="1">
                <a:solidFill>
                  <a:srgbClr val="1F2A33"/>
                </a:solidFill>
              </a:rPr>
              <a:t>interpreted</a:t>
            </a:r>
            <a:r>
              <a:rPr lang="tr-TR" sz="1230" dirty="0">
                <a:solidFill>
                  <a:srgbClr val="1F2A33"/>
                </a:solidFill>
              </a:rPr>
              <a:t> </a:t>
            </a:r>
            <a:r>
              <a:rPr lang="tr-TR" sz="1230" dirty="0" err="1">
                <a:solidFill>
                  <a:srgbClr val="1F2A33"/>
                </a:solidFill>
              </a:rPr>
              <a:t>together</a:t>
            </a:r>
            <a:r>
              <a:rPr lang="tr-TR" sz="1230" dirty="0">
                <a:solidFill>
                  <a:srgbClr val="1F2A33"/>
                </a:solidFill>
              </a:rPr>
              <a:t> </a:t>
            </a:r>
            <a:r>
              <a:rPr lang="tr-TR" sz="1230" dirty="0" err="1">
                <a:solidFill>
                  <a:srgbClr val="1F2A33"/>
                </a:solidFill>
              </a:rPr>
              <a:t>with</a:t>
            </a:r>
            <a:r>
              <a:rPr lang="tr-TR" sz="1230" dirty="0">
                <a:solidFill>
                  <a:srgbClr val="1F2A33"/>
                </a:solidFill>
              </a:rPr>
              <a:t> F1-score </a:t>
            </a:r>
            <a:r>
              <a:rPr lang="tr-TR" sz="1230" dirty="0" err="1">
                <a:solidFill>
                  <a:srgbClr val="1F2A33"/>
                </a:solidFill>
              </a:rPr>
              <a:t>and</a:t>
            </a:r>
            <a:r>
              <a:rPr lang="tr-TR" sz="1230" dirty="0">
                <a:solidFill>
                  <a:srgbClr val="1F2A33"/>
                </a:solidFill>
              </a:rPr>
              <a:t> </a:t>
            </a:r>
            <a:r>
              <a:rPr lang="tr-TR" sz="1230" dirty="0" err="1">
                <a:solidFill>
                  <a:srgbClr val="1F2A33"/>
                </a:solidFill>
              </a:rPr>
              <a:t>accuracy</a:t>
            </a:r>
            <a:r>
              <a:rPr lang="tr-TR" sz="1230" dirty="0">
                <a:solidFill>
                  <a:srgbClr val="1F2A33"/>
                </a:solidFill>
              </a:rPr>
              <a:t>.</a:t>
            </a:r>
            <a:endParaRPr lang="tr-TR" sz="1230" dirty="0"/>
          </a:p>
        </p:txBody>
      </p:sp>
      <p:sp>
        <p:nvSpPr>
          <p:cNvPr id="12" name="Shape 10"/>
          <p:cNvSpPr/>
          <p:nvPr/>
        </p:nvSpPr>
        <p:spPr>
          <a:xfrm>
            <a:off x="731520" y="3886200"/>
            <a:ext cx="502920" cy="502920"/>
          </a:xfrm>
          <a:prstGeom prst="ellipse">
            <a:avLst/>
          </a:prstGeom>
          <a:solidFill>
            <a:srgbClr val="879EB0"/>
          </a:solidFill>
          <a:ln w="12700">
            <a:solidFill>
              <a:srgbClr val="FFFFFF"/>
            </a:solidFill>
            <a:prstDash val="solid"/>
          </a:ln>
        </p:spPr>
        <p:txBody>
          <a:bodyPr/>
          <a:lstStyle/>
          <a:p>
            <a:endParaRPr/>
          </a:p>
        </p:txBody>
      </p:sp>
      <p:sp>
        <p:nvSpPr>
          <p:cNvPr id="13" name="Text 11"/>
          <p:cNvSpPr/>
          <p:nvPr/>
        </p:nvSpPr>
        <p:spPr>
          <a:xfrm>
            <a:off x="868680" y="4032504"/>
            <a:ext cx="228600" cy="137160"/>
          </a:xfrm>
          <a:prstGeom prst="rect">
            <a:avLst/>
          </a:prstGeom>
          <a:noFill/>
          <a:ln/>
        </p:spPr>
        <p:txBody>
          <a:bodyPr wrap="square" lIns="0" tIns="0" rIns="0" bIns="0" rtlCol="0" anchor="ctr"/>
          <a:lstStyle/>
          <a:p>
            <a:pPr marL="0" indent="0" algn="ctr">
              <a:buNone/>
            </a:pPr>
            <a:r>
              <a:rPr lang="en-US" sz="1100" b="1">
                <a:solidFill>
                  <a:srgbClr val="FFFFFF"/>
                </a:solidFill>
              </a:rPr>
              <a:t>3</a:t>
            </a:r>
            <a:endParaRPr lang="en-US" sz="1100"/>
          </a:p>
        </p:txBody>
      </p:sp>
      <p:sp>
        <p:nvSpPr>
          <p:cNvPr id="14" name="Text 12"/>
          <p:cNvSpPr/>
          <p:nvPr/>
        </p:nvSpPr>
        <p:spPr>
          <a:xfrm>
            <a:off x="1463040" y="3877056"/>
            <a:ext cx="4937760" cy="292608"/>
          </a:xfrm>
          <a:prstGeom prst="rect">
            <a:avLst/>
          </a:prstGeom>
          <a:noFill/>
          <a:ln/>
        </p:spPr>
        <p:txBody>
          <a:bodyPr wrap="square" lIns="0" tIns="0" rIns="0" bIns="0" rtlCol="0" anchor="ctr"/>
          <a:lstStyle/>
          <a:p>
            <a:r>
              <a:rPr lang="tr-TR" sz="1600" b="1" dirty="0" err="1">
                <a:solidFill>
                  <a:srgbClr val="445C6D"/>
                </a:solidFill>
                <a:latin typeface="Aptos Display"/>
              </a:rPr>
              <a:t>Graph</a:t>
            </a:r>
            <a:r>
              <a:rPr lang="tr-TR" sz="1600" b="1" dirty="0">
                <a:solidFill>
                  <a:srgbClr val="445C6D"/>
                </a:solidFill>
                <a:latin typeface="Aptos Display"/>
              </a:rPr>
              <a:t> </a:t>
            </a:r>
            <a:r>
              <a:rPr lang="tr-TR" sz="1600" b="1" dirty="0" err="1">
                <a:solidFill>
                  <a:srgbClr val="445C6D"/>
                </a:solidFill>
                <a:latin typeface="Aptos Display"/>
              </a:rPr>
              <a:t>structure</a:t>
            </a:r>
            <a:r>
              <a:rPr lang="tr-TR" sz="1600" b="1" dirty="0">
                <a:solidFill>
                  <a:srgbClr val="445C6D"/>
                </a:solidFill>
                <a:latin typeface="Aptos Display"/>
              </a:rPr>
              <a:t> </a:t>
            </a:r>
            <a:r>
              <a:rPr lang="tr-TR" sz="1600" b="1" dirty="0" err="1">
                <a:solidFill>
                  <a:srgbClr val="445C6D"/>
                </a:solidFill>
                <a:latin typeface="Aptos Display"/>
              </a:rPr>
              <a:t>alone</a:t>
            </a:r>
            <a:r>
              <a:rPr lang="tr-TR" sz="1600" b="1" dirty="0">
                <a:solidFill>
                  <a:srgbClr val="445C6D"/>
                </a:solidFill>
                <a:latin typeface="Aptos Display"/>
              </a:rPr>
              <a:t> is not a </a:t>
            </a:r>
            <a:r>
              <a:rPr lang="tr-TR" sz="1600" b="1" dirty="0" err="1">
                <a:solidFill>
                  <a:srgbClr val="445C6D"/>
                </a:solidFill>
                <a:latin typeface="Aptos Display"/>
              </a:rPr>
              <a:t>defense</a:t>
            </a:r>
            <a:endParaRPr lang="tr-TR" sz="1600" dirty="0"/>
          </a:p>
        </p:txBody>
      </p:sp>
      <p:sp>
        <p:nvSpPr>
          <p:cNvPr id="15" name="Text 13"/>
          <p:cNvSpPr/>
          <p:nvPr/>
        </p:nvSpPr>
        <p:spPr>
          <a:xfrm>
            <a:off x="1463040" y="4270248"/>
            <a:ext cx="4983480" cy="438912"/>
          </a:xfrm>
          <a:prstGeom prst="rect">
            <a:avLst/>
          </a:prstGeom>
          <a:noFill/>
          <a:ln/>
        </p:spPr>
        <p:txBody>
          <a:bodyPr wrap="square" lIns="0" tIns="0" rIns="0" bIns="0" rtlCol="0" anchor="ctr"/>
          <a:lstStyle/>
          <a:p>
            <a:r>
              <a:rPr lang="tr-TR" sz="1230" dirty="0" err="1">
                <a:solidFill>
                  <a:srgbClr val="1F2A33"/>
                </a:solidFill>
              </a:rPr>
              <a:t>Keeping</a:t>
            </a:r>
            <a:r>
              <a:rPr lang="tr-TR" sz="1230" dirty="0">
                <a:solidFill>
                  <a:srgbClr val="1F2A33"/>
                </a:solidFill>
              </a:rPr>
              <a:t> </a:t>
            </a:r>
            <a:r>
              <a:rPr lang="tr-TR" sz="1230" dirty="0" err="1">
                <a:solidFill>
                  <a:srgbClr val="1F2A33"/>
                </a:solidFill>
              </a:rPr>
              <a:t>topology</a:t>
            </a:r>
            <a:r>
              <a:rPr lang="tr-TR" sz="1230" dirty="0">
                <a:solidFill>
                  <a:srgbClr val="1F2A33"/>
                </a:solidFill>
              </a:rPr>
              <a:t> </a:t>
            </a:r>
            <a:r>
              <a:rPr lang="tr-TR" sz="1230" dirty="0" err="1">
                <a:solidFill>
                  <a:srgbClr val="1F2A33"/>
                </a:solidFill>
              </a:rPr>
              <a:t>fixed</a:t>
            </a:r>
            <a:r>
              <a:rPr lang="tr-TR" sz="1230" dirty="0">
                <a:solidFill>
                  <a:srgbClr val="1F2A33"/>
                </a:solidFill>
              </a:rPr>
              <a:t> </a:t>
            </a:r>
            <a:r>
              <a:rPr lang="tr-TR" sz="1230" dirty="0" err="1">
                <a:solidFill>
                  <a:srgbClr val="1F2A33"/>
                </a:solidFill>
              </a:rPr>
              <a:t>does</a:t>
            </a:r>
            <a:r>
              <a:rPr lang="tr-TR" sz="1230" dirty="0">
                <a:solidFill>
                  <a:srgbClr val="1F2A33"/>
                </a:solidFill>
              </a:rPr>
              <a:t> not </a:t>
            </a:r>
            <a:r>
              <a:rPr lang="tr-TR" sz="1230" dirty="0" err="1">
                <a:solidFill>
                  <a:srgbClr val="1F2A33"/>
                </a:solidFill>
              </a:rPr>
              <a:t>prevent</a:t>
            </a:r>
            <a:r>
              <a:rPr lang="tr-TR" sz="1230" dirty="0">
                <a:solidFill>
                  <a:srgbClr val="1F2A33"/>
                </a:solidFill>
              </a:rPr>
              <a:t> </a:t>
            </a:r>
            <a:r>
              <a:rPr lang="tr-TR" sz="1230" dirty="0" err="1">
                <a:solidFill>
                  <a:srgbClr val="1F2A33"/>
                </a:solidFill>
              </a:rPr>
              <a:t>successful</a:t>
            </a:r>
            <a:r>
              <a:rPr lang="tr-TR" sz="1230" dirty="0">
                <a:solidFill>
                  <a:srgbClr val="1F2A33"/>
                </a:solidFill>
              </a:rPr>
              <a:t> </a:t>
            </a:r>
            <a:r>
              <a:rPr lang="tr-TR" sz="1230" dirty="0" err="1">
                <a:solidFill>
                  <a:srgbClr val="1F2A33"/>
                </a:solidFill>
              </a:rPr>
              <a:t>attacks</a:t>
            </a:r>
            <a:r>
              <a:rPr lang="tr-TR" sz="1230" dirty="0">
                <a:solidFill>
                  <a:srgbClr val="1F2A33"/>
                </a:solidFill>
              </a:rPr>
              <a:t> on </a:t>
            </a:r>
            <a:r>
              <a:rPr lang="tr-TR" sz="1230" dirty="0" err="1">
                <a:solidFill>
                  <a:srgbClr val="1F2A33"/>
                </a:solidFill>
              </a:rPr>
              <a:t>node</a:t>
            </a:r>
            <a:r>
              <a:rPr lang="tr-TR" sz="1230" dirty="0">
                <a:solidFill>
                  <a:srgbClr val="1F2A33"/>
                </a:solidFill>
              </a:rPr>
              <a:t> </a:t>
            </a:r>
            <a:r>
              <a:rPr lang="tr-TR" sz="1230" dirty="0" err="1">
                <a:solidFill>
                  <a:srgbClr val="1F2A33"/>
                </a:solidFill>
              </a:rPr>
              <a:t>features</a:t>
            </a:r>
            <a:r>
              <a:rPr lang="tr-TR" sz="1230" dirty="0">
                <a:solidFill>
                  <a:srgbClr val="1F2A33"/>
                </a:solidFill>
              </a:rPr>
              <a:t>.</a:t>
            </a:r>
            <a:endParaRPr lang="en-US" sz="1230" dirty="0"/>
          </a:p>
        </p:txBody>
      </p:sp>
      <p:sp>
        <p:nvSpPr>
          <p:cNvPr id="16" name="Shape 14"/>
          <p:cNvSpPr/>
          <p:nvPr/>
        </p:nvSpPr>
        <p:spPr>
          <a:xfrm>
            <a:off x="6967728" y="1389888"/>
            <a:ext cx="4370832" cy="3721608"/>
          </a:xfrm>
          <a:prstGeom prst="roundRect">
            <a:avLst>
              <a:gd name="adj" fmla="val 1474"/>
            </a:avLst>
          </a:prstGeom>
          <a:solidFill>
            <a:srgbClr val="FFFFFF"/>
          </a:solidFill>
          <a:ln w="12700">
            <a:solidFill>
              <a:srgbClr val="D6E0E2"/>
            </a:solidFill>
            <a:prstDash val="solid"/>
          </a:ln>
        </p:spPr>
        <p:txBody>
          <a:bodyPr/>
          <a:lstStyle/>
          <a:p>
            <a:endParaRPr/>
          </a:p>
        </p:txBody>
      </p:sp>
      <p:sp>
        <p:nvSpPr>
          <p:cNvPr id="17" name="Text 15"/>
          <p:cNvSpPr/>
          <p:nvPr/>
        </p:nvSpPr>
        <p:spPr>
          <a:xfrm>
            <a:off x="7278624" y="1719072"/>
            <a:ext cx="1828800" cy="320040"/>
          </a:xfrm>
          <a:prstGeom prst="rect">
            <a:avLst/>
          </a:prstGeom>
          <a:noFill/>
          <a:ln/>
        </p:spPr>
        <p:txBody>
          <a:bodyPr wrap="square" lIns="0" tIns="0" rIns="0" bIns="0" rtlCol="0" anchor="ctr"/>
          <a:lstStyle/>
          <a:p>
            <a:r>
              <a:rPr lang="tr-TR" b="1" dirty="0" err="1">
                <a:solidFill>
                  <a:srgbClr val="445C6D"/>
                </a:solidFill>
                <a:latin typeface="Aptos Display"/>
              </a:rPr>
              <a:t>Future</a:t>
            </a:r>
            <a:r>
              <a:rPr lang="tr-TR" b="1" dirty="0">
                <a:solidFill>
                  <a:srgbClr val="445C6D"/>
                </a:solidFill>
                <a:latin typeface="Aptos Display"/>
              </a:rPr>
              <a:t> </a:t>
            </a:r>
            <a:r>
              <a:rPr lang="tr-TR" b="1" dirty="0" err="1">
                <a:solidFill>
                  <a:srgbClr val="445C6D"/>
                </a:solidFill>
                <a:latin typeface="Aptos Display"/>
              </a:rPr>
              <a:t>Work</a:t>
            </a:r>
            <a:endParaRPr lang="tr-TR" dirty="0"/>
          </a:p>
        </p:txBody>
      </p:sp>
      <p:sp>
        <p:nvSpPr>
          <p:cNvPr id="18" name="Text 16"/>
          <p:cNvSpPr/>
          <p:nvPr/>
        </p:nvSpPr>
        <p:spPr>
          <a:xfrm>
            <a:off x="7251192" y="2267712"/>
            <a:ext cx="3566160" cy="2148840"/>
          </a:xfrm>
          <a:prstGeom prst="rect">
            <a:avLst/>
          </a:prstGeom>
          <a:noFill/>
          <a:ln/>
        </p:spPr>
        <p:txBody>
          <a:bodyPr wrap="square" lIns="254" tIns="254" rIns="254" bIns="254" rtlCol="0" anchor="t"/>
          <a:lstStyle/>
          <a:p>
            <a:pPr marL="203200" indent="-203200">
              <a:buSzPct val="100000"/>
              <a:buChar char="•"/>
            </a:pPr>
            <a:r>
              <a:rPr lang="tr-TR" sz="1600" dirty="0" err="1">
                <a:solidFill>
                  <a:srgbClr val="1F2A33"/>
                </a:solidFill>
              </a:rPr>
              <a:t>Structure-based</a:t>
            </a:r>
            <a:r>
              <a:rPr lang="tr-TR" sz="1600" dirty="0">
                <a:solidFill>
                  <a:srgbClr val="1F2A33"/>
                </a:solidFill>
              </a:rPr>
              <a:t> </a:t>
            </a:r>
            <a:r>
              <a:rPr lang="tr-TR" sz="1600" dirty="0" err="1">
                <a:solidFill>
                  <a:srgbClr val="1F2A33"/>
                </a:solidFill>
              </a:rPr>
              <a:t>attacks</a:t>
            </a:r>
            <a:endParaRPr lang="tr-TR" sz="1600" dirty="0">
              <a:solidFill>
                <a:srgbClr val="1F2A33"/>
              </a:solidFill>
            </a:endParaRPr>
          </a:p>
          <a:p>
            <a:pPr marL="203200" indent="-203200">
              <a:buSzPct val="100000"/>
              <a:buChar char="•"/>
            </a:pPr>
            <a:endParaRPr lang="en-US" sz="1600" dirty="0">
              <a:solidFill>
                <a:srgbClr val="1F2A33"/>
              </a:solidFill>
              <a:latin typeface="Aptos" pitchFamily="34" charset="0"/>
              <a:ea typeface="Aptos" pitchFamily="34" charset="-122"/>
              <a:cs typeface="Aptos" pitchFamily="34" charset="-120"/>
            </a:endParaRPr>
          </a:p>
          <a:p>
            <a:pPr marL="203200" indent="-203200">
              <a:buSzPct val="100000"/>
              <a:buFontTx/>
              <a:buChar char="•"/>
            </a:pPr>
            <a:r>
              <a:rPr lang="tr-TR" sz="1600" dirty="0" err="1">
                <a:solidFill>
                  <a:srgbClr val="1F2A33"/>
                </a:solidFill>
              </a:rPr>
              <a:t>Joint</a:t>
            </a:r>
            <a:r>
              <a:rPr lang="tr-TR" sz="1600" dirty="0">
                <a:solidFill>
                  <a:srgbClr val="1F2A33"/>
                </a:solidFill>
              </a:rPr>
              <a:t> </a:t>
            </a:r>
            <a:r>
              <a:rPr lang="tr-TR" sz="1600" dirty="0" err="1">
                <a:solidFill>
                  <a:srgbClr val="1F2A33"/>
                </a:solidFill>
              </a:rPr>
              <a:t>feature</a:t>
            </a:r>
            <a:r>
              <a:rPr lang="tr-TR" sz="1600" dirty="0">
                <a:solidFill>
                  <a:srgbClr val="1F2A33"/>
                </a:solidFill>
              </a:rPr>
              <a:t>–</a:t>
            </a:r>
            <a:r>
              <a:rPr lang="tr-TR" sz="1600" dirty="0" err="1">
                <a:solidFill>
                  <a:srgbClr val="1F2A33"/>
                </a:solidFill>
              </a:rPr>
              <a:t>topology</a:t>
            </a:r>
            <a:r>
              <a:rPr lang="tr-TR" sz="1600" dirty="0">
                <a:solidFill>
                  <a:srgbClr val="1F2A33"/>
                </a:solidFill>
              </a:rPr>
              <a:t> </a:t>
            </a:r>
            <a:r>
              <a:rPr lang="tr-TR" sz="1600" dirty="0" err="1">
                <a:solidFill>
                  <a:srgbClr val="1F2A33"/>
                </a:solidFill>
              </a:rPr>
              <a:t>perturbations</a:t>
            </a:r>
            <a:endParaRPr lang="tr-TR" sz="1600" dirty="0">
              <a:solidFill>
                <a:srgbClr val="1F2A33"/>
              </a:solidFill>
            </a:endParaRPr>
          </a:p>
          <a:p>
            <a:pPr marL="203200" indent="-203200">
              <a:buSzPct val="100000"/>
              <a:buFontTx/>
              <a:buChar char="•"/>
            </a:pPr>
            <a:endParaRPr lang="tr-TR" sz="1600" dirty="0">
              <a:solidFill>
                <a:srgbClr val="1F2A33"/>
              </a:solidFill>
            </a:endParaRPr>
          </a:p>
          <a:p>
            <a:pPr marL="203200" indent="-203200">
              <a:buSzPct val="100000"/>
              <a:buFontTx/>
              <a:buChar char="•"/>
            </a:pPr>
            <a:r>
              <a:rPr lang="tr-TR" sz="1600" dirty="0">
                <a:solidFill>
                  <a:srgbClr val="1F2A33"/>
                </a:solidFill>
              </a:rPr>
              <a:t>Attack </a:t>
            </a:r>
            <a:r>
              <a:rPr lang="tr-TR" sz="1600" dirty="0" err="1">
                <a:solidFill>
                  <a:srgbClr val="1F2A33"/>
                </a:solidFill>
              </a:rPr>
              <a:t>detection</a:t>
            </a:r>
            <a:r>
              <a:rPr lang="tr-TR" sz="1600" dirty="0">
                <a:solidFill>
                  <a:srgbClr val="1F2A33"/>
                </a:solidFill>
              </a:rPr>
              <a:t> </a:t>
            </a:r>
            <a:r>
              <a:rPr lang="tr-TR" sz="1600" dirty="0" err="1">
                <a:solidFill>
                  <a:srgbClr val="1F2A33"/>
                </a:solidFill>
              </a:rPr>
              <a:t>mechanisms</a:t>
            </a:r>
            <a:endParaRPr lang="tr-TR" sz="1600" dirty="0">
              <a:solidFill>
                <a:srgbClr val="1F2A33"/>
              </a:solidFill>
            </a:endParaRPr>
          </a:p>
          <a:p>
            <a:pPr>
              <a:buSzPct val="100000"/>
            </a:pPr>
            <a:endParaRPr lang="en-US" sz="1400" dirty="0"/>
          </a:p>
        </p:txBody>
      </p:sp>
      <p:sp>
        <p:nvSpPr>
          <p:cNvPr id="19" name="Shape 17"/>
          <p:cNvSpPr/>
          <p:nvPr/>
        </p:nvSpPr>
        <p:spPr>
          <a:xfrm>
            <a:off x="982980" y="5513832"/>
            <a:ext cx="9898380" cy="768676"/>
          </a:xfrm>
          <a:prstGeom prst="roundRect">
            <a:avLst>
              <a:gd name="adj" fmla="val 10345"/>
            </a:avLst>
          </a:prstGeom>
          <a:solidFill>
            <a:srgbClr val="CEE9EA"/>
          </a:solidFill>
          <a:ln w="12700">
            <a:solidFill>
              <a:srgbClr val="CEE9EA"/>
            </a:solidFill>
            <a:prstDash val="solid"/>
          </a:ln>
        </p:spPr>
        <p:txBody>
          <a:bodyPr/>
          <a:lstStyle/>
          <a:p>
            <a:endParaRPr/>
          </a:p>
        </p:txBody>
      </p:sp>
      <p:sp>
        <p:nvSpPr>
          <p:cNvPr id="20" name="Text 18"/>
          <p:cNvSpPr/>
          <p:nvPr/>
        </p:nvSpPr>
        <p:spPr>
          <a:xfrm>
            <a:off x="1440180" y="5504688"/>
            <a:ext cx="8565466" cy="786964"/>
          </a:xfrm>
          <a:prstGeom prst="rect">
            <a:avLst/>
          </a:prstGeom>
          <a:noFill/>
          <a:ln/>
        </p:spPr>
        <p:txBody>
          <a:bodyPr wrap="square" lIns="254" tIns="254" rIns="254" bIns="254" rtlCol="0" anchor="ctr">
            <a:normAutofit/>
          </a:bodyPr>
          <a:lstStyle/>
          <a:p>
            <a:pPr algn="ctr"/>
            <a:r>
              <a:rPr lang="tr-TR" sz="1400" b="1" dirty="0" err="1">
                <a:solidFill>
                  <a:srgbClr val="445C6D"/>
                </a:solidFill>
                <a:latin typeface="Aptos Display"/>
              </a:rPr>
              <a:t>Reliable</a:t>
            </a:r>
            <a:r>
              <a:rPr lang="tr-TR" sz="1400" b="1" dirty="0">
                <a:solidFill>
                  <a:srgbClr val="445C6D"/>
                </a:solidFill>
                <a:latin typeface="Aptos Display"/>
              </a:rPr>
              <a:t> </a:t>
            </a:r>
            <a:r>
              <a:rPr lang="tr-TR" sz="1400" b="1" dirty="0" err="1">
                <a:solidFill>
                  <a:srgbClr val="445C6D"/>
                </a:solidFill>
                <a:latin typeface="Aptos Display"/>
              </a:rPr>
              <a:t>security</a:t>
            </a:r>
            <a:r>
              <a:rPr lang="tr-TR" sz="1400" b="1" dirty="0">
                <a:solidFill>
                  <a:srgbClr val="445C6D"/>
                </a:solidFill>
                <a:latin typeface="Aptos Display"/>
              </a:rPr>
              <a:t> </a:t>
            </a:r>
            <a:r>
              <a:rPr lang="tr-TR" sz="1400" b="1" dirty="0" err="1">
                <a:solidFill>
                  <a:srgbClr val="445C6D"/>
                </a:solidFill>
                <a:latin typeface="Aptos Display"/>
              </a:rPr>
              <a:t>evaluation</a:t>
            </a:r>
            <a:r>
              <a:rPr lang="tr-TR" sz="1400" b="1" dirty="0">
                <a:solidFill>
                  <a:srgbClr val="445C6D"/>
                </a:solidFill>
                <a:latin typeface="Aptos Display"/>
              </a:rPr>
              <a:t> </a:t>
            </a:r>
            <a:r>
              <a:rPr lang="tr-TR" sz="1400" b="1" dirty="0" err="1">
                <a:solidFill>
                  <a:srgbClr val="445C6D"/>
                </a:solidFill>
                <a:latin typeface="Aptos Display"/>
              </a:rPr>
              <a:t>requires</a:t>
            </a:r>
            <a:r>
              <a:rPr lang="tr-TR" sz="1400" b="1" dirty="0">
                <a:solidFill>
                  <a:srgbClr val="445C6D"/>
                </a:solidFill>
                <a:latin typeface="Aptos Display"/>
              </a:rPr>
              <a:t> </a:t>
            </a:r>
            <a:r>
              <a:rPr lang="tr-TR" sz="1400" b="1" dirty="0" err="1">
                <a:solidFill>
                  <a:srgbClr val="445C6D"/>
                </a:solidFill>
                <a:latin typeface="Aptos Display"/>
              </a:rPr>
              <a:t>testing</a:t>
            </a:r>
            <a:r>
              <a:rPr lang="tr-TR" sz="1400" b="1" dirty="0">
                <a:solidFill>
                  <a:srgbClr val="445C6D"/>
                </a:solidFill>
                <a:latin typeface="Aptos Display"/>
              </a:rPr>
              <a:t> </a:t>
            </a:r>
            <a:r>
              <a:rPr lang="tr-TR" sz="1400" b="1" dirty="0" err="1">
                <a:solidFill>
                  <a:srgbClr val="445C6D"/>
                </a:solidFill>
                <a:latin typeface="Aptos Display"/>
              </a:rPr>
              <a:t>the</a:t>
            </a:r>
            <a:r>
              <a:rPr lang="tr-TR" sz="1400" b="1" dirty="0">
                <a:solidFill>
                  <a:srgbClr val="445C6D"/>
                </a:solidFill>
                <a:latin typeface="Aptos Display"/>
              </a:rPr>
              <a:t> model not </a:t>
            </a:r>
            <a:r>
              <a:rPr lang="tr-TR" sz="1400" b="1" dirty="0" err="1">
                <a:solidFill>
                  <a:srgbClr val="445C6D"/>
                </a:solidFill>
                <a:latin typeface="Aptos Display"/>
              </a:rPr>
              <a:t>only</a:t>
            </a:r>
            <a:r>
              <a:rPr lang="tr-TR" sz="1400" b="1" dirty="0">
                <a:solidFill>
                  <a:srgbClr val="445C6D"/>
                </a:solidFill>
                <a:latin typeface="Aptos Display"/>
              </a:rPr>
              <a:t> on </a:t>
            </a:r>
            <a:r>
              <a:rPr lang="tr-TR" sz="1400" b="1" dirty="0" err="1">
                <a:solidFill>
                  <a:srgbClr val="445C6D"/>
                </a:solidFill>
                <a:latin typeface="Aptos Display"/>
              </a:rPr>
              <a:t>clean</a:t>
            </a:r>
            <a:r>
              <a:rPr lang="tr-TR" sz="1400" b="1" dirty="0">
                <a:solidFill>
                  <a:srgbClr val="445C6D"/>
                </a:solidFill>
                <a:latin typeface="Aptos Display"/>
              </a:rPr>
              <a:t> data, but </a:t>
            </a:r>
            <a:r>
              <a:rPr lang="tr-TR" sz="1400" b="1" dirty="0" err="1">
                <a:solidFill>
                  <a:srgbClr val="445C6D"/>
                </a:solidFill>
                <a:latin typeface="Aptos Display"/>
              </a:rPr>
              <a:t>also</a:t>
            </a:r>
            <a:r>
              <a:rPr lang="tr-TR" sz="1400" b="1" dirty="0">
                <a:solidFill>
                  <a:srgbClr val="445C6D"/>
                </a:solidFill>
                <a:latin typeface="Aptos Display"/>
              </a:rPr>
              <a:t> </a:t>
            </a:r>
            <a:r>
              <a:rPr lang="tr-TR" sz="1400" b="1" dirty="0" err="1">
                <a:solidFill>
                  <a:srgbClr val="445C6D"/>
                </a:solidFill>
                <a:latin typeface="Aptos Display"/>
              </a:rPr>
              <a:t>under</a:t>
            </a:r>
            <a:r>
              <a:rPr lang="tr-TR" sz="1400" b="1" dirty="0">
                <a:solidFill>
                  <a:srgbClr val="445C6D"/>
                </a:solidFill>
                <a:latin typeface="Aptos Display"/>
              </a:rPr>
              <a:t> </a:t>
            </a:r>
            <a:r>
              <a:rPr lang="tr-TR" sz="1400" b="1" dirty="0" err="1">
                <a:solidFill>
                  <a:srgbClr val="445C6D"/>
                </a:solidFill>
                <a:latin typeface="Aptos Display"/>
              </a:rPr>
              <a:t>attack</a:t>
            </a:r>
            <a:r>
              <a:rPr lang="tr-TR" sz="1400" b="1" dirty="0">
                <a:solidFill>
                  <a:srgbClr val="445C6D"/>
                </a:solidFill>
                <a:latin typeface="Aptos Display"/>
              </a:rPr>
              <a:t>.</a:t>
            </a:r>
            <a:endParaRPr lang="tr-TR" sz="1400" dirty="0"/>
          </a:p>
        </p:txBody>
      </p:sp>
      <p:sp>
        <p:nvSpPr>
          <p:cNvPr id="25" name="Slide Number Placeholder 0"/>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8</a:t>
            </a:fld>
            <a:endParaRPr lang="en-US"/>
          </a:p>
        </p:txBody>
      </p:sp>
      <p:sp>
        <p:nvSpPr>
          <p:cNvPr id="21" name="Text 0">
            <a:extLst>
              <a:ext uri="{FF2B5EF4-FFF2-40B4-BE49-F238E27FC236}">
                <a16:creationId xmlns:a16="http://schemas.microsoft.com/office/drawing/2014/main" id="{F500FBF9-3EEB-D5BC-B604-F888C74B8BD0}"/>
              </a:ext>
            </a:extLst>
          </p:cNvPr>
          <p:cNvSpPr/>
          <p:nvPr/>
        </p:nvSpPr>
        <p:spPr>
          <a:xfrm>
            <a:off x="530352" y="320040"/>
            <a:ext cx="2743200" cy="228600"/>
          </a:xfrm>
          <a:prstGeom prst="rect">
            <a:avLst/>
          </a:prstGeom>
          <a:noFill/>
          <a:ln/>
        </p:spPr>
        <p:txBody>
          <a:bodyPr wrap="square" lIns="0" tIns="0" rIns="0" bIns="0" rtlCol="0" anchor="ctr"/>
          <a:lstStyle/>
          <a:p>
            <a:pPr marL="0" indent="0">
              <a:buNone/>
            </a:pPr>
            <a:r>
              <a:rPr sz="1050" b="1" dirty="0">
                <a:solidFill>
                  <a:srgbClr val="8BB3B4"/>
                </a:solidFill>
                <a:latin typeface="Aptos"/>
              </a:rPr>
              <a:t>7. KEY TAKEAWAYS</a:t>
            </a:r>
            <a:endParaRPr lang="en-US" sz="1050" dirty="0"/>
          </a:p>
        </p:txBody>
      </p:sp>
      <p:pic>
        <p:nvPicPr>
          <p:cNvPr id="2" name="Grafik 1">
            <a:extLst>
              <a:ext uri="{FF2B5EF4-FFF2-40B4-BE49-F238E27FC236}">
                <a16:creationId xmlns:a16="http://schemas.microsoft.com/office/drawing/2014/main" id="{EE8E10E7-8B1B-0661-2EAE-5560B4A1E5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02" y="6446520"/>
            <a:ext cx="273517" cy="228601"/>
          </a:xfrm>
          <a:prstGeom prst="rect">
            <a:avLst/>
          </a:prstGeom>
        </p:spPr>
      </p:pic>
      <p:sp>
        <p:nvSpPr>
          <p:cNvPr id="22" name="Shape 6">
            <a:extLst>
              <a:ext uri="{FF2B5EF4-FFF2-40B4-BE49-F238E27FC236}">
                <a16:creationId xmlns:a16="http://schemas.microsoft.com/office/drawing/2014/main" id="{9186147F-E727-4316-5592-CD57FC46CDE5}"/>
              </a:ext>
            </a:extLst>
          </p:cNvPr>
          <p:cNvSpPr/>
          <p:nvPr/>
        </p:nvSpPr>
        <p:spPr>
          <a:xfrm>
            <a:off x="4870410" y="6355080"/>
            <a:ext cx="6180992" cy="411480"/>
          </a:xfrm>
          <a:prstGeom prst="roundRect">
            <a:avLst>
              <a:gd name="adj" fmla="val 50000"/>
            </a:avLst>
          </a:prstGeom>
          <a:solidFill>
            <a:srgbClr val="FFFFFF"/>
          </a:solidFill>
          <a:ln w="12700">
            <a:solidFill>
              <a:srgbClr val="D9E3E4"/>
            </a:solidFill>
            <a:prstDash val="solid"/>
          </a:ln>
        </p:spPr>
        <p:txBody>
          <a:bodyPr/>
          <a:lstStyle/>
          <a:p>
            <a:pPr algn="ctr"/>
            <a:r>
              <a:rPr lang="tr-TR" dirty="0">
                <a:solidFill>
                  <a:srgbClr val="879EB0"/>
                </a:solidFill>
              </a:rPr>
              <a:t>ASYU 2026</a:t>
            </a:r>
            <a:endParaRPr dirty="0">
              <a:solidFill>
                <a:srgbClr val="879EB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D0690-4272-F03F-898B-BC6AFF7216C7}"/>
            </a:ext>
          </a:extLst>
        </p:cNvPr>
        <p:cNvGrpSpPr/>
        <p:nvPr/>
      </p:nvGrpSpPr>
      <p:grpSpPr>
        <a:xfrm>
          <a:off x="0" y="0"/>
          <a:ext cx="0" cy="0"/>
          <a:chOff x="0" y="0"/>
          <a:chExt cx="0" cy="0"/>
        </a:xfrm>
      </p:grpSpPr>
      <p:sp>
        <p:nvSpPr>
          <p:cNvPr id="21" name="Text 19">
            <a:extLst>
              <a:ext uri="{FF2B5EF4-FFF2-40B4-BE49-F238E27FC236}">
                <a16:creationId xmlns:a16="http://schemas.microsoft.com/office/drawing/2014/main" id="{4B6D6964-3B0B-A9D1-B323-B3FAA08212F2}"/>
              </a:ext>
            </a:extLst>
          </p:cNvPr>
          <p:cNvSpPr/>
          <p:nvPr/>
        </p:nvSpPr>
        <p:spPr>
          <a:xfrm>
            <a:off x="2791952" y="697567"/>
            <a:ext cx="6963425" cy="1610420"/>
          </a:xfrm>
          <a:prstGeom prst="rect">
            <a:avLst/>
          </a:prstGeom>
          <a:noFill/>
          <a:ln/>
        </p:spPr>
        <p:txBody>
          <a:bodyPr wrap="square" lIns="0" tIns="0" rIns="0" bIns="0" rtlCol="0" anchor="ctr"/>
          <a:lstStyle/>
          <a:p>
            <a:pPr algn="ctr"/>
            <a:r>
              <a:rPr lang="tr-TR" sz="6000" b="1" dirty="0" err="1">
                <a:solidFill>
                  <a:srgbClr val="445C6D"/>
                </a:solidFill>
                <a:latin typeface="Aptos Display"/>
              </a:rPr>
              <a:t>Thank</a:t>
            </a:r>
            <a:r>
              <a:rPr lang="tr-TR" sz="6000" b="1" dirty="0">
                <a:solidFill>
                  <a:srgbClr val="445C6D"/>
                </a:solidFill>
                <a:latin typeface="Aptos Display"/>
              </a:rPr>
              <a:t> </a:t>
            </a:r>
            <a:r>
              <a:rPr lang="tr-TR" sz="6000" b="1" dirty="0" err="1">
                <a:solidFill>
                  <a:srgbClr val="445C6D"/>
                </a:solidFill>
                <a:latin typeface="Aptos Display"/>
              </a:rPr>
              <a:t>You</a:t>
            </a:r>
            <a:r>
              <a:rPr lang="tr-TR" sz="6000" b="1" dirty="0">
                <a:solidFill>
                  <a:srgbClr val="445C6D"/>
                </a:solidFill>
                <a:latin typeface="Aptos Display"/>
              </a:rPr>
              <a:t>!</a:t>
            </a:r>
            <a:endParaRPr lang="tr-TR" sz="6600" dirty="0"/>
          </a:p>
        </p:txBody>
      </p:sp>
      <p:sp>
        <p:nvSpPr>
          <p:cNvPr id="25" name="Slide Number Placeholder 0">
            <a:extLst>
              <a:ext uri="{FF2B5EF4-FFF2-40B4-BE49-F238E27FC236}">
                <a16:creationId xmlns:a16="http://schemas.microsoft.com/office/drawing/2014/main" id="{472B0FAC-226B-AB52-5353-F74A121D48CD}"/>
              </a:ext>
            </a:extLst>
          </p:cNvPr>
          <p:cNvSpPr>
            <a:spLocks noGrp="1"/>
          </p:cNvSpPr>
          <p:nvPr>
            <p:ph type="sldNum" sz="quarter" idx="4294967295"/>
          </p:nvPr>
        </p:nvSpPr>
        <p:spPr>
          <a:xfrm>
            <a:off x="11292840" y="6446520"/>
            <a:ext cx="41148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79EB0"/>
                </a:solidFill>
                <a:latin typeface="Aptos"/>
                <a:ea typeface="Aptos"/>
                <a:cs typeface="Aptos"/>
              </a:defRPr>
            </a:lvl1pPr>
          </a:lstStyle>
          <a:p>
            <a:pPr algn="r"/>
            <a:fld id="{F7021451-1387-4CA6-816F-3879F97B5CBC}" type="slidenum">
              <a:rPr lang="en-US" b="0"/>
              <a:t>9</a:t>
            </a:fld>
            <a:endParaRPr lang="en-US"/>
          </a:p>
        </p:txBody>
      </p:sp>
      <p:sp>
        <p:nvSpPr>
          <p:cNvPr id="28" name="Text 21">
            <a:extLst>
              <a:ext uri="{FF2B5EF4-FFF2-40B4-BE49-F238E27FC236}">
                <a16:creationId xmlns:a16="http://schemas.microsoft.com/office/drawing/2014/main" id="{589B0D34-D430-7949-BE99-92C78BFAEA9A}"/>
              </a:ext>
            </a:extLst>
          </p:cNvPr>
          <p:cNvSpPr/>
          <p:nvPr/>
        </p:nvSpPr>
        <p:spPr>
          <a:xfrm>
            <a:off x="2482018" y="2817438"/>
            <a:ext cx="7227963" cy="365760"/>
          </a:xfrm>
          <a:prstGeom prst="rect">
            <a:avLst/>
          </a:prstGeom>
          <a:noFill/>
          <a:ln/>
        </p:spPr>
        <p:txBody>
          <a:bodyPr wrap="square" lIns="0" tIns="0" rIns="0" bIns="0" rtlCol="0" anchor="ctr"/>
          <a:lstStyle/>
          <a:p>
            <a:r>
              <a:rPr lang="en-US" sz="1500" dirty="0">
                <a:solidFill>
                  <a:srgbClr val="1F2A33"/>
                </a:solidFill>
                <a:latin typeface="Aptos" pitchFamily="34" charset="0"/>
                <a:ea typeface="Aptos" pitchFamily="34" charset="-122"/>
                <a:cs typeface="Aptos" pitchFamily="34" charset="-120"/>
              </a:rPr>
              <a:t>Gizem KARYAĞDI  • </a:t>
            </a:r>
            <a:r>
              <a:rPr lang="tr-TR" sz="1600" dirty="0" err="1"/>
              <a:t>Assist</a:t>
            </a:r>
            <a:r>
              <a:rPr lang="tr-TR" sz="1600" dirty="0"/>
              <a:t>. Prof. Dr. </a:t>
            </a:r>
            <a:r>
              <a:rPr lang="en-US" sz="1500" dirty="0" err="1">
                <a:solidFill>
                  <a:srgbClr val="1F2A33"/>
                </a:solidFill>
                <a:latin typeface="Aptos" pitchFamily="34" charset="0"/>
                <a:ea typeface="Aptos" pitchFamily="34" charset="-122"/>
                <a:cs typeface="Aptos" pitchFamily="34" charset="-120"/>
              </a:rPr>
              <a:t>İlker</a:t>
            </a:r>
            <a:r>
              <a:rPr lang="en-US" sz="1500" dirty="0">
                <a:solidFill>
                  <a:srgbClr val="1F2A33"/>
                </a:solidFill>
                <a:latin typeface="Aptos" pitchFamily="34" charset="0"/>
                <a:ea typeface="Aptos" pitchFamily="34" charset="-122"/>
                <a:cs typeface="Aptos" pitchFamily="34" charset="-120"/>
              </a:rPr>
              <a:t> ÖZÇELİK • </a:t>
            </a:r>
            <a:r>
              <a:rPr lang="tr-TR" sz="1600" dirty="0" err="1"/>
              <a:t>Assoc</a:t>
            </a:r>
            <a:r>
              <a:rPr lang="tr-TR" sz="1600" dirty="0"/>
              <a:t>. Prof. Dr. </a:t>
            </a:r>
            <a:r>
              <a:rPr lang="en-US" sz="1500" dirty="0">
                <a:solidFill>
                  <a:srgbClr val="1F2A33"/>
                </a:solidFill>
                <a:latin typeface="Aptos" pitchFamily="34" charset="0"/>
                <a:ea typeface="Aptos" pitchFamily="34" charset="-122"/>
                <a:cs typeface="Aptos" pitchFamily="34" charset="-120"/>
              </a:rPr>
              <a:t>Elis SOYLU YILMAZ</a:t>
            </a:r>
            <a:endParaRPr lang="en-US" sz="1500" dirty="0"/>
          </a:p>
        </p:txBody>
      </p:sp>
      <p:sp>
        <p:nvSpPr>
          <p:cNvPr id="52" name="Shape 6">
            <a:extLst>
              <a:ext uri="{FF2B5EF4-FFF2-40B4-BE49-F238E27FC236}">
                <a16:creationId xmlns:a16="http://schemas.microsoft.com/office/drawing/2014/main" id="{A87C91FC-77F6-0D73-3128-89FDACD44F48}"/>
              </a:ext>
            </a:extLst>
          </p:cNvPr>
          <p:cNvSpPr/>
          <p:nvPr/>
        </p:nvSpPr>
        <p:spPr>
          <a:xfrm>
            <a:off x="1228583" y="3315941"/>
            <a:ext cx="2880360"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53" name="Shape 7">
            <a:extLst>
              <a:ext uri="{FF2B5EF4-FFF2-40B4-BE49-F238E27FC236}">
                <a16:creationId xmlns:a16="http://schemas.microsoft.com/office/drawing/2014/main" id="{737E7668-FE62-D10A-AB5B-E85FC0657694}"/>
              </a:ext>
            </a:extLst>
          </p:cNvPr>
          <p:cNvSpPr/>
          <p:nvPr/>
        </p:nvSpPr>
        <p:spPr>
          <a:xfrm>
            <a:off x="1374887" y="3434813"/>
            <a:ext cx="365760" cy="365760"/>
          </a:xfrm>
          <a:prstGeom prst="ellipse">
            <a:avLst/>
          </a:prstGeom>
          <a:solidFill>
            <a:srgbClr val="E2F1F1"/>
          </a:solidFill>
          <a:ln w="10160">
            <a:solidFill>
              <a:srgbClr val="C7DEDF"/>
            </a:solidFill>
            <a:prstDash val="solid"/>
          </a:ln>
        </p:spPr>
        <p:txBody>
          <a:bodyPr/>
          <a:lstStyle/>
          <a:p>
            <a:endParaRPr lang="tr-TR"/>
          </a:p>
        </p:txBody>
      </p:sp>
      <p:sp>
        <p:nvSpPr>
          <p:cNvPr id="54" name="Text 8">
            <a:extLst>
              <a:ext uri="{FF2B5EF4-FFF2-40B4-BE49-F238E27FC236}">
                <a16:creationId xmlns:a16="http://schemas.microsoft.com/office/drawing/2014/main" id="{34134E6C-D77A-2067-3F17-854836544CA0}"/>
              </a:ext>
            </a:extLst>
          </p:cNvPr>
          <p:cNvSpPr/>
          <p:nvPr/>
        </p:nvSpPr>
        <p:spPr>
          <a:xfrm>
            <a:off x="1374887" y="3521681"/>
            <a:ext cx="365760" cy="182880"/>
          </a:xfrm>
          <a:prstGeom prst="rect">
            <a:avLst/>
          </a:prstGeom>
          <a:noFill/>
          <a:ln/>
        </p:spPr>
        <p:txBody>
          <a:bodyPr wrap="square" lIns="0" tIns="0" rIns="0" bIns="0" rtlCol="0" anchor="ctr"/>
          <a:lstStyle/>
          <a:p>
            <a:pPr marL="0" indent="0" algn="ctr">
              <a:buNone/>
            </a:pPr>
            <a:r>
              <a:rPr lang="en-US" sz="1400" b="1" dirty="0">
                <a:solidFill>
                  <a:srgbClr val="445C6D"/>
                </a:solidFill>
                <a:latin typeface="Aptos" pitchFamily="34" charset="0"/>
                <a:ea typeface="Aptos" pitchFamily="34" charset="-122"/>
                <a:cs typeface="Aptos" pitchFamily="34" charset="-120"/>
              </a:rPr>
              <a:t>@</a:t>
            </a:r>
            <a:endParaRPr lang="en-US" sz="1400" dirty="0"/>
          </a:p>
        </p:txBody>
      </p:sp>
      <p:sp>
        <p:nvSpPr>
          <p:cNvPr id="55" name="Text 9">
            <a:extLst>
              <a:ext uri="{FF2B5EF4-FFF2-40B4-BE49-F238E27FC236}">
                <a16:creationId xmlns:a16="http://schemas.microsoft.com/office/drawing/2014/main" id="{A34A76D6-1FC4-F227-7F8E-964BFE2E2761}"/>
              </a:ext>
            </a:extLst>
          </p:cNvPr>
          <p:cNvSpPr/>
          <p:nvPr/>
        </p:nvSpPr>
        <p:spPr>
          <a:xfrm>
            <a:off x="1886951" y="3503393"/>
            <a:ext cx="2093976" cy="201168"/>
          </a:xfrm>
          <a:prstGeom prst="rect">
            <a:avLst/>
          </a:prstGeom>
          <a:noFill/>
          <a:ln/>
        </p:spPr>
        <p:txBody>
          <a:bodyPr wrap="square" lIns="0" tIns="0" rIns="0" bIns="0" rtlCol="0" anchor="ctr">
            <a:noAutofit/>
          </a:bodyPr>
          <a:lstStyle/>
          <a:p>
            <a:pPr marL="0" indent="0">
              <a:buNone/>
            </a:pPr>
            <a:r>
              <a:rPr lang="en-US" sz="1400" dirty="0" err="1">
                <a:solidFill>
                  <a:srgbClr val="1F2A33"/>
                </a:solidFill>
                <a:latin typeface="Aptos" pitchFamily="34" charset="0"/>
                <a:ea typeface="Aptos" pitchFamily="34" charset="-122"/>
                <a:cs typeface="Aptos" pitchFamily="34" charset="-120"/>
              </a:rPr>
              <a:t>gizemkarydi@gmail.com</a:t>
            </a:r>
            <a:endParaRPr lang="en-US" sz="1400" dirty="0"/>
          </a:p>
        </p:txBody>
      </p:sp>
      <p:sp>
        <p:nvSpPr>
          <p:cNvPr id="56" name="Shape 10">
            <a:extLst>
              <a:ext uri="{FF2B5EF4-FFF2-40B4-BE49-F238E27FC236}">
                <a16:creationId xmlns:a16="http://schemas.microsoft.com/office/drawing/2014/main" id="{595EACB1-C0CF-F855-AC45-7064BC6F9647}"/>
              </a:ext>
            </a:extLst>
          </p:cNvPr>
          <p:cNvSpPr/>
          <p:nvPr/>
        </p:nvSpPr>
        <p:spPr>
          <a:xfrm>
            <a:off x="1703032" y="4073482"/>
            <a:ext cx="1910608"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57" name="Shape 11">
            <a:extLst>
              <a:ext uri="{FF2B5EF4-FFF2-40B4-BE49-F238E27FC236}">
                <a16:creationId xmlns:a16="http://schemas.microsoft.com/office/drawing/2014/main" id="{3CC0AC61-CAC5-6307-0D83-A8B53FBD7D23}"/>
              </a:ext>
            </a:extLst>
          </p:cNvPr>
          <p:cNvSpPr/>
          <p:nvPr/>
        </p:nvSpPr>
        <p:spPr>
          <a:xfrm>
            <a:off x="1856866" y="4194699"/>
            <a:ext cx="310896" cy="310896"/>
          </a:xfrm>
          <a:prstGeom prst="roundRect">
            <a:avLst>
              <a:gd name="adj" fmla="val 11765"/>
            </a:avLst>
          </a:prstGeom>
          <a:solidFill>
            <a:srgbClr val="8BB3B4"/>
          </a:solidFill>
          <a:ln w="12700">
            <a:solidFill>
              <a:srgbClr val="8BB3B4">
                <a:alpha val="0"/>
              </a:srgbClr>
            </a:solidFill>
            <a:prstDash val="solid"/>
          </a:ln>
        </p:spPr>
        <p:txBody>
          <a:bodyPr/>
          <a:lstStyle/>
          <a:p>
            <a:endParaRPr lang="tr-TR"/>
          </a:p>
        </p:txBody>
      </p:sp>
      <p:sp>
        <p:nvSpPr>
          <p:cNvPr id="58" name="Text 12">
            <a:extLst>
              <a:ext uri="{FF2B5EF4-FFF2-40B4-BE49-F238E27FC236}">
                <a16:creationId xmlns:a16="http://schemas.microsoft.com/office/drawing/2014/main" id="{461B8447-372F-0300-3FE4-27E42BB3DD3B}"/>
              </a:ext>
            </a:extLst>
          </p:cNvPr>
          <p:cNvSpPr/>
          <p:nvPr/>
        </p:nvSpPr>
        <p:spPr>
          <a:xfrm>
            <a:off x="1879726" y="4217559"/>
            <a:ext cx="265176" cy="21945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in</a:t>
            </a:r>
            <a:endParaRPr lang="en-US" sz="1300" dirty="0"/>
          </a:p>
        </p:txBody>
      </p:sp>
      <p:sp>
        <p:nvSpPr>
          <p:cNvPr id="59" name="Text 13">
            <a:extLst>
              <a:ext uri="{FF2B5EF4-FFF2-40B4-BE49-F238E27FC236}">
                <a16:creationId xmlns:a16="http://schemas.microsoft.com/office/drawing/2014/main" id="{C0B28F3B-039C-D6CA-07F9-D29E18623C44}"/>
              </a:ext>
            </a:extLst>
          </p:cNvPr>
          <p:cNvSpPr/>
          <p:nvPr/>
        </p:nvSpPr>
        <p:spPr>
          <a:xfrm>
            <a:off x="2296322" y="4214810"/>
            <a:ext cx="1166282" cy="260604"/>
          </a:xfrm>
          <a:prstGeom prst="rect">
            <a:avLst/>
          </a:prstGeom>
          <a:noFill/>
          <a:ln/>
        </p:spPr>
        <p:txBody>
          <a:bodyPr wrap="square" lIns="0" tIns="0" rIns="0" bIns="0" rtlCol="0" anchor="ctr">
            <a:normAutofit/>
          </a:bodyPr>
          <a:lstStyle/>
          <a:p>
            <a:pPr marL="0" indent="0">
              <a:buNone/>
            </a:pPr>
            <a:r>
              <a:rPr lang="en-US" sz="1250" dirty="0">
                <a:solidFill>
                  <a:srgbClr val="1F2A33"/>
                </a:solidFill>
                <a:latin typeface="Aptos" pitchFamily="34" charset="0"/>
                <a:ea typeface="Aptos" pitchFamily="34" charset="-122"/>
                <a:cs typeface="Aptos" pitchFamily="34" charset="-120"/>
              </a:rPr>
              <a:t>@</a:t>
            </a:r>
            <a:r>
              <a:rPr lang="en-US" sz="1250" dirty="0" err="1">
                <a:solidFill>
                  <a:srgbClr val="1F2A33"/>
                </a:solidFill>
                <a:latin typeface="Aptos" pitchFamily="34" charset="0"/>
                <a:ea typeface="Aptos" pitchFamily="34" charset="-122"/>
                <a:cs typeface="Aptos" pitchFamily="34" charset="-120"/>
              </a:rPr>
              <a:t>gizemkaryagdi</a:t>
            </a:r>
            <a:endParaRPr lang="en-US" sz="1250" dirty="0"/>
          </a:p>
        </p:txBody>
      </p:sp>
      <p:sp>
        <p:nvSpPr>
          <p:cNvPr id="60" name="Shape 10">
            <a:extLst>
              <a:ext uri="{FF2B5EF4-FFF2-40B4-BE49-F238E27FC236}">
                <a16:creationId xmlns:a16="http://schemas.microsoft.com/office/drawing/2014/main" id="{3F7BCC89-2E68-0F87-26EF-6202B0D91C6B}"/>
              </a:ext>
            </a:extLst>
          </p:cNvPr>
          <p:cNvSpPr/>
          <p:nvPr/>
        </p:nvSpPr>
        <p:spPr>
          <a:xfrm>
            <a:off x="6222049" y="5283124"/>
            <a:ext cx="1793843"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61" name="Shape 11">
            <a:extLst>
              <a:ext uri="{FF2B5EF4-FFF2-40B4-BE49-F238E27FC236}">
                <a16:creationId xmlns:a16="http://schemas.microsoft.com/office/drawing/2014/main" id="{9488F384-9CDD-503C-287D-4F4672C12F4D}"/>
              </a:ext>
            </a:extLst>
          </p:cNvPr>
          <p:cNvSpPr/>
          <p:nvPr/>
        </p:nvSpPr>
        <p:spPr>
          <a:xfrm>
            <a:off x="6354106" y="5390378"/>
            <a:ext cx="310896" cy="310896"/>
          </a:xfrm>
          <a:prstGeom prst="roundRect">
            <a:avLst>
              <a:gd name="adj" fmla="val 11765"/>
            </a:avLst>
          </a:prstGeom>
          <a:solidFill>
            <a:srgbClr val="8BB3B4"/>
          </a:solidFill>
          <a:ln w="12700">
            <a:solidFill>
              <a:srgbClr val="8BB3B4">
                <a:alpha val="0"/>
              </a:srgbClr>
            </a:solidFill>
            <a:prstDash val="solid"/>
          </a:ln>
        </p:spPr>
        <p:txBody>
          <a:bodyPr/>
          <a:lstStyle/>
          <a:p>
            <a:endParaRPr lang="tr-TR"/>
          </a:p>
        </p:txBody>
      </p:sp>
      <p:sp>
        <p:nvSpPr>
          <p:cNvPr id="62" name="Text 12">
            <a:extLst>
              <a:ext uri="{FF2B5EF4-FFF2-40B4-BE49-F238E27FC236}">
                <a16:creationId xmlns:a16="http://schemas.microsoft.com/office/drawing/2014/main" id="{7E1BB2D5-E7CA-C251-F0C7-E1F43DDE492F}"/>
              </a:ext>
            </a:extLst>
          </p:cNvPr>
          <p:cNvSpPr/>
          <p:nvPr/>
        </p:nvSpPr>
        <p:spPr>
          <a:xfrm>
            <a:off x="6627887" y="5343830"/>
            <a:ext cx="265176" cy="219456"/>
          </a:xfrm>
          <a:prstGeom prst="rect">
            <a:avLst/>
          </a:prstGeom>
          <a:noFill/>
          <a:ln/>
        </p:spPr>
        <p:txBody>
          <a:bodyPr wrap="square" lIns="0" tIns="0" rIns="0" bIns="0" rtlCol="0" anchor="ctr"/>
          <a:lstStyle/>
          <a:p>
            <a:pPr marL="0" indent="0" algn="ctr">
              <a:buNone/>
            </a:pPr>
            <a:endParaRPr lang="en-US" sz="1300"/>
          </a:p>
        </p:txBody>
      </p:sp>
      <p:pic>
        <p:nvPicPr>
          <p:cNvPr id="68" name="Grafik 67">
            <a:extLst>
              <a:ext uri="{FF2B5EF4-FFF2-40B4-BE49-F238E27FC236}">
                <a16:creationId xmlns:a16="http://schemas.microsoft.com/office/drawing/2014/main" id="{FE98257B-924F-81B7-05CC-7F7E7CD764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4608" y="4161226"/>
            <a:ext cx="2880360" cy="2880360"/>
          </a:xfrm>
          <a:prstGeom prst="rect">
            <a:avLst/>
          </a:prstGeom>
        </p:spPr>
      </p:pic>
      <p:pic>
        <p:nvPicPr>
          <p:cNvPr id="73" name="Grafik 72">
            <a:extLst>
              <a:ext uri="{FF2B5EF4-FFF2-40B4-BE49-F238E27FC236}">
                <a16:creationId xmlns:a16="http://schemas.microsoft.com/office/drawing/2014/main" id="{12C4396B-C88E-C4C6-8838-F9F884C28C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85652" y="5434604"/>
            <a:ext cx="261091" cy="241225"/>
          </a:xfrm>
          <a:prstGeom prst="rect">
            <a:avLst/>
          </a:prstGeom>
        </p:spPr>
      </p:pic>
      <p:sp>
        <p:nvSpPr>
          <p:cNvPr id="74" name="Metin kutusu 73">
            <a:extLst>
              <a:ext uri="{FF2B5EF4-FFF2-40B4-BE49-F238E27FC236}">
                <a16:creationId xmlns:a16="http://schemas.microsoft.com/office/drawing/2014/main" id="{A8458178-1AA3-3861-1251-BCA87ED4EF4E}"/>
              </a:ext>
            </a:extLst>
          </p:cNvPr>
          <p:cNvSpPr txBox="1"/>
          <p:nvPr/>
        </p:nvSpPr>
        <p:spPr>
          <a:xfrm>
            <a:off x="6727280" y="5416581"/>
            <a:ext cx="804900" cy="284693"/>
          </a:xfrm>
          <a:prstGeom prst="rect">
            <a:avLst/>
          </a:prstGeom>
          <a:noFill/>
        </p:spPr>
        <p:txBody>
          <a:bodyPr wrap="none" rtlCol="0">
            <a:spAutoFit/>
          </a:bodyPr>
          <a:lstStyle/>
          <a:p>
            <a:r>
              <a:rPr lang="tr-TR" sz="1250" dirty="0" err="1">
                <a:hlinkClick r:id="rId7">
                  <a:extLst>
                    <a:ext uri="{A12FA001-AC4F-418D-AE19-62706E023703}">
                      <ahyp:hlinkClr xmlns:ahyp="http://schemas.microsoft.com/office/drawing/2018/hyperlinkcolor" val="tx"/>
                    </a:ext>
                  </a:extLst>
                </a:hlinkClick>
              </a:rPr>
              <a:t>isslab.co</a:t>
            </a:r>
            <a:endParaRPr lang="tr-TR" sz="1250" dirty="0"/>
          </a:p>
        </p:txBody>
      </p:sp>
      <p:sp>
        <p:nvSpPr>
          <p:cNvPr id="2" name="TextBox 74">
            <a:extLst>
              <a:ext uri="{FF2B5EF4-FFF2-40B4-BE49-F238E27FC236}">
                <a16:creationId xmlns:a16="http://schemas.microsoft.com/office/drawing/2014/main" id="{A915F7BA-15CF-B618-DAB9-0CC3BB891BF5}"/>
              </a:ext>
            </a:extLst>
          </p:cNvPr>
          <p:cNvSpPr txBox="1"/>
          <p:nvPr/>
        </p:nvSpPr>
        <p:spPr>
          <a:xfrm>
            <a:off x="5168326" y="2098172"/>
            <a:ext cx="2454189" cy="553998"/>
          </a:xfrm>
          <a:prstGeom prst="rect">
            <a:avLst/>
          </a:prstGeom>
          <a:noFill/>
        </p:spPr>
        <p:txBody>
          <a:bodyPr wrap="square">
            <a:spAutoFit/>
          </a:bodyPr>
          <a:lstStyle/>
          <a:p>
            <a:pPr algn="l"/>
            <a:r>
              <a:rPr sz="3000" b="1" dirty="0">
                <a:solidFill>
                  <a:srgbClr val="8CB4B2"/>
                </a:solidFill>
                <a:latin typeface="Aptos Display"/>
              </a:rPr>
              <a:t>Questions?</a:t>
            </a:r>
          </a:p>
        </p:txBody>
      </p:sp>
      <p:sp>
        <p:nvSpPr>
          <p:cNvPr id="3" name="Shape 6">
            <a:extLst>
              <a:ext uri="{FF2B5EF4-FFF2-40B4-BE49-F238E27FC236}">
                <a16:creationId xmlns:a16="http://schemas.microsoft.com/office/drawing/2014/main" id="{9E33B16C-DE44-39D2-248F-64F0C987AA62}"/>
              </a:ext>
            </a:extLst>
          </p:cNvPr>
          <p:cNvSpPr/>
          <p:nvPr/>
        </p:nvSpPr>
        <p:spPr>
          <a:xfrm>
            <a:off x="4483001" y="3317870"/>
            <a:ext cx="2880360"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4" name="Shape 7">
            <a:extLst>
              <a:ext uri="{FF2B5EF4-FFF2-40B4-BE49-F238E27FC236}">
                <a16:creationId xmlns:a16="http://schemas.microsoft.com/office/drawing/2014/main" id="{0E11C382-20D4-EE2C-971F-1E7670DE71F8}"/>
              </a:ext>
            </a:extLst>
          </p:cNvPr>
          <p:cNvSpPr/>
          <p:nvPr/>
        </p:nvSpPr>
        <p:spPr>
          <a:xfrm>
            <a:off x="4629305" y="3436742"/>
            <a:ext cx="365760" cy="365760"/>
          </a:xfrm>
          <a:prstGeom prst="ellipse">
            <a:avLst/>
          </a:prstGeom>
          <a:solidFill>
            <a:srgbClr val="E2F1F1"/>
          </a:solidFill>
          <a:ln w="10160">
            <a:solidFill>
              <a:srgbClr val="C7DEDF"/>
            </a:solidFill>
            <a:prstDash val="solid"/>
          </a:ln>
        </p:spPr>
        <p:txBody>
          <a:bodyPr/>
          <a:lstStyle/>
          <a:p>
            <a:endParaRPr lang="tr-TR"/>
          </a:p>
        </p:txBody>
      </p:sp>
      <p:sp>
        <p:nvSpPr>
          <p:cNvPr id="5" name="Text 8">
            <a:extLst>
              <a:ext uri="{FF2B5EF4-FFF2-40B4-BE49-F238E27FC236}">
                <a16:creationId xmlns:a16="http://schemas.microsoft.com/office/drawing/2014/main" id="{4E27CDC4-9FE4-C306-737C-19F2761391A6}"/>
              </a:ext>
            </a:extLst>
          </p:cNvPr>
          <p:cNvSpPr/>
          <p:nvPr/>
        </p:nvSpPr>
        <p:spPr>
          <a:xfrm>
            <a:off x="4629305" y="3523610"/>
            <a:ext cx="365760" cy="182880"/>
          </a:xfrm>
          <a:prstGeom prst="rect">
            <a:avLst/>
          </a:prstGeom>
          <a:noFill/>
          <a:ln/>
        </p:spPr>
        <p:txBody>
          <a:bodyPr wrap="square" lIns="0" tIns="0" rIns="0" bIns="0" rtlCol="0" anchor="ctr"/>
          <a:lstStyle/>
          <a:p>
            <a:pPr marL="0" indent="0" algn="ctr">
              <a:buNone/>
            </a:pPr>
            <a:r>
              <a:rPr lang="en-US" sz="1400" b="1" dirty="0">
                <a:solidFill>
                  <a:srgbClr val="445C6D"/>
                </a:solidFill>
                <a:latin typeface="Aptos" pitchFamily="34" charset="0"/>
                <a:ea typeface="Aptos" pitchFamily="34" charset="-122"/>
                <a:cs typeface="Aptos" pitchFamily="34" charset="-120"/>
              </a:rPr>
              <a:t>@</a:t>
            </a:r>
            <a:endParaRPr lang="en-US" sz="1400" dirty="0"/>
          </a:p>
        </p:txBody>
      </p:sp>
      <p:sp>
        <p:nvSpPr>
          <p:cNvPr id="6" name="Text 9">
            <a:extLst>
              <a:ext uri="{FF2B5EF4-FFF2-40B4-BE49-F238E27FC236}">
                <a16:creationId xmlns:a16="http://schemas.microsoft.com/office/drawing/2014/main" id="{27E8D157-7057-05A1-6965-9759E160D6C2}"/>
              </a:ext>
            </a:extLst>
          </p:cNvPr>
          <p:cNvSpPr/>
          <p:nvPr/>
        </p:nvSpPr>
        <p:spPr>
          <a:xfrm>
            <a:off x="5141369" y="3513161"/>
            <a:ext cx="2093976" cy="335280"/>
          </a:xfrm>
          <a:prstGeom prst="rect">
            <a:avLst/>
          </a:prstGeom>
          <a:noFill/>
          <a:ln/>
        </p:spPr>
        <p:txBody>
          <a:bodyPr wrap="square" lIns="0" tIns="0" rIns="0" bIns="0" rtlCol="0" anchor="ctr">
            <a:normAutofit/>
          </a:bodyPr>
          <a:lstStyle/>
          <a:p>
            <a:r>
              <a:rPr lang="en-US" sz="1400" dirty="0" err="1">
                <a:solidFill>
                  <a:srgbClr val="1F2A33"/>
                </a:solidFill>
                <a:latin typeface="Aptos" pitchFamily="34" charset="0"/>
              </a:rPr>
              <a:t>i</a:t>
            </a:r>
            <a:r>
              <a:rPr lang="tr-TR" sz="1400" dirty="0" err="1"/>
              <a:t>lker.ozcelik@ogu.edu.tr</a:t>
            </a:r>
            <a:endParaRPr lang="tr-TR" sz="1400" dirty="0"/>
          </a:p>
          <a:p>
            <a:pPr marL="0" indent="0">
              <a:buNone/>
            </a:pPr>
            <a:endParaRPr lang="en-US" sz="1250" dirty="0"/>
          </a:p>
        </p:txBody>
      </p:sp>
      <p:sp>
        <p:nvSpPr>
          <p:cNvPr id="11" name="Shape 6">
            <a:extLst>
              <a:ext uri="{FF2B5EF4-FFF2-40B4-BE49-F238E27FC236}">
                <a16:creationId xmlns:a16="http://schemas.microsoft.com/office/drawing/2014/main" id="{88BFE8E3-7078-7496-8B3D-E3B883440B1A}"/>
              </a:ext>
            </a:extLst>
          </p:cNvPr>
          <p:cNvSpPr/>
          <p:nvPr/>
        </p:nvSpPr>
        <p:spPr>
          <a:xfrm>
            <a:off x="7747062" y="3317870"/>
            <a:ext cx="2880360"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12" name="Shape 7">
            <a:extLst>
              <a:ext uri="{FF2B5EF4-FFF2-40B4-BE49-F238E27FC236}">
                <a16:creationId xmlns:a16="http://schemas.microsoft.com/office/drawing/2014/main" id="{D9A3F7AF-BF52-BC54-9801-9CB03C7D2693}"/>
              </a:ext>
            </a:extLst>
          </p:cNvPr>
          <p:cNvSpPr/>
          <p:nvPr/>
        </p:nvSpPr>
        <p:spPr>
          <a:xfrm>
            <a:off x="7893366" y="3436742"/>
            <a:ext cx="365760" cy="365760"/>
          </a:xfrm>
          <a:prstGeom prst="ellipse">
            <a:avLst/>
          </a:prstGeom>
          <a:solidFill>
            <a:srgbClr val="E2F1F1"/>
          </a:solidFill>
          <a:ln w="10160">
            <a:solidFill>
              <a:srgbClr val="C7DEDF"/>
            </a:solidFill>
            <a:prstDash val="solid"/>
          </a:ln>
        </p:spPr>
        <p:txBody>
          <a:bodyPr/>
          <a:lstStyle/>
          <a:p>
            <a:endParaRPr lang="tr-TR"/>
          </a:p>
        </p:txBody>
      </p:sp>
      <p:sp>
        <p:nvSpPr>
          <p:cNvPr id="13" name="Text 8">
            <a:extLst>
              <a:ext uri="{FF2B5EF4-FFF2-40B4-BE49-F238E27FC236}">
                <a16:creationId xmlns:a16="http://schemas.microsoft.com/office/drawing/2014/main" id="{243E4EB3-839C-E90E-D1D4-241DB8613D49}"/>
              </a:ext>
            </a:extLst>
          </p:cNvPr>
          <p:cNvSpPr/>
          <p:nvPr/>
        </p:nvSpPr>
        <p:spPr>
          <a:xfrm>
            <a:off x="7893366" y="3523610"/>
            <a:ext cx="365760" cy="182880"/>
          </a:xfrm>
          <a:prstGeom prst="rect">
            <a:avLst/>
          </a:prstGeom>
          <a:noFill/>
          <a:ln/>
        </p:spPr>
        <p:txBody>
          <a:bodyPr wrap="square" lIns="0" tIns="0" rIns="0" bIns="0" rtlCol="0" anchor="ctr"/>
          <a:lstStyle/>
          <a:p>
            <a:pPr marL="0" indent="0" algn="ctr">
              <a:buNone/>
            </a:pPr>
            <a:r>
              <a:rPr lang="en-US" sz="1400" b="1" dirty="0">
                <a:solidFill>
                  <a:srgbClr val="445C6D"/>
                </a:solidFill>
                <a:latin typeface="Aptos" pitchFamily="34" charset="0"/>
                <a:ea typeface="Aptos" pitchFamily="34" charset="-122"/>
                <a:cs typeface="Aptos" pitchFamily="34" charset="-120"/>
              </a:rPr>
              <a:t>@</a:t>
            </a:r>
            <a:endParaRPr lang="en-US" sz="1400" dirty="0"/>
          </a:p>
        </p:txBody>
      </p:sp>
      <p:sp>
        <p:nvSpPr>
          <p:cNvPr id="14" name="Text 9">
            <a:extLst>
              <a:ext uri="{FF2B5EF4-FFF2-40B4-BE49-F238E27FC236}">
                <a16:creationId xmlns:a16="http://schemas.microsoft.com/office/drawing/2014/main" id="{9E802804-6FDC-47C7-F944-BFF0AC2B29B7}"/>
              </a:ext>
            </a:extLst>
          </p:cNvPr>
          <p:cNvSpPr/>
          <p:nvPr/>
        </p:nvSpPr>
        <p:spPr>
          <a:xfrm>
            <a:off x="8405430" y="3505322"/>
            <a:ext cx="2093976" cy="201168"/>
          </a:xfrm>
          <a:prstGeom prst="rect">
            <a:avLst/>
          </a:prstGeom>
          <a:noFill/>
          <a:ln/>
        </p:spPr>
        <p:txBody>
          <a:bodyPr wrap="square" lIns="0" tIns="0" rIns="0" bIns="0" rtlCol="0" anchor="ctr">
            <a:noAutofit/>
          </a:bodyPr>
          <a:lstStyle/>
          <a:p>
            <a:r>
              <a:rPr lang="tr-TR" sz="1400" dirty="0" err="1"/>
              <a:t>esoylu@ogu.edu.tr</a:t>
            </a:r>
            <a:endParaRPr lang="tr-TR" sz="1400" dirty="0"/>
          </a:p>
        </p:txBody>
      </p:sp>
      <p:sp>
        <p:nvSpPr>
          <p:cNvPr id="7" name="Shape 10">
            <a:extLst>
              <a:ext uri="{FF2B5EF4-FFF2-40B4-BE49-F238E27FC236}">
                <a16:creationId xmlns:a16="http://schemas.microsoft.com/office/drawing/2014/main" id="{30E7FACB-71B4-A25E-E78B-2ACAFFD7CE61}"/>
              </a:ext>
            </a:extLst>
          </p:cNvPr>
          <p:cNvSpPr/>
          <p:nvPr/>
        </p:nvSpPr>
        <p:spPr>
          <a:xfrm>
            <a:off x="4973010" y="4073482"/>
            <a:ext cx="1910608"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8" name="Shape 11">
            <a:extLst>
              <a:ext uri="{FF2B5EF4-FFF2-40B4-BE49-F238E27FC236}">
                <a16:creationId xmlns:a16="http://schemas.microsoft.com/office/drawing/2014/main" id="{868A1F5F-AA93-BE84-AA28-295FAA37D97E}"/>
              </a:ext>
            </a:extLst>
          </p:cNvPr>
          <p:cNvSpPr/>
          <p:nvPr/>
        </p:nvSpPr>
        <p:spPr>
          <a:xfrm>
            <a:off x="5126844" y="4194699"/>
            <a:ext cx="310896" cy="310896"/>
          </a:xfrm>
          <a:prstGeom prst="roundRect">
            <a:avLst>
              <a:gd name="adj" fmla="val 11765"/>
            </a:avLst>
          </a:prstGeom>
          <a:solidFill>
            <a:srgbClr val="8BB3B4"/>
          </a:solidFill>
          <a:ln w="12700">
            <a:solidFill>
              <a:srgbClr val="8BB3B4">
                <a:alpha val="0"/>
              </a:srgbClr>
            </a:solidFill>
            <a:prstDash val="solid"/>
          </a:ln>
        </p:spPr>
        <p:txBody>
          <a:bodyPr/>
          <a:lstStyle/>
          <a:p>
            <a:endParaRPr lang="tr-TR"/>
          </a:p>
        </p:txBody>
      </p:sp>
      <p:sp>
        <p:nvSpPr>
          <p:cNvPr id="9" name="Text 12">
            <a:extLst>
              <a:ext uri="{FF2B5EF4-FFF2-40B4-BE49-F238E27FC236}">
                <a16:creationId xmlns:a16="http://schemas.microsoft.com/office/drawing/2014/main" id="{11485201-EEC9-1A85-0752-561D4C8A33AE}"/>
              </a:ext>
            </a:extLst>
          </p:cNvPr>
          <p:cNvSpPr/>
          <p:nvPr/>
        </p:nvSpPr>
        <p:spPr>
          <a:xfrm>
            <a:off x="5149704" y="4217559"/>
            <a:ext cx="265176" cy="21945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in</a:t>
            </a:r>
            <a:endParaRPr lang="en-US" sz="1300" dirty="0"/>
          </a:p>
        </p:txBody>
      </p:sp>
      <p:sp>
        <p:nvSpPr>
          <p:cNvPr id="10" name="Text 13">
            <a:extLst>
              <a:ext uri="{FF2B5EF4-FFF2-40B4-BE49-F238E27FC236}">
                <a16:creationId xmlns:a16="http://schemas.microsoft.com/office/drawing/2014/main" id="{4654DB79-1E49-F559-6A3F-ED4EE36AD840}"/>
              </a:ext>
            </a:extLst>
          </p:cNvPr>
          <p:cNvSpPr/>
          <p:nvPr/>
        </p:nvSpPr>
        <p:spPr>
          <a:xfrm>
            <a:off x="5566300" y="4214810"/>
            <a:ext cx="1166282" cy="260604"/>
          </a:xfrm>
          <a:prstGeom prst="rect">
            <a:avLst/>
          </a:prstGeom>
          <a:noFill/>
          <a:ln/>
        </p:spPr>
        <p:txBody>
          <a:bodyPr wrap="square" lIns="0" tIns="0" rIns="0" bIns="0" rtlCol="0" anchor="ctr">
            <a:normAutofit/>
          </a:bodyPr>
          <a:lstStyle/>
          <a:p>
            <a:r>
              <a:rPr lang="en-US" sz="1250" dirty="0">
                <a:solidFill>
                  <a:srgbClr val="1F2A33"/>
                </a:solidFill>
                <a:latin typeface="Aptos" pitchFamily="34" charset="0"/>
                <a:ea typeface="Aptos" pitchFamily="34" charset="-122"/>
                <a:cs typeface="Aptos" pitchFamily="34" charset="-120"/>
              </a:rPr>
              <a:t>@ </a:t>
            </a:r>
            <a:r>
              <a:rPr lang="en-US" sz="1250" dirty="0" err="1">
                <a:solidFill>
                  <a:srgbClr val="1F2A33"/>
                </a:solidFill>
                <a:latin typeface="Aptos" pitchFamily="34" charset="0"/>
                <a:ea typeface="Aptos" pitchFamily="34" charset="-122"/>
                <a:cs typeface="Aptos" pitchFamily="34" charset="-120"/>
              </a:rPr>
              <a:t>ozcelikilker</a:t>
            </a:r>
            <a:endParaRPr lang="en-US" sz="1250" dirty="0"/>
          </a:p>
        </p:txBody>
      </p:sp>
      <p:sp>
        <p:nvSpPr>
          <p:cNvPr id="15" name="Shape 10">
            <a:extLst>
              <a:ext uri="{FF2B5EF4-FFF2-40B4-BE49-F238E27FC236}">
                <a16:creationId xmlns:a16="http://schemas.microsoft.com/office/drawing/2014/main" id="{6677E777-CC45-1711-F868-40A1F261E053}"/>
              </a:ext>
            </a:extLst>
          </p:cNvPr>
          <p:cNvSpPr/>
          <p:nvPr/>
        </p:nvSpPr>
        <p:spPr>
          <a:xfrm>
            <a:off x="8306666" y="4073482"/>
            <a:ext cx="1910608" cy="603504"/>
          </a:xfrm>
          <a:prstGeom prst="roundRect">
            <a:avLst>
              <a:gd name="adj" fmla="val 15152"/>
            </a:avLst>
          </a:prstGeom>
          <a:solidFill>
            <a:srgbClr val="EEF6F7"/>
          </a:solidFill>
          <a:ln w="12700">
            <a:solidFill>
              <a:srgbClr val="C7DEDF"/>
            </a:solidFill>
            <a:prstDash val="solid"/>
          </a:ln>
        </p:spPr>
        <p:txBody>
          <a:bodyPr/>
          <a:lstStyle/>
          <a:p>
            <a:endParaRPr lang="tr-TR"/>
          </a:p>
        </p:txBody>
      </p:sp>
      <p:sp>
        <p:nvSpPr>
          <p:cNvPr id="16" name="Shape 11">
            <a:extLst>
              <a:ext uri="{FF2B5EF4-FFF2-40B4-BE49-F238E27FC236}">
                <a16:creationId xmlns:a16="http://schemas.microsoft.com/office/drawing/2014/main" id="{E3AA3A8B-62C1-E99E-F160-AED973961E7F}"/>
              </a:ext>
            </a:extLst>
          </p:cNvPr>
          <p:cNvSpPr/>
          <p:nvPr/>
        </p:nvSpPr>
        <p:spPr>
          <a:xfrm>
            <a:off x="8388330" y="4194699"/>
            <a:ext cx="310896" cy="310896"/>
          </a:xfrm>
          <a:prstGeom prst="roundRect">
            <a:avLst>
              <a:gd name="adj" fmla="val 11765"/>
            </a:avLst>
          </a:prstGeom>
          <a:solidFill>
            <a:srgbClr val="8BB3B4"/>
          </a:solidFill>
          <a:ln w="12700">
            <a:solidFill>
              <a:srgbClr val="8BB3B4">
                <a:alpha val="0"/>
              </a:srgbClr>
            </a:solidFill>
            <a:prstDash val="solid"/>
          </a:ln>
        </p:spPr>
        <p:txBody>
          <a:bodyPr/>
          <a:lstStyle/>
          <a:p>
            <a:endParaRPr lang="tr-TR"/>
          </a:p>
        </p:txBody>
      </p:sp>
      <p:sp>
        <p:nvSpPr>
          <p:cNvPr id="17" name="Text 12">
            <a:extLst>
              <a:ext uri="{FF2B5EF4-FFF2-40B4-BE49-F238E27FC236}">
                <a16:creationId xmlns:a16="http://schemas.microsoft.com/office/drawing/2014/main" id="{B4B49243-828C-945D-72C0-14481FA4F329}"/>
              </a:ext>
            </a:extLst>
          </p:cNvPr>
          <p:cNvSpPr/>
          <p:nvPr/>
        </p:nvSpPr>
        <p:spPr>
          <a:xfrm>
            <a:off x="8411190" y="4217559"/>
            <a:ext cx="265176" cy="21945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in</a:t>
            </a:r>
            <a:endParaRPr lang="en-US" sz="1300" dirty="0"/>
          </a:p>
        </p:txBody>
      </p:sp>
      <p:sp>
        <p:nvSpPr>
          <p:cNvPr id="18" name="Text 13">
            <a:extLst>
              <a:ext uri="{FF2B5EF4-FFF2-40B4-BE49-F238E27FC236}">
                <a16:creationId xmlns:a16="http://schemas.microsoft.com/office/drawing/2014/main" id="{C4F00B69-3E7A-6AAB-8EF4-E2A3B8830BD1}"/>
              </a:ext>
            </a:extLst>
          </p:cNvPr>
          <p:cNvSpPr/>
          <p:nvPr/>
        </p:nvSpPr>
        <p:spPr>
          <a:xfrm>
            <a:off x="8827786" y="4214809"/>
            <a:ext cx="1389488" cy="290785"/>
          </a:xfrm>
          <a:prstGeom prst="rect">
            <a:avLst/>
          </a:prstGeom>
          <a:noFill/>
          <a:ln/>
        </p:spPr>
        <p:txBody>
          <a:bodyPr wrap="square" lIns="0" tIns="0" rIns="0" bIns="0" rtlCol="0" anchor="ctr">
            <a:noAutofit/>
          </a:bodyPr>
          <a:lstStyle/>
          <a:p>
            <a:r>
              <a:rPr lang="en-US" sz="1250" dirty="0">
                <a:solidFill>
                  <a:srgbClr val="1F2A33"/>
                </a:solidFill>
                <a:latin typeface="Aptos" pitchFamily="34" charset="0"/>
                <a:ea typeface="Aptos" pitchFamily="34" charset="-122"/>
                <a:cs typeface="Aptos" pitchFamily="34" charset="-120"/>
              </a:rPr>
              <a:t>@elis-soylu-yilmaz-phd-524a321b9 </a:t>
            </a:r>
            <a:endParaRPr lang="en-US" sz="1250" dirty="0"/>
          </a:p>
        </p:txBody>
      </p:sp>
      <p:pic>
        <p:nvPicPr>
          <p:cNvPr id="19" name="Grafik 18">
            <a:extLst>
              <a:ext uri="{FF2B5EF4-FFF2-40B4-BE49-F238E27FC236}">
                <a16:creationId xmlns:a16="http://schemas.microsoft.com/office/drawing/2014/main" id="{45748C90-968E-56AA-4875-BEBAEE2EAE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002" y="6446520"/>
            <a:ext cx="273517" cy="228601"/>
          </a:xfrm>
          <a:prstGeom prst="rect">
            <a:avLst/>
          </a:prstGeom>
        </p:spPr>
      </p:pic>
      <p:pic>
        <p:nvPicPr>
          <p:cNvPr id="23" name="Resim 22">
            <a:extLst>
              <a:ext uri="{FF2B5EF4-FFF2-40B4-BE49-F238E27FC236}">
                <a16:creationId xmlns:a16="http://schemas.microsoft.com/office/drawing/2014/main" id="{4620C126-4F9A-70DE-6045-BB3E437DD04C}"/>
              </a:ext>
            </a:extLst>
          </p:cNvPr>
          <p:cNvPicPr>
            <a:picLocks noChangeAspect="1"/>
          </p:cNvPicPr>
          <p:nvPr/>
        </p:nvPicPr>
        <p:blipFill>
          <a:blip r:embed="rId10"/>
          <a:stretch>
            <a:fillRect/>
          </a:stretch>
        </p:blipFill>
        <p:spPr>
          <a:xfrm>
            <a:off x="140009" y="328898"/>
            <a:ext cx="1113795" cy="1113795"/>
          </a:xfrm>
          <a:prstGeom prst="rect">
            <a:avLst/>
          </a:prstGeom>
        </p:spPr>
      </p:pic>
      <p:pic>
        <p:nvPicPr>
          <p:cNvPr id="27" name="Grafik 26">
            <a:extLst>
              <a:ext uri="{FF2B5EF4-FFF2-40B4-BE49-F238E27FC236}">
                <a16:creationId xmlns:a16="http://schemas.microsoft.com/office/drawing/2014/main" id="{D3C77B0F-35BC-45FE-CB81-2715F8390CA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36516" y="182880"/>
            <a:ext cx="1586968" cy="1269981"/>
          </a:xfrm>
          <a:prstGeom prst="rect">
            <a:avLst/>
          </a:prstGeom>
        </p:spPr>
      </p:pic>
    </p:spTree>
    <p:extLst>
      <p:ext uri="{BB962C8B-B14F-4D97-AF65-F5344CB8AC3E}">
        <p14:creationId xmlns:p14="http://schemas.microsoft.com/office/powerpoint/2010/main" val="2657210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7155</TotalTime>
  <Words>3648</Words>
  <Application>Microsoft Macintosh PowerPoint</Application>
  <PresentationFormat>Geniş ekran</PresentationFormat>
  <Paragraphs>200</Paragraphs>
  <Slides>9</Slides>
  <Notes>9</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9</vt:i4>
      </vt:variant>
    </vt:vector>
  </HeadingPairs>
  <TitlesOfParts>
    <vt:vector size="14" baseType="lpstr">
      <vt:lpstr>Aptos</vt:lpstr>
      <vt:lpstr>Aptos Display</vt:lpstr>
      <vt:lpstr>Arial</vt:lpstr>
      <vt:lpstr>Cambria Math</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Vulnerability of Heterogeneous Graph Learning Models to White-Box Feature Attacks</dc:title>
  <dc:subject>Conference presentation based on the uploaded paper</dc:subject>
  <dc:creator>OpenAI</dc:creator>
  <cp:lastModifiedBy>Gizem Karyağdı</cp:lastModifiedBy>
  <cp:revision>9</cp:revision>
  <dcterms:created xsi:type="dcterms:W3CDTF">2026-08-24T08:50:20Z</dcterms:created>
  <dcterms:modified xsi:type="dcterms:W3CDTF">2026-09-08T09:11:56Z</dcterms:modified>
</cp:coreProperties>
</file>